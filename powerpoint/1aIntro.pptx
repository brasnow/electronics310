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49" r:id="rId2"/>
  </p:sldMasterIdLst>
  <p:notesMasterIdLst>
    <p:notesMasterId r:id="rId28"/>
  </p:notesMasterIdLst>
  <p:handoutMasterIdLst>
    <p:handoutMasterId r:id="rId29"/>
  </p:handoutMasterIdLst>
  <p:sldIdLst>
    <p:sldId id="256" r:id="rId3"/>
    <p:sldId id="452" r:id="rId4"/>
    <p:sldId id="445" r:id="rId5"/>
    <p:sldId id="292" r:id="rId6"/>
    <p:sldId id="302" r:id="rId7"/>
    <p:sldId id="303" r:id="rId8"/>
    <p:sldId id="317" r:id="rId9"/>
    <p:sldId id="271" r:id="rId10"/>
    <p:sldId id="273" r:id="rId11"/>
    <p:sldId id="295" r:id="rId12"/>
    <p:sldId id="298" r:id="rId13"/>
    <p:sldId id="319" r:id="rId14"/>
    <p:sldId id="320" r:id="rId15"/>
    <p:sldId id="321" r:id="rId16"/>
    <p:sldId id="426" r:id="rId17"/>
    <p:sldId id="290" r:id="rId18"/>
    <p:sldId id="261" r:id="rId19"/>
    <p:sldId id="262" r:id="rId20"/>
    <p:sldId id="263" r:id="rId21"/>
    <p:sldId id="264" r:id="rId22"/>
    <p:sldId id="300" r:id="rId23"/>
    <p:sldId id="296" r:id="rId24"/>
    <p:sldId id="329" r:id="rId25"/>
    <p:sldId id="453" r:id="rId26"/>
    <p:sldId id="335" r:id="rId2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91"/>
    <p:restoredTop sz="94694"/>
  </p:normalViewPr>
  <p:slideViewPr>
    <p:cSldViewPr>
      <p:cViewPr varScale="1">
        <p:scale>
          <a:sx n="117" d="100"/>
          <a:sy n="117" d="100"/>
        </p:scale>
        <p:origin x="2472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howGuides="1">
      <p:cViewPr varScale="1">
        <p:scale>
          <a:sx n="168" d="100"/>
          <a:sy n="168" d="100"/>
        </p:scale>
        <p:origin x="3616" y="2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0812F6-A54A-A84A-9F18-C37DE4D8F1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0EBBEB-1FE2-064B-9849-6A6F4D82D6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9BF4A59E-8814-9240-90C7-E878EE2A316F}" type="datetimeFigureOut">
              <a:rPr lang="en-US"/>
              <a:pPr>
                <a:defRPr/>
              </a:pPr>
              <a:t>8/25/24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4BC1ED-E59C-2E46-8B9C-86B2F582F0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7D732-ED11-6043-B8D8-0576FFFF2A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6700584F-A901-B940-A56E-18A62D3EEF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C12E410-F458-F24E-BB72-09F27E282BB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200F8B8-4EDB-5E45-BB4E-19CEFDEB219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6C757392-89BF-F64C-9280-959CF8A78D4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F6B7C0CA-D8D8-9A4C-955C-5FD6B151158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50C22EA6-412A-FF4C-911C-21E9A6EB175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9E06CA3A-0D30-A44C-BCC1-480C8CBCDF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E80C0D3D-91E3-7E45-8C66-A6CDBD921E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>
            <a:extLst>
              <a:ext uri="{FF2B5EF4-FFF2-40B4-BE49-F238E27FC236}">
                <a16:creationId xmlns:a16="http://schemas.microsoft.com/office/drawing/2014/main" id="{74EEDF1F-5B16-3341-867B-EFB1685590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8" name="Notes Placeholder 2">
            <a:extLst>
              <a:ext uri="{FF2B5EF4-FFF2-40B4-BE49-F238E27FC236}">
                <a16:creationId xmlns:a16="http://schemas.microsoft.com/office/drawing/2014/main" id="{644DD7C8-7DC4-5641-8202-D3FDEC75F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The constraints of a language need not be handcuffs on our creative expression – consider what poets can express within the tighter constraints of poetry vs ordinary language. The constraints of electronics are about as limiting as a 2-d canvas is to a painter or photoshop to a digital artist. My learning objective for each of you is to create some nice electronics art – make some novel paths for electrons to flow. </a:t>
            </a:r>
          </a:p>
        </p:txBody>
      </p:sp>
      <p:sp>
        <p:nvSpPr>
          <p:cNvPr id="34819" name="Slide Number Placeholder 3">
            <a:extLst>
              <a:ext uri="{FF2B5EF4-FFF2-40B4-BE49-F238E27FC236}">
                <a16:creationId xmlns:a16="http://schemas.microsoft.com/office/drawing/2014/main" id="{4F9E3D84-305D-B544-BD56-DDB6B7DC6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0530914-4F40-4244-AD74-8A790673620A}" type="slidenum">
              <a:rPr lang="en-US" altLang="en-US" sz="1200" smtClean="0"/>
              <a:pPr/>
              <a:t>4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0C0D3D-91E3-7E45-8C66-A6CDBD921E1E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2106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>
            <a:extLst>
              <a:ext uri="{FF2B5EF4-FFF2-40B4-BE49-F238E27FC236}">
                <a16:creationId xmlns:a16="http://schemas.microsoft.com/office/drawing/2014/main" id="{4D0C714E-5042-BD4C-9BFE-9C71708B92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4" name="Notes Placeholder 2">
            <a:extLst>
              <a:ext uri="{FF2B5EF4-FFF2-40B4-BE49-F238E27FC236}">
                <a16:creationId xmlns:a16="http://schemas.microsoft.com/office/drawing/2014/main" id="{2E25A7BC-DB2D-C348-A255-560EDA28C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Those slides do reveal a lot about me. We</a:t>
            </a:r>
            <a:r>
              <a:rPr lang="ja-JP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latin typeface="Arial" panose="020B0604020202020204" pitchFamily="34" charset="0"/>
                <a:ea typeface="ＭＳ Ｐゴシック" panose="020B0600070205080204" pitchFamily="34" charset="-128"/>
              </a:rPr>
              <a:t>re going to be building stuff in this class. </a:t>
            </a: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4035" name="Slide Number Placeholder 3">
            <a:extLst>
              <a:ext uri="{FF2B5EF4-FFF2-40B4-BE49-F238E27FC236}">
                <a16:creationId xmlns:a16="http://schemas.microsoft.com/office/drawing/2014/main" id="{681A3CE1-5A6C-ED45-B4EC-7220AA523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F96733E-CEBB-B14D-9571-78558D67E9DC}" type="slidenum">
              <a:rPr lang="en-US" altLang="en-US" sz="1200" smtClean="0"/>
              <a:pPr/>
              <a:t>11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Metacognition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0C0D3D-91E3-7E45-8C66-A6CDBD921E1E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3900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2">
            <a:extLst>
              <a:ext uri="{FF2B5EF4-FFF2-40B4-BE49-F238E27FC236}">
                <a16:creationId xmlns:a16="http://schemas.microsoft.com/office/drawing/2014/main" id="{0639BAF9-AA62-A44A-9AC2-CBB1490ABF0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58" name="Rectangle 3">
            <a:extLst>
              <a:ext uri="{FF2B5EF4-FFF2-40B4-BE49-F238E27FC236}">
                <a16:creationId xmlns:a16="http://schemas.microsoft.com/office/drawing/2014/main" id="{2289EABD-B7B6-514A-B2CB-68887B38EF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>
            <a:extLst>
              <a:ext uri="{FF2B5EF4-FFF2-40B4-BE49-F238E27FC236}">
                <a16:creationId xmlns:a16="http://schemas.microsoft.com/office/drawing/2014/main" id="{EA07A79F-1BA4-7047-B98A-05E8269AE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479888A-5D75-0540-9C22-70B79AC73E58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125954" name="Rectangle 2">
            <a:extLst>
              <a:ext uri="{FF2B5EF4-FFF2-40B4-BE49-F238E27FC236}">
                <a16:creationId xmlns:a16="http://schemas.microsoft.com/office/drawing/2014/main" id="{F9DED5F0-E29A-1145-9BC9-CD391B698E2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6CB9276E-DAC5-7249-850B-E3CE82A90B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>
            <a:extLst>
              <a:ext uri="{FF2B5EF4-FFF2-40B4-BE49-F238E27FC236}">
                <a16:creationId xmlns:a16="http://schemas.microsoft.com/office/drawing/2014/main" id="{6DDC1D0C-00FE-D44B-A03B-B0938A27C3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8" name="Notes Placeholder 2">
            <a:extLst>
              <a:ext uri="{FF2B5EF4-FFF2-40B4-BE49-F238E27FC236}">
                <a16:creationId xmlns:a16="http://schemas.microsoft.com/office/drawing/2014/main" id="{BD1AB958-BBC0-D845-ACE8-F46D4B170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0659" name="Slide Number Placeholder 3">
            <a:extLst>
              <a:ext uri="{FF2B5EF4-FFF2-40B4-BE49-F238E27FC236}">
                <a16:creationId xmlns:a16="http://schemas.microsoft.com/office/drawing/2014/main" id="{3816FC59-C4AA-C142-819F-BCA9CA67E1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79DEE71-EED3-B944-82C3-68B199E737D6}" type="slidenum">
              <a:rPr lang="en-US" altLang="en-US" sz="1200" smtClean="0"/>
              <a:pPr/>
              <a:t>22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0C0D3D-91E3-7E45-8C66-A6CDBD921E1E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2131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FBA3C39-7C30-FB40-8481-C731554072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CF5FB0-5FBB-2F4B-98AF-48A7D79BFD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4AFA9E1-2832-EB42-A92D-936E56A4C4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C2AFB1-10D0-4C4E-A7C5-2A92D3EFD7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6862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FB86EA-061A-6743-AF62-6221487C53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A4FEB8F-A3F6-4145-9161-C2799F6F31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41C31AD-2D34-7D4D-B54A-B7F80190E2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44CBA7-AF31-5243-A1DE-ECF9B9E21B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8004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1F1BEF6-2AC9-0C40-84E6-D31FF21B0B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DFEB46E-8BE3-BB4C-A033-A1A60FBFA4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18D4BB7-63C2-BA49-839B-F5E5C5F0A1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9F8FFE-3687-1246-8F04-BC1CA7B21E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5850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1080F-7383-2C48-822A-3F624D56FD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ABA3FA-4B0A-B740-964D-34FB2739B5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B5FA75-65FD-044D-9BAD-19CADD7C2C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E986C1-5636-9946-80B0-7BC6DC15BC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0742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132A118-C0C5-B64D-A895-AE7ADF6FC9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6A7C936-A4E7-9F4C-9C39-20F7D23656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DA2062D-EB81-334B-9F09-9795E30CB6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0AE86C-959C-BD4D-9F6F-0862B44CBF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5361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E5F2CE2-6495-7E4F-A1B6-9C7CCF19B1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A87E934-BF21-F047-9BE7-81921C2515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53DA3F8-DF90-E047-9AF0-DB952A0F1D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3714B5-C0D0-8342-9A25-8427884D2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676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917396C-503D-0347-A0C3-226363A92F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D6D685E-81BA-3147-B767-57AAFD3B92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A2FC8A9-82D8-E545-8EDB-1BC1DE61E0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A272B-1284-B046-B602-82BA50F831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7705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4BE7EE-B292-8E42-953E-982576FA01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60C2BE-7269-0E4F-8F38-F8E88E03CA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8EA747-AED3-F040-A428-CEEC6150EB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03A1D4-7BFB-544D-882D-B00287B2D4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4066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0DC89A-5480-634C-86A5-2F8515DCCB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1AB7C7-2467-2147-9D29-80EE9C65B5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3F5494-43B3-E042-B0D3-2B08A371A9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38EBEF-04E6-AE4C-97C8-38BB4DAB07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1759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5EDA34-BBC6-A245-B2F6-E034DF7AEA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B812156-4471-1E4F-9639-7A8BA0E229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A1E9B3-3C19-B145-86C2-5B6E71F300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14650-0AD6-7844-9366-9FAEEBF509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5466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41FB61-93B3-BC4E-AAB4-34A6FA78EE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423920A-4D1B-1145-B405-F2BACBB0CC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40E062-A5CB-7D4E-B166-6CD2A3A625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C71401-EE9E-854A-8CCE-1C569B55C9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6917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DBDCA929-8FA5-6442-9707-81EE2B84FC05}"/>
              </a:ext>
            </a:extLst>
          </p:cNvPr>
          <p:cNvGrpSpPr>
            <a:grpSpLocks/>
          </p:cNvGrpSpPr>
          <p:nvPr/>
        </p:nvGrpSpPr>
        <p:grpSpPr bwMode="auto">
          <a:xfrm>
            <a:off x="0" y="914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9D420B91-7AB6-C34F-B7F6-076653E679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43CB5D59-31EB-8449-B740-F375FB2A1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6AFE509D-0DE4-D441-B28E-9EC595235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97FCC4E6-B1E2-2B46-B47C-37F522D379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F7F05EAD-06A4-434A-9E73-8FD85BE269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76FCE126-AEB9-4A4C-AB81-A5F2D2D782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3F67AC37-6A03-174B-8BFF-8D59AE6D9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6C23F5F2-321C-624C-9709-DDB0B08DE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44225290-570E-2543-A0F5-C4F1285BD57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066800" y="4572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2133600"/>
            <a:ext cx="7467600" cy="3733800"/>
          </a:xfrm>
        </p:spPr>
        <p:txBody>
          <a:bodyPr/>
          <a:lstStyle>
            <a:lvl1pPr marL="0" indent="0"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81A7BB3A-2E3B-F94E-98C4-1FF28D013D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BB4E8B25-54EF-9943-B2C7-99838C6DA9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4135849D-DA65-414B-B12B-6EF3B64612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9695F8A-3C67-7748-B8DC-336535C1E8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0319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E6642BC-B183-7B49-A5D7-7C95D7EADF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BF88C23-2F60-0E49-A90D-3DA06F0D2D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D449D42-1C35-344E-9351-1B86089566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76EE81-9C29-A747-B1AF-D531CC6152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7489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A78EABB-24C2-A441-AF47-D97C7199EA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85D799D-1D68-0F4E-A1C6-48F690EA4F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2E2DECC-C84A-2747-80C4-C176ABB3FE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007B4-8AC2-0C46-92BF-E3410EFF36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86883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52266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57750" y="2017713"/>
            <a:ext cx="35242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0978F03-628D-8E4C-8A24-F01E857A9B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9CAF2C7-8604-7549-84FB-8868A915FB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4AE8328-6C72-5045-916D-1C0A9E9BB9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70CA44-9DDE-DC48-90FF-5948596B01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7373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2F1ADC05-2F68-314F-8317-4F8451232B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77FE4CBB-5C0F-4B4E-8697-04A1CDD979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22980EB3-772E-0147-A368-8EAA6A1240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BAAA61-86D5-8544-A4C8-C5A788BAF1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48919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0D3ECA8-6FAE-0E48-9CEC-E7A011E576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DF39BCC-4F99-B544-9F43-DFCE0EF2D9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350A278-6CDC-C340-A428-B8C2A05A0C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438D98-9DB0-134A-9968-97915062EA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98883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63BEC768-BE15-664C-85B8-6C1B2AEB7D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7351E05F-E6F5-5845-83CF-BB43044A0B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A8E7CDF4-72E3-D144-B901-A1A77B2895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0D80CA-697D-794A-9E52-F213608F28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90209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12095BC-F934-D24C-B5E9-D7EFF1ECA6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CD5B1F1-8B3F-B843-A8D9-592A39B158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5C5D190-5F90-0744-841A-2A6E6B55DC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9575B1-4B83-C44D-9F2A-788337BF88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44793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436678B-72CD-6C40-BDBB-A021D54042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A5E219F-64EB-5B46-933D-A5180064D1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17348108-537A-2C47-BE07-608A1832ED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76092-8207-7B49-8282-9FC596D1BB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91501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C6BBAB3-FF5D-064A-8C6D-180E9E2B27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ECD2A57-CD94-B246-A847-2D5587E76D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6B65441-6FFE-994A-9420-AC1A4D8446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5862AD-C559-684B-BFD9-5ABBFD31B5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67216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304800"/>
            <a:ext cx="1828800" cy="58277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304800"/>
            <a:ext cx="5334000" cy="58277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7B627B1-0948-6747-8701-672B5C8944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0B4C156-485D-AA43-9210-C97EFBC7B7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A64A61C-86AD-AD43-BEC9-9D71E3A291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961956-5C17-0042-A953-5D3642C9E0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1798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D4785AE-498A-1C4E-867C-4D458DD1A5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16FE10B-4FB7-D848-AD49-9A21D7AE4A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31D6DD4-E57B-B44F-AAFA-99852A3821B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4534F83-A4AF-2D47-B545-B20D901CEDE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B57A8BA-347E-344D-A58A-0520FEBB535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FA60EFDB-8670-6F48-A416-6DB9CD5BDE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4" r:id="rId1"/>
    <p:sldLayoutId id="2147484065" r:id="rId2"/>
    <p:sldLayoutId id="2147484066" r:id="rId3"/>
    <p:sldLayoutId id="2147484067" r:id="rId4"/>
    <p:sldLayoutId id="2147484068" r:id="rId5"/>
    <p:sldLayoutId id="2147484069" r:id="rId6"/>
    <p:sldLayoutId id="2147484070" r:id="rId7"/>
    <p:sldLayoutId id="2147484071" r:id="rId8"/>
    <p:sldLayoutId id="2147484072" r:id="rId9"/>
    <p:sldLayoutId id="2147484073" r:id="rId10"/>
    <p:sldLayoutId id="214748407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F89B777-86AD-8149-ABBD-4BA5DA8AAC8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>
              <a:latin typeface="Tahoma" charset="0"/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A5DDD86C-571D-604C-80CF-F580967F2D4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>
              <a:latin typeface="Tahoma" charset="0"/>
            </a:endParaRP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6118FCF5-9CB3-4C47-9628-74F6BB960C9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>
              <a:latin typeface="Tahoma" charset="0"/>
            </a:endParaRP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B6A8768D-5B66-EF42-AB4E-32BAF597EAA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>
              <a:latin typeface="Tahoma" charset="0"/>
            </a:endParaRP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8A9C83B7-79C1-5648-BADB-C295B060096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>
              <a:latin typeface="Tahoma" charset="0"/>
            </a:endParaRPr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C89DD10A-D91F-EB42-A7D7-E75C840F66E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>
              <a:latin typeface="Tahoma" charset="0"/>
            </a:endParaRPr>
          </a:p>
        </p:txBody>
      </p:sp>
      <p:sp>
        <p:nvSpPr>
          <p:cNvPr id="13320" name="Rectangle 8">
            <a:extLst>
              <a:ext uri="{FF2B5EF4-FFF2-40B4-BE49-F238E27FC236}">
                <a16:creationId xmlns:a16="http://schemas.microsoft.com/office/drawing/2014/main" id="{10EC04C7-F5F1-7C4B-8AB6-ABD64D50CE5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57200" y="15240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>
              <a:latin typeface="Tahoma" charset="0"/>
            </a:endParaRPr>
          </a:p>
        </p:txBody>
      </p:sp>
      <p:sp>
        <p:nvSpPr>
          <p:cNvPr id="13321" name="Rectangle 9">
            <a:extLst>
              <a:ext uri="{FF2B5EF4-FFF2-40B4-BE49-F238E27FC236}">
                <a16:creationId xmlns:a16="http://schemas.microsoft.com/office/drawing/2014/main" id="{1B230770-75E4-F14C-A4DF-2CE485483B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315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3322" name="Rectangle 10">
            <a:extLst>
              <a:ext uri="{FF2B5EF4-FFF2-40B4-BE49-F238E27FC236}">
                <a16:creationId xmlns:a16="http://schemas.microsoft.com/office/drawing/2014/main" id="{B7983F2E-9E6E-B04F-BBD7-E1EF4E8599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1993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E0A85D87-8732-4244-B2B1-941EEB0A6E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AA6C77EB-EA69-DC47-94D9-6E943A8306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2C1271AE-5510-CA45-8E88-775FC5962E2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fld id="{71E0E260-78DA-CD45-8F76-8A127C6320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5" r:id="rId1"/>
    <p:sldLayoutId id="2147484075" r:id="rId2"/>
    <p:sldLayoutId id="2147484076" r:id="rId3"/>
    <p:sldLayoutId id="2147484077" r:id="rId4"/>
    <p:sldLayoutId id="2147484078" r:id="rId5"/>
    <p:sldLayoutId id="2147484079" r:id="rId6"/>
    <p:sldLayoutId id="2147484080" r:id="rId7"/>
    <p:sldLayoutId id="2147484081" r:id="rId8"/>
    <p:sldLayoutId id="2147484082" r:id="rId9"/>
    <p:sldLayoutId id="2147484083" r:id="rId10"/>
    <p:sldLayoutId id="214748408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charset="0"/>
          <a:ea typeface="ＭＳ Ｐゴシック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rian.rasnow@csuci.edu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learn/tutorials/matlab-onramp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arduino.cc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thesecondprinciple.com/teaching-essentials/beyond-bloom-cognitive-taxonomy-revised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hyperlink" Target="http://www.utar.edu.my/fegt/file/Revised_Blooms_Info.pdf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prezi.com/1cmm76suwcb1/perrys-stages-of-cognitive-development/" TargetMode="Externa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Picture 3">
            <a:extLst>
              <a:ext uri="{FF2B5EF4-FFF2-40B4-BE49-F238E27FC236}">
                <a16:creationId xmlns:a16="http://schemas.microsoft.com/office/drawing/2014/main" id="{BA248C2A-ACBA-E146-B4F2-C5B518AC19A5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77800"/>
            <a:ext cx="4445000" cy="492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0" name="Rectangle 2">
            <a:extLst>
              <a:ext uri="{FF2B5EF4-FFF2-40B4-BE49-F238E27FC236}">
                <a16:creationId xmlns:a16="http://schemas.microsoft.com/office/drawing/2014/main" id="{7105B447-D1E2-3645-AA1A-DB7874EFFBF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981200"/>
          </a:xfrm>
        </p:spPr>
        <p:txBody>
          <a:bodyPr/>
          <a:lstStyle/>
          <a:p>
            <a:pPr eaLnBrk="1" hangingPunct="1"/>
            <a:r>
              <a:rPr lang="en-US" altLang="en-US" dirty="0"/>
              <a:t>Welcome to </a:t>
            </a:r>
            <a:br>
              <a:rPr lang="en-US" altLang="en-US" dirty="0"/>
            </a:br>
            <a:r>
              <a:rPr lang="en-US" altLang="en-US" dirty="0"/>
              <a:t>Electronics</a:t>
            </a:r>
            <a:br>
              <a:rPr lang="en-US" altLang="en-US" dirty="0"/>
            </a:br>
            <a:r>
              <a:rPr lang="en-US" altLang="en-US" dirty="0"/>
              <a:t>Phys 310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C18E0BF-88BE-CE46-A526-F5C47237CDB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Spring 2022</a:t>
            </a:r>
          </a:p>
          <a:p>
            <a:pPr eaLnBrk="1" hangingPunct="1"/>
            <a:r>
              <a:rPr lang="en-US" altLang="en-US" dirty="0"/>
              <a:t>Brian </a:t>
            </a:r>
            <a:r>
              <a:rPr lang="en-US" altLang="en-US" dirty="0" err="1"/>
              <a:t>Rasnow</a:t>
            </a:r>
            <a:endParaRPr lang="en-US" altLang="en-US" dirty="0"/>
          </a:p>
          <a:p>
            <a:pPr eaLnBrk="1" hangingPunct="1"/>
            <a:r>
              <a:rPr lang="en-US" altLang="en-US" dirty="0">
                <a:hlinkClick r:id="rId3"/>
              </a:rPr>
              <a:t>brian.rasnow@csuci.edu</a:t>
            </a:r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3E08A-9A75-6A4B-8202-1676A6FBC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Covid 19 bright side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0094D-A5D8-3A4A-AA2C-3C8605656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724400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 caused me to radically rethink how to teach this course, and the results were better than the past!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used to rely on equipment from the stock room – now instead you have everything you need in kits …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Everything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space and time (and a computer …)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if there was no online component to this course, you would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still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space and time outside of class to explore and learn the material (but you wouldn’t have access to the equipment outside of class …)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requires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time and struggle because you’re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lot of advanced physics and math to an unintuitive domain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Courses are (always) a work in progress, and I always welcome your feedback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semester I’m planning to be in person in Sierra 2141 (and on Zoom) on Wed and remotely on Mon (you’re encouraged to Zoom with me in Sierra 2141)</a:t>
            </a:r>
          </a:p>
        </p:txBody>
      </p:sp>
    </p:spTree>
    <p:extLst>
      <p:ext uri="{BB962C8B-B14F-4D97-AF65-F5344CB8AC3E}">
        <p14:creationId xmlns:p14="http://schemas.microsoft.com/office/powerpoint/2010/main" val="370063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57D94-024A-C944-88A7-0899CDE9E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C6A8F-7DC7-7748-A0B0-D209CA701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What’s your name, major?</a:t>
            </a:r>
          </a:p>
          <a:p>
            <a:r>
              <a:rPr lang="en-US" dirty="0"/>
              <a:t>Your prior experience with electronics</a:t>
            </a:r>
          </a:p>
          <a:p>
            <a:pPr>
              <a:tabLst>
                <a:tab pos="5424488" algn="l"/>
              </a:tabLst>
            </a:pPr>
            <a:r>
              <a:rPr lang="en-US" dirty="0"/>
              <a:t>What do you most hope to get out of this class?</a:t>
            </a:r>
          </a:p>
          <a:p>
            <a:r>
              <a:rPr lang="en-US" dirty="0"/>
              <a:t>Share something cool about yourself …</a:t>
            </a:r>
          </a:p>
        </p:txBody>
      </p:sp>
    </p:spTree>
    <p:extLst>
      <p:ext uri="{BB962C8B-B14F-4D97-AF65-F5344CB8AC3E}">
        <p14:creationId xmlns:p14="http://schemas.microsoft.com/office/powerpoint/2010/main" val="2538287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B23A60E5-AA88-2744-B2FE-BB20CF85C4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objectives</a:t>
            </a:r>
          </a:p>
        </p:txBody>
      </p:sp>
      <p:sp>
        <p:nvSpPr>
          <p:cNvPr id="33794" name="Content Placeholder 2">
            <a:extLst>
              <a:ext uri="{FF2B5EF4-FFF2-40B4-BE49-F238E27FC236}">
                <a16:creationId xmlns:a16="http://schemas.microsoft.com/office/drawing/2014/main" id="{33D15BED-29A5-1A4A-A607-F80AFB692F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295400"/>
            <a:ext cx="8305800" cy="4114800"/>
          </a:xfrm>
        </p:spPr>
        <p:txBody>
          <a:bodyPr/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(and appreciate) electronics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Schematics are a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language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unique and powerful grammar, syntax, and semantics + context (structure, symbols, and meaning) </a:t>
            </a:r>
          </a:p>
          <a:p>
            <a:pPr lvl="2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good language </a:t>
            </a:r>
            <a:r>
              <a:rPr lang="en-US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 discover, explore, </a:t>
            </a: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 ideas</a:t>
            </a:r>
          </a:p>
          <a:p>
            <a:pPr lvl="2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Fluency involves </a:t>
            </a: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thinking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language, not just translating </a:t>
            </a:r>
          </a:p>
          <a:p>
            <a:pPr lvl="2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of you can speak more than 1 language? 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Abstractions/representations avoid solving Maxwell</a:t>
            </a:r>
            <a:r>
              <a: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equations</a:t>
            </a:r>
          </a:p>
          <a:p>
            <a:pPr lvl="2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as computers obey binary instructions, we generally seek more abstract, </a:t>
            </a:r>
            <a:r>
              <a:rPr lang="ja-JP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level</a:t>
            </a:r>
            <a:r>
              <a:rPr lang="ja-JP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representations of their states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Appreciate the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electronic engineering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synergy in imagining, visualizing, and creating new devices</a:t>
            </a: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D50F9DA9-F928-BF4F-9F23-1471EDE965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big challenge</a:t>
            </a:r>
          </a:p>
        </p:txBody>
      </p:sp>
      <p:sp>
        <p:nvSpPr>
          <p:cNvPr id="35842" name="Content Placeholder 2">
            <a:extLst>
              <a:ext uri="{FF2B5EF4-FFF2-40B4-BE49-F238E27FC236}">
                <a16:creationId xmlns:a16="http://schemas.microsoft.com/office/drawing/2014/main" id="{3D4B0FD4-A250-1C43-8F5D-C9C1F8B446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any language, you need to master a lot of words and rules before you can communicate anything meaningful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books spend hundreds of pages on DC circuits, resistors, capacitors – you’ll be bored to death before getting to fun and interesting stuff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makes it hard to separate and understand the forest for the trees or the trees because of the forest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Whichever concept we start with requires you to understand 20 other concepts that you don’t understand yet …</a:t>
            </a:r>
          </a:p>
          <a:p>
            <a:pPr lvl="1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8F82120E-68DD-DE45-9ABA-644439DABD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90500"/>
            <a:ext cx="7772400" cy="1143000"/>
          </a:xfrm>
        </p:spPr>
        <p:txBody>
          <a:bodyPr/>
          <a:lstStyle/>
          <a:p>
            <a:r>
              <a:rPr lang="en-US" altLang="en-US" dirty="0"/>
              <a:t>Complete Electronics</a:t>
            </a:r>
          </a:p>
        </p:txBody>
      </p:sp>
      <p:sp>
        <p:nvSpPr>
          <p:cNvPr id="36866" name="Content Placeholder 2">
            <a:extLst>
              <a:ext uri="{FF2B5EF4-FFF2-40B4-BE49-F238E27FC236}">
                <a16:creationId xmlns:a16="http://schemas.microsoft.com/office/drawing/2014/main" id="{E78F716B-935E-9044-AE44-9A1B1EF08B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6096000" cy="4114800"/>
          </a:xfrm>
        </p:spPr>
        <p:txBody>
          <a:bodyPr/>
          <a:lstStyle/>
          <a:p>
            <a:r>
              <a:rPr lang="en-US" altLang="en-US" sz="2400" dirty="0"/>
              <a:t>Claims to be a “self-teaching guide” – </a:t>
            </a:r>
            <a:br>
              <a:rPr lang="en-US" altLang="en-US" sz="2400" dirty="0"/>
            </a:br>
            <a:r>
              <a:rPr lang="en-US" altLang="en-US" sz="2400" dirty="0"/>
              <a:t>let’s see if it is!</a:t>
            </a:r>
          </a:p>
          <a:p>
            <a:r>
              <a:rPr lang="en-US" altLang="en-US" sz="2400" dirty="0"/>
              <a:t>Part of your </a:t>
            </a:r>
            <a:r>
              <a:rPr lang="en-US" altLang="en-US" sz="2400" u="sng" dirty="0"/>
              <a:t>homework</a:t>
            </a:r>
            <a:r>
              <a:rPr lang="en-US" altLang="en-US" sz="2400" dirty="0"/>
              <a:t> is to read/work through 1 chapter per week in parallel with the lecture activities</a:t>
            </a:r>
          </a:p>
          <a:p>
            <a:r>
              <a:rPr lang="en-US" altLang="en-US" sz="2400" dirty="0"/>
              <a:t>I’m not delegating </a:t>
            </a:r>
            <a:r>
              <a:rPr lang="en-US" altLang="en-US" sz="2400" i="1" dirty="0"/>
              <a:t>all </a:t>
            </a:r>
            <a:r>
              <a:rPr lang="en-US" altLang="en-US" sz="2400" dirty="0"/>
              <a:t>my teaching to the book, just some of it … in particular ”grill and drill” homework exercises are important</a:t>
            </a:r>
          </a:p>
        </p:txBody>
      </p:sp>
      <p:pic>
        <p:nvPicPr>
          <p:cNvPr id="36867" name="Picture 1">
            <a:extLst>
              <a:ext uri="{FF2B5EF4-FFF2-40B4-BE49-F238E27FC236}">
                <a16:creationId xmlns:a16="http://schemas.microsoft.com/office/drawing/2014/main" id="{4BC6C149-09F0-3F48-924F-B0EBF2D656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6" t="5660" r="14959"/>
          <a:stretch/>
        </p:blipFill>
        <p:spPr bwMode="auto">
          <a:xfrm>
            <a:off x="6629400" y="1828800"/>
            <a:ext cx="2407159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D6D42287-580B-9548-875A-CD27181E13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9925" y="0"/>
            <a:ext cx="7772400" cy="1143000"/>
          </a:xfrm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Tools and Toolbox</a:t>
            </a:r>
          </a:p>
        </p:txBody>
      </p:sp>
      <p:sp>
        <p:nvSpPr>
          <p:cNvPr id="37890" name="Content Placeholder 2">
            <a:extLst>
              <a:ext uri="{FF2B5EF4-FFF2-40B4-BE49-F238E27FC236}">
                <a16:creationId xmlns:a16="http://schemas.microsoft.com/office/drawing/2014/main" id="{C9AA6D3D-161A-7B46-B849-88B35DD406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914400"/>
            <a:ext cx="8686800" cy="5715000"/>
          </a:xfrm>
        </p:spPr>
        <p:txBody>
          <a:bodyPr/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You’re being provided with a toolbox and soldering kit that contains everything you’ll need to pass the class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can’t pass the class without this kit, so please be careful not to lose or destroy it</a:t>
            </a:r>
            <a:endParaRPr lang="is-I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is-I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any part, or voltmeter, Arduino, soldering iron ... fails, we can get you another ... </a:t>
            </a:r>
          </a:p>
          <a:p>
            <a:pPr lvl="1"/>
            <a:r>
              <a:rPr lang="is-I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to set up a well-lit lab space, away from food, where your pet or roommate won‘t mess with it ... </a:t>
            </a:r>
          </a:p>
          <a:p>
            <a:endParaRPr lang="is-I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s-I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need to download Matlab (free through the school) – if you don‘t have a suitable computer, ask us, and we‘ll try to get you one.</a:t>
            </a:r>
          </a:p>
          <a:p>
            <a:pPr lvl="1"/>
            <a:r>
              <a:rPr lang="is-I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Mathworks has tutorials and you can find others searching youtube and google</a:t>
            </a:r>
          </a:p>
          <a:p>
            <a:pPr lvl="1"/>
            <a:r>
              <a:rPr lang="is-I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https://www.mathworks.com/learn/tutorials/matlab-onramp.html</a:t>
            </a:r>
            <a:r>
              <a:rPr lang="is-I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s-I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You‘ll need to download the Arduino IDE (</a:t>
            </a:r>
            <a:r>
              <a:rPr lang="is-I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www.arduino.cc</a:t>
            </a:r>
            <a:r>
              <a:rPr lang="is-I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32BD8FCE-2DD6-4042-AFCD-54EFF92BF6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Art of Poetry</a:t>
            </a:r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E2C50621-43EC-F94C-A61F-C0768D42EE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400" i="1"/>
              <a:t>	It is true</a:t>
            </a:r>
            <a:br>
              <a:rPr lang="en-US" altLang="en-US" sz="2400" i="1"/>
            </a:br>
            <a:r>
              <a:rPr lang="en-US" altLang="en-US" sz="2400" i="1"/>
              <a:t>I</a:t>
            </a:r>
            <a:r>
              <a:rPr lang="ja-JP" altLang="en-US" sz="2400" i="1"/>
              <a:t>’</a:t>
            </a:r>
            <a:r>
              <a:rPr lang="en-US" altLang="ja-JP" sz="2400" i="1"/>
              <a:t>ve always loved</a:t>
            </a:r>
            <a:br>
              <a:rPr lang="en-US" altLang="ja-JP" sz="2400" i="1"/>
            </a:br>
            <a:r>
              <a:rPr lang="en-US" altLang="ja-JP" sz="2400" i="1"/>
              <a:t>the daring ones</a:t>
            </a:r>
            <a:br>
              <a:rPr lang="en-US" altLang="ja-JP" sz="2400" i="1"/>
            </a:br>
            <a:r>
              <a:rPr lang="en-US" altLang="ja-JP" sz="2400" i="1"/>
              <a:t>like the black young man</a:t>
            </a:r>
            <a:br>
              <a:rPr lang="en-US" altLang="ja-JP" sz="2400" i="1"/>
            </a:br>
            <a:r>
              <a:rPr lang="en-US" altLang="ja-JP" sz="2400" i="1"/>
              <a:t>who tried to crash</a:t>
            </a:r>
            <a:br>
              <a:rPr lang="en-US" altLang="ja-JP" sz="2400" i="1"/>
            </a:br>
            <a:r>
              <a:rPr lang="en-US" altLang="ja-JP" sz="2400" i="1"/>
              <a:t>all barriers</a:t>
            </a:r>
            <a:br>
              <a:rPr lang="en-US" altLang="ja-JP" sz="2400" i="1"/>
            </a:br>
            <a:r>
              <a:rPr lang="en-US" altLang="ja-JP" sz="2400" i="1"/>
              <a:t>at once,</a:t>
            </a:r>
            <a:br>
              <a:rPr lang="en-US" altLang="ja-JP" sz="2400" i="1"/>
            </a:br>
            <a:r>
              <a:rPr lang="en-US" altLang="ja-JP" sz="2400" i="1"/>
              <a:t>wanted to swim</a:t>
            </a:r>
            <a:br>
              <a:rPr lang="en-US" altLang="ja-JP" sz="2400" i="1"/>
            </a:br>
            <a:r>
              <a:rPr lang="en-US" altLang="ja-JP" sz="2400" i="1"/>
              <a:t>at a white beach (in Alabama)</a:t>
            </a:r>
            <a:br>
              <a:rPr lang="en-US" altLang="ja-JP" sz="2400" i="1"/>
            </a:br>
            <a:r>
              <a:rPr lang="en-US" altLang="ja-JP" sz="2400" i="1"/>
              <a:t>Nude.</a:t>
            </a:r>
          </a:p>
          <a:p>
            <a:pPr>
              <a:buFontTx/>
              <a:buNone/>
            </a:pPr>
            <a:r>
              <a:rPr lang="en-US" altLang="en-US" sz="2400" i="1"/>
              <a:t>		                  - </a:t>
            </a:r>
            <a:r>
              <a:rPr lang="en-US" altLang="en-US" sz="2400"/>
              <a:t>Howard Zinn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Picture 3">
            <a:extLst>
              <a:ext uri="{FF2B5EF4-FFF2-40B4-BE49-F238E27FC236}">
                <a16:creationId xmlns:a16="http://schemas.microsoft.com/office/drawing/2014/main" id="{FEBA0368-8650-7F40-805F-1A39D8371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0" t="14000" r="22000" b="2000"/>
          <a:stretch>
            <a:fillRect/>
          </a:stretch>
        </p:blipFill>
        <p:spPr bwMode="auto">
          <a:xfrm>
            <a:off x="7391400" y="152400"/>
            <a:ext cx="1752600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2" name="Title 1">
            <a:extLst>
              <a:ext uri="{FF2B5EF4-FFF2-40B4-BE49-F238E27FC236}">
                <a16:creationId xmlns:a16="http://schemas.microsoft.com/office/drawing/2014/main" id="{BD0F7FA8-3080-E843-A221-703C569FD0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altLang="en-US"/>
              <a:t>The Art of Electronics</a:t>
            </a:r>
            <a:br>
              <a:rPr lang="en-US" altLang="en-US"/>
            </a:br>
            <a:r>
              <a:rPr lang="en-US" altLang="en-US"/>
              <a:t> </a:t>
            </a:r>
            <a:r>
              <a:rPr lang="en-US" altLang="en-US" sz="2400"/>
              <a:t>was a previous text for this class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506F2D55-A507-C14C-B1CD-CAE8CC646C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1676400"/>
            <a:ext cx="7772400" cy="4876800"/>
          </a:xfrm>
        </p:spPr>
        <p:txBody>
          <a:bodyPr/>
          <a:lstStyle/>
          <a:p>
            <a:r>
              <a:rPr lang="en-US" altLang="en-US" sz="2400" dirty="0"/>
              <a:t>It’</a:t>
            </a:r>
            <a:r>
              <a:rPr lang="en-US" altLang="ja-JP" sz="2400" dirty="0"/>
              <a:t>s a cult classic among analog EEs</a:t>
            </a:r>
          </a:p>
          <a:p>
            <a:r>
              <a:rPr lang="en-US" altLang="en-US" sz="2400" dirty="0"/>
              <a:t>Offers broad, deep, and </a:t>
            </a:r>
            <a:r>
              <a:rPr lang="en-US" altLang="en-US" sz="2400" i="1" u="sng" dirty="0"/>
              <a:t>practical</a:t>
            </a:r>
            <a:r>
              <a:rPr lang="en-US" altLang="en-US" sz="2400" i="1" dirty="0"/>
              <a:t> </a:t>
            </a:r>
            <a:r>
              <a:rPr lang="en-US" altLang="en-US" sz="2400" dirty="0"/>
              <a:t>insights into</a:t>
            </a:r>
            <a:br>
              <a:rPr lang="en-US" altLang="en-US" sz="2400" dirty="0"/>
            </a:br>
            <a:r>
              <a:rPr lang="en-US" altLang="en-US" sz="2400" dirty="0"/>
              <a:t>using, building, understanding, and fixing electronics</a:t>
            </a:r>
          </a:p>
          <a:p>
            <a:r>
              <a:rPr lang="en-US" altLang="en-US" sz="2400" dirty="0"/>
              <a:t>Quite complete and powerful for one book, useful long after class</a:t>
            </a:r>
          </a:p>
          <a:p>
            <a:r>
              <a:rPr lang="en-US" altLang="en-US" sz="2400" dirty="0"/>
              <a:t>I used it twice, and the students generally </a:t>
            </a:r>
            <a:r>
              <a:rPr lang="en-US" altLang="en-US" sz="2400" i="1" dirty="0"/>
              <a:t>hated</a:t>
            </a:r>
            <a:r>
              <a:rPr lang="en-US" altLang="en-US" sz="2400" dirty="0"/>
              <a:t> it …</a:t>
            </a:r>
          </a:p>
          <a:p>
            <a:pPr lvl="1"/>
            <a:r>
              <a:rPr lang="en-US" altLang="en-US" sz="2000" dirty="0"/>
              <a:t>Its old … but I still recommend it as a great reference</a:t>
            </a:r>
          </a:p>
          <a:p>
            <a:pPr lvl="1"/>
            <a:r>
              <a:rPr lang="en-US" altLang="en-US" sz="2000" dirty="0"/>
              <a:t>The newer edition is </a:t>
            </a:r>
            <a:r>
              <a:rPr lang="en-US" altLang="en-US" sz="2000" i="1" dirty="0"/>
              <a:t>enormous</a:t>
            </a:r>
            <a:r>
              <a:rPr lang="en-US" altLang="en-US" sz="2000" dirty="0"/>
              <a:t>ly expanded</a:t>
            </a:r>
          </a:p>
          <a:p>
            <a:r>
              <a:rPr lang="en-US" altLang="en-US" sz="2400" dirty="0"/>
              <a:t>So we’re trying another text … </a:t>
            </a:r>
          </a:p>
          <a:p>
            <a:pPr lvl="1"/>
            <a:r>
              <a:rPr lang="en-US" altLang="en-US" sz="2000" dirty="0"/>
              <a:t>Much cheaper (don’t buy used – it</a:t>
            </a:r>
            <a:r>
              <a:rPr lang="fr-FR" altLang="en-US" sz="2000" dirty="0"/>
              <a:t>’</a:t>
            </a:r>
            <a:r>
              <a:rPr lang="en-US" altLang="ja-JP" sz="2000" dirty="0"/>
              <a:t>s a workbook)</a:t>
            </a:r>
          </a:p>
          <a:p>
            <a:pPr lvl="1"/>
            <a:r>
              <a:rPr lang="en-US" altLang="en-US" sz="2000" dirty="0"/>
              <a:t>Easier to follow – all answers are included (you must try the problems first to learn!!)</a:t>
            </a:r>
          </a:p>
          <a:p>
            <a:pPr lvl="1"/>
            <a:r>
              <a:rPr lang="en-US" altLang="en-US" sz="2000" dirty="0"/>
              <a:t>Much less content – so I’ll have to supplement more</a:t>
            </a:r>
          </a:p>
          <a:p>
            <a:pPr lvl="1"/>
            <a:endParaRPr lang="en-US" alt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B794AD80-261E-AC4C-B1A3-2DA9D16038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Other references</a:t>
            </a:r>
          </a:p>
        </p:txBody>
      </p:sp>
      <p:sp>
        <p:nvSpPr>
          <p:cNvPr id="41986" name="Content Placeholder 2">
            <a:extLst>
              <a:ext uri="{FF2B5EF4-FFF2-40B4-BE49-F238E27FC236}">
                <a16:creationId xmlns:a16="http://schemas.microsoft.com/office/drawing/2014/main" id="{74396117-97B6-DB42-B64C-378874C8CF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Other books, websites, </a:t>
            </a:r>
            <a:r>
              <a:rPr lang="en-US" altLang="en-US" sz="2400" dirty="0" err="1"/>
              <a:t>etc</a:t>
            </a:r>
            <a:r>
              <a:rPr lang="en-US" altLang="en-US" sz="2400" dirty="0"/>
              <a:t>: </a:t>
            </a:r>
          </a:p>
          <a:p>
            <a:pPr lvl="1"/>
            <a:r>
              <a:rPr lang="en-US" altLang="en-US" sz="2000" dirty="0"/>
              <a:t>Library, reference – these books are on reserve</a:t>
            </a:r>
          </a:p>
          <a:p>
            <a:pPr lvl="1"/>
            <a:r>
              <a:rPr lang="en-US" altLang="en-US" sz="2000" dirty="0"/>
              <a:t>Wikipedia, </a:t>
            </a:r>
            <a:r>
              <a:rPr lang="en-US" altLang="en-US" sz="2000" dirty="0" err="1"/>
              <a:t>hyperphysics</a:t>
            </a:r>
            <a:r>
              <a:rPr lang="en-US" altLang="en-US" sz="2000" dirty="0"/>
              <a:t>, etc. are great for applets and explanations of particular concepts </a:t>
            </a:r>
          </a:p>
          <a:p>
            <a:pPr lvl="1"/>
            <a:r>
              <a:rPr lang="en-US" altLang="en-US" sz="2000" dirty="0"/>
              <a:t>MIT open courseware </a:t>
            </a:r>
          </a:p>
          <a:p>
            <a:pPr lvl="1"/>
            <a:r>
              <a:rPr lang="en-US" altLang="en-US" sz="2000" dirty="0"/>
              <a:t>"Foundations of analog and digital electronic circuits</a:t>
            </a:r>
            <a:r>
              <a:rPr lang="ja-JP" altLang="en-US" sz="2000"/>
              <a:t>”</a:t>
            </a:r>
            <a:r>
              <a:rPr lang="en-US" altLang="ja-JP" sz="2000" dirty="0"/>
              <a:t> by Agarwal and Lang is brilliant theory, but advanced</a:t>
            </a:r>
          </a:p>
          <a:p>
            <a:pPr lvl="1"/>
            <a:r>
              <a:rPr lang="ja-JP" altLang="en-US" sz="2000"/>
              <a:t>“</a:t>
            </a:r>
            <a:r>
              <a:rPr lang="en-US" altLang="ja-JP" sz="2000" dirty="0"/>
              <a:t>Electronics Fundamentals</a:t>
            </a:r>
            <a:r>
              <a:rPr lang="ja-JP" altLang="en-US" sz="2000"/>
              <a:t>”</a:t>
            </a:r>
            <a:r>
              <a:rPr lang="en-US" altLang="ja-JP" sz="2000" dirty="0"/>
              <a:t> by Floyd takes 700 pages to get to transistors </a:t>
            </a:r>
          </a:p>
          <a:p>
            <a:pPr lvl="1"/>
            <a:r>
              <a:rPr lang="en-US" altLang="en-US" sz="2000" dirty="0"/>
              <a:t>Several </a:t>
            </a:r>
            <a:r>
              <a:rPr lang="ja-JP" altLang="en-US" sz="2000"/>
              <a:t>“</a:t>
            </a:r>
            <a:r>
              <a:rPr lang="en-US" altLang="ja-JP" sz="2000" dirty="0"/>
              <a:t>for dummies</a:t>
            </a:r>
            <a:r>
              <a:rPr lang="ja-JP" altLang="en-US" sz="2000"/>
              <a:t>”</a:t>
            </a:r>
            <a:r>
              <a:rPr lang="en-US" altLang="ja-JP" sz="2000" dirty="0"/>
              <a:t> and the like books may fit your level and style</a:t>
            </a:r>
          </a:p>
          <a:p>
            <a:pPr lvl="1"/>
            <a:r>
              <a:rPr lang="en-US" altLang="en-US" sz="2000" dirty="0"/>
              <a:t>On-line texts with various specializations are becoming more available – please let me know if you find good ones</a:t>
            </a:r>
          </a:p>
        </p:txBody>
      </p:sp>
      <p:pic>
        <p:nvPicPr>
          <p:cNvPr id="41987" name="Picture 1">
            <a:extLst>
              <a:ext uri="{FF2B5EF4-FFF2-40B4-BE49-F238E27FC236}">
                <a16:creationId xmlns:a16="http://schemas.microsoft.com/office/drawing/2014/main" id="{36EEB228-F14D-614E-B694-A3DD27946C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975" y="0"/>
            <a:ext cx="18478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8" name="Picture 2">
            <a:extLst>
              <a:ext uri="{FF2B5EF4-FFF2-40B4-BE49-F238E27FC236}">
                <a16:creationId xmlns:a16="http://schemas.microsoft.com/office/drawing/2014/main" id="{50A6F0BE-4ECD-0C41-AB53-CA65802B2E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597025" cy="208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TextBox 3">
            <a:extLst>
              <a:ext uri="{FF2B5EF4-FFF2-40B4-BE49-F238E27FC236}">
                <a16:creationId xmlns:a16="http://schemas.microsoft.com/office/drawing/2014/main" id="{0E77D284-1047-054D-927C-1F09470EB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7913" y="2286000"/>
            <a:ext cx="15763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5 lbs, 1220 pgs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0AFE0B8F-8B1E-B44C-A2EB-B6C6623BB1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772400" cy="1143000"/>
          </a:xfrm>
        </p:spPr>
        <p:txBody>
          <a:bodyPr/>
          <a:lstStyle/>
          <a:p>
            <a:r>
              <a:rPr lang="en-US" altLang="en-US"/>
              <a:t>Building complex stuff</a:t>
            </a:r>
          </a:p>
        </p:txBody>
      </p:sp>
      <p:sp>
        <p:nvSpPr>
          <p:cNvPr id="43010" name="Content Placeholder 2">
            <a:extLst>
              <a:ext uri="{FF2B5EF4-FFF2-40B4-BE49-F238E27FC236}">
                <a16:creationId xmlns:a16="http://schemas.microsoft.com/office/drawing/2014/main" id="{8B47462D-CD37-FB48-8A23-C3EB9DD10E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r>
              <a:rPr lang="en-US" altLang="en-US" sz="2400" dirty="0"/>
              <a:t>Is an art that takes infinite practice</a:t>
            </a:r>
          </a:p>
          <a:p>
            <a:pPr lvl="1"/>
            <a:r>
              <a:rPr lang="en-US" altLang="en-US" sz="2000" dirty="0"/>
              <a:t>Reductionism </a:t>
            </a:r>
            <a:r>
              <a:rPr lang="en-US" altLang="en-US" sz="2000" i="1" dirty="0"/>
              <a:t>and </a:t>
            </a:r>
            <a:r>
              <a:rPr lang="en-US" altLang="en-US" sz="2000" dirty="0"/>
              <a:t>creativity are essential</a:t>
            </a:r>
          </a:p>
          <a:p>
            <a:r>
              <a:rPr lang="en-US" altLang="en-US" sz="2400" dirty="0"/>
              <a:t>We</a:t>
            </a:r>
            <a:r>
              <a:rPr lang="en-US" altLang="ja-JP" sz="2400" dirty="0"/>
              <a:t>’ll need to work hard </a:t>
            </a:r>
          </a:p>
          <a:p>
            <a:r>
              <a:rPr lang="en-US" altLang="en-US" sz="2400" dirty="0"/>
              <a:t>Most of what we try won’</a:t>
            </a:r>
            <a:r>
              <a:rPr lang="en-US" altLang="ja-JP" sz="2400" dirty="0"/>
              <a:t>t work the first time (or the second time, or the third …) </a:t>
            </a:r>
          </a:p>
          <a:p>
            <a:r>
              <a:rPr lang="en-US" altLang="en-US" sz="2400" dirty="0"/>
              <a:t>Persevere as well as seek alternative solutions</a:t>
            </a:r>
          </a:p>
          <a:p>
            <a:pPr lvl="1"/>
            <a:r>
              <a:rPr lang="en-US" altLang="en-US" sz="2000" dirty="0"/>
              <a:t>There are many possible paths</a:t>
            </a:r>
            <a:endParaRPr lang="en-US" altLang="en-US" sz="2000" i="1" dirty="0"/>
          </a:p>
          <a:p>
            <a:pPr lvl="1"/>
            <a:r>
              <a:rPr lang="en-US" altLang="en-US" sz="2000" dirty="0"/>
              <a:t>Reduce the biggest uncertainties</a:t>
            </a:r>
          </a:p>
          <a:p>
            <a:pPr lvl="1"/>
            <a:r>
              <a:rPr lang="en-US" altLang="en-US" sz="2000" dirty="0"/>
              <a:t>To a hammer, everything is a nail</a:t>
            </a:r>
          </a:p>
          <a:p>
            <a:r>
              <a:rPr lang="en-US" altLang="en-US" sz="2400" dirty="0"/>
              <a:t>The journey can be a big part of the reward</a:t>
            </a:r>
          </a:p>
          <a:p>
            <a:r>
              <a:rPr lang="en-US" altLang="en-US" sz="2400" dirty="0"/>
              <a:t>Make reasonable expectations</a:t>
            </a:r>
          </a:p>
          <a:p>
            <a:endParaRPr lang="en-US" alt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id="{4261E5F1-5304-364B-AB3A-5C0FE6BF55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Education theory:</a:t>
            </a:r>
          </a:p>
        </p:txBody>
      </p:sp>
      <p:sp>
        <p:nvSpPr>
          <p:cNvPr id="53250" name="TextBox 1">
            <a:extLst>
              <a:ext uri="{FF2B5EF4-FFF2-40B4-BE49-F238E27FC236}">
                <a16:creationId xmlns:a16="http://schemas.microsoft.com/office/drawing/2014/main" id="{F6DFA36D-C30C-404A-A60C-2D38BB0CC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6132513"/>
            <a:ext cx="8701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  <a:hlinkClick r:id="rId3"/>
              </a:rPr>
              <a:t>http://thesecondprinciple.com/teaching-essentials/beyond-bloom-cognitive-taxonomy-revised/</a:t>
            </a:r>
            <a:r>
              <a:rPr lang="en-US" altLang="en-US" sz="1600">
                <a:latin typeface="Arial" panose="020B0604020202020204" pitchFamily="34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  <a:hlinkClick r:id="rId4"/>
              </a:rPr>
              <a:t>http://www.utar.edu.my/fegt/file/Revised_Blooms_Info.pdf</a:t>
            </a:r>
            <a:r>
              <a:rPr lang="en-US" altLang="en-US" sz="160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4C55EADD-B021-9D40-9D1C-43477F0D73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pic>
        <p:nvPicPr>
          <p:cNvPr id="53252" name="Picture 3">
            <a:extLst>
              <a:ext uri="{FF2B5EF4-FFF2-40B4-BE49-F238E27FC236}">
                <a16:creationId xmlns:a16="http://schemas.microsoft.com/office/drawing/2014/main" id="{25F25EF5-EC61-2448-98BB-1D7FAD27E3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38" y="1600200"/>
            <a:ext cx="7993062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3" name="TextBox 4">
            <a:extLst>
              <a:ext uri="{FF2B5EF4-FFF2-40B4-BE49-F238E27FC236}">
                <a16:creationId xmlns:a16="http://schemas.microsoft.com/office/drawing/2014/main" id="{DDBA0383-C48E-5E43-A658-345770FF7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685800"/>
            <a:ext cx="3200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Reductionism of the cognitive domain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CE4F1E9E-A726-B34D-871C-D578127D90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924800" cy="1143000"/>
          </a:xfrm>
        </p:spPr>
        <p:txBody>
          <a:bodyPr/>
          <a:lstStyle/>
          <a:p>
            <a:r>
              <a:rPr lang="en-US" altLang="en-US" sz="3600">
                <a:ea typeface="ＭＳ Ｐゴシック" panose="020B0600070205080204" pitchFamily="34" charset="-128"/>
              </a:rPr>
              <a:t>Stages of of cognitive development</a:t>
            </a:r>
          </a:p>
        </p:txBody>
      </p:sp>
      <p:sp>
        <p:nvSpPr>
          <p:cNvPr id="54274" name="TextBox 1">
            <a:extLst>
              <a:ext uri="{FF2B5EF4-FFF2-40B4-BE49-F238E27FC236}">
                <a16:creationId xmlns:a16="http://schemas.microsoft.com/office/drawing/2014/main" id="{5A75A151-2EF7-3248-B425-2DBE6C0BC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6289675"/>
            <a:ext cx="69516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  <a:hlinkClick r:id="rId2"/>
              </a:rPr>
              <a:t>https://prezi.com/1cmm76suwcb1/perrys-stages-of-cognitive-development/</a:t>
            </a:r>
            <a:r>
              <a:rPr lang="en-US" altLang="en-US" sz="160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8E2C064C-C43A-8F4B-81AF-EB6973E9C8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pic>
        <p:nvPicPr>
          <p:cNvPr id="54276" name="Picture 4">
            <a:extLst>
              <a:ext uri="{FF2B5EF4-FFF2-40B4-BE49-F238E27FC236}">
                <a16:creationId xmlns:a16="http://schemas.microsoft.com/office/drawing/2014/main" id="{B3AC96F2-6219-EB41-8D5C-7B9915246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56"/>
          <a:stretch>
            <a:fillRect/>
          </a:stretch>
        </p:blipFill>
        <p:spPr bwMode="auto">
          <a:xfrm>
            <a:off x="838200" y="1447800"/>
            <a:ext cx="7942263" cy="468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A65A0DC3-BC51-9D43-8702-FD7A5DA2C0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Reductionism of the affective domain</a:t>
            </a:r>
          </a:p>
        </p:txBody>
      </p:sp>
      <p:sp>
        <p:nvSpPr>
          <p:cNvPr id="55298" name="TextBox 1">
            <a:extLst>
              <a:ext uri="{FF2B5EF4-FFF2-40B4-BE49-F238E27FC236}">
                <a16:creationId xmlns:a16="http://schemas.microsoft.com/office/drawing/2014/main" id="{C680D912-CC1B-6143-964A-756A59157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133600"/>
            <a:ext cx="29718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Studying electronics can teach you an awful lot about yourself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How do you learn?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How do you deal with uncertainty?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How do you use abstraction?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>
                <a:latin typeface="Arial" panose="020B0604020202020204" pitchFamily="34" charset="0"/>
              </a:rPr>
              <a:t>The more you struggle here, the less you’ll struggle elsewhere to achieve higher intellectual growth</a:t>
            </a:r>
          </a:p>
        </p:txBody>
      </p:sp>
      <p:pic>
        <p:nvPicPr>
          <p:cNvPr id="55299" name="Content Placeholder 3">
            <a:extLst>
              <a:ext uri="{FF2B5EF4-FFF2-40B4-BE49-F238E27FC236}">
                <a16:creationId xmlns:a16="http://schemas.microsoft.com/office/drawing/2014/main" id="{7C80C98F-983D-0249-BB96-1D4AC2B6E1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19400" y="549275"/>
            <a:ext cx="5764213" cy="5745163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3" name="Picture 2">
            <a:extLst>
              <a:ext uri="{FF2B5EF4-FFF2-40B4-BE49-F238E27FC236}">
                <a16:creationId xmlns:a16="http://schemas.microsoft.com/office/drawing/2014/main" id="{0C0403D2-B161-8447-AA88-6E53CBDA8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942975"/>
            <a:ext cx="6172200" cy="591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34" name="Text Box 3">
            <a:extLst>
              <a:ext uri="{FF2B5EF4-FFF2-40B4-BE49-F238E27FC236}">
                <a16:creationId xmlns:a16="http://schemas.microsoft.com/office/drawing/2014/main" id="{40D9CF24-FCCC-124B-9753-43BA18DFA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0"/>
            <a:ext cx="8534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>
                <a:solidFill>
                  <a:srgbClr val="0000FF"/>
                </a:solidFill>
              </a:rPr>
              <a:t>Matching Perry's cognitive taxonomy with Bloom</a:t>
            </a:r>
            <a:r>
              <a:rPr lang="ja-JP" altLang="en-US">
                <a:solidFill>
                  <a:srgbClr val="0000FF"/>
                </a:solidFill>
              </a:rPr>
              <a:t>’</a:t>
            </a:r>
            <a:r>
              <a:rPr lang="en-US" altLang="ja-JP">
                <a:solidFill>
                  <a:srgbClr val="0000FF"/>
                </a:solidFill>
              </a:rPr>
              <a:t>s affective taxonomy connects feelings with each intellectual level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120835" name="TextBox 3">
            <a:extLst>
              <a:ext uri="{FF2B5EF4-FFF2-40B4-BE49-F238E27FC236}">
                <a16:creationId xmlns:a16="http://schemas.microsoft.com/office/drawing/2014/main" id="{30FCE87D-0110-4942-90A4-E848534EC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225" y="1077913"/>
            <a:ext cx="1196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Times New Roman" panose="02020603050405020304" pitchFamily="18" charset="0"/>
              </a:rPr>
              <a:t>(cognitive)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Text Box 2">
            <a:extLst>
              <a:ext uri="{FF2B5EF4-FFF2-40B4-BE49-F238E27FC236}">
                <a16:creationId xmlns:a16="http://schemas.microsoft.com/office/drawing/2014/main" id="{76883263-DC2D-D649-948B-A02DED135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09600"/>
            <a:ext cx="3841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CC0000"/>
                </a:solidFill>
                <a:latin typeface="Times New Roman" panose="02020603050405020304" pitchFamily="18" charset="0"/>
              </a:rPr>
              <a:t>Change in Levels of Thinking</a:t>
            </a:r>
            <a:endParaRPr lang="en-US" altLang="en-US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24930" name="Picture 3">
            <a:extLst>
              <a:ext uri="{FF2B5EF4-FFF2-40B4-BE49-F238E27FC236}">
                <a16:creationId xmlns:a16="http://schemas.microsoft.com/office/drawing/2014/main" id="{5B9168E6-F579-0F46-8E2A-4AEC4A248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7024688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DA7780-1C6C-EE1F-788B-EDC953F3C206}"/>
              </a:ext>
            </a:extLst>
          </p:cNvPr>
          <p:cNvSpPr txBox="1"/>
          <p:nvPr/>
        </p:nvSpPr>
        <p:spPr>
          <a:xfrm>
            <a:off x="1295400" y="6096000"/>
            <a:ext cx="762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intellectual development doesn’t happen quickly …</a:t>
            </a:r>
          </a:p>
        </p:txBody>
      </p:sp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912451E0-61DE-0340-A370-BCC5B55853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Class rules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573D674D-3902-1E43-8E38-B1541FEBA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latin typeface="Helvetica" pitchFamily="2" charset="0"/>
                <a:ea typeface="AppleGothic" pitchFamily="2" charset="-127"/>
              </a:rPr>
              <a:t>Do the assigned readings before class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altLang="en-US" sz="2000" dirty="0">
                <a:latin typeface="Helvetica" pitchFamily="2" charset="0"/>
                <a:ea typeface="AppleGothic" pitchFamily="2" charset="-127"/>
              </a:rPr>
              <a:t>At least familiarize yourself with the material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altLang="en-US" sz="2000" dirty="0">
                <a:latin typeface="Helvetica" pitchFamily="2" charset="0"/>
                <a:ea typeface="AppleGothic" pitchFamily="2" charset="-127"/>
              </a:rPr>
              <a:t>Post to a Canvas Discussion</a:t>
            </a:r>
            <a:endParaRPr lang="en-US" altLang="en-US" sz="2400" dirty="0">
              <a:latin typeface="Helvetica" pitchFamily="2" charset="0"/>
              <a:ea typeface="AppleGothic" pitchFamily="2" charset="-127"/>
            </a:endParaRPr>
          </a:p>
          <a:p>
            <a:pPr marL="533400" indent="-533400"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latin typeface="Helvetica" pitchFamily="2" charset="0"/>
                <a:ea typeface="AppleGothic" pitchFamily="2" charset="-127"/>
              </a:rPr>
              <a:t>Actively seek additional sources &amp; explanations</a:t>
            </a:r>
          </a:p>
          <a:p>
            <a:pPr marL="533400" indent="-533400"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latin typeface="Helvetica" pitchFamily="2" charset="0"/>
                <a:ea typeface="AppleGothic" pitchFamily="2" charset="-127"/>
              </a:rPr>
              <a:t>Actively test your understanding and creativity</a:t>
            </a:r>
          </a:p>
          <a:p>
            <a:pPr marL="533400" indent="-533400"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latin typeface="Helvetica" pitchFamily="2" charset="0"/>
                <a:ea typeface="AppleGothic" pitchFamily="2" charset="-127"/>
              </a:rPr>
              <a:t>Don</a:t>
            </a:r>
            <a:r>
              <a:rPr lang="ja-JP" altLang="en-US" sz="2400">
                <a:latin typeface="Helvetica" pitchFamily="2" charset="0"/>
                <a:ea typeface="AppleGothic" pitchFamily="2" charset="-127"/>
              </a:rPr>
              <a:t>’</a:t>
            </a:r>
            <a:r>
              <a:rPr lang="en-US" altLang="ja-JP" sz="2400" dirty="0">
                <a:latin typeface="Helvetica" pitchFamily="2" charset="0"/>
                <a:ea typeface="AppleGothic" pitchFamily="2" charset="-127"/>
              </a:rPr>
              <a:t>t be complacent about not understanding</a:t>
            </a:r>
          </a:p>
          <a:p>
            <a:pPr marL="533400" indent="-533400"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latin typeface="Helvetica" pitchFamily="2" charset="0"/>
                <a:ea typeface="AppleGothic" pitchFamily="2" charset="-127"/>
              </a:rPr>
              <a:t>Be inquisitive and (almost) fearless in labs</a:t>
            </a:r>
          </a:p>
          <a:p>
            <a:pPr marL="533400" indent="-533400"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latin typeface="Helvetica" pitchFamily="2" charset="0"/>
                <a:ea typeface="AppleGothic" pitchFamily="2" charset="-127"/>
              </a:rPr>
              <a:t>Memorize some things, understand others, appreciate lots more</a:t>
            </a:r>
          </a:p>
          <a:p>
            <a:pPr marL="533400" indent="-533400"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2400" dirty="0">
                <a:latin typeface="Helvetica" pitchFamily="2" charset="0"/>
                <a:ea typeface="ＭＳ Ｐゴシック" panose="020B0600070205080204" pitchFamily="34" charset="-128"/>
              </a:rPr>
              <a:t>Keep trying to fit new ideas into a bigger, more general picture</a:t>
            </a:r>
            <a:endParaRPr lang="en-US" altLang="en-US" sz="2800" dirty="0">
              <a:latin typeface="Helvetica" pitchFamily="2" charset="0"/>
              <a:ea typeface="ＭＳ Ｐゴシック" panose="020B0600070205080204" pitchFamily="34" charset="-128"/>
            </a:endParaRPr>
          </a:p>
          <a:p>
            <a:pPr marL="533400" indent="-533400" eaLnBrk="1" hangingPunct="1">
              <a:lnSpc>
                <a:spcPct val="90000"/>
              </a:lnSpc>
            </a:pPr>
            <a:endParaRPr lang="en-US" altLang="en-US" sz="2800" dirty="0">
              <a:latin typeface="Helvetica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42274F5A-8467-9145-AC55-05F1F1E54A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Class philosophy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24012F51-74F1-7B46-9658-F6D312E1A2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ＭＳ Ｐゴシック" panose="020B0600070205080204" pitchFamily="34" charset="-128"/>
              </a:rPr>
              <a:t>Electronics is hard to learn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No innate sense of weak electricity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Must rely on machines to detect it (and they can lie)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Abstract and unintuitive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Different physics than our other senses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Daunting complexity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Technology provides us with a smorgasbord of devices with various behaviors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ＭＳ Ｐゴシック" panose="020B0600070205080204" pitchFamily="34" charset="-128"/>
              </a:rPr>
              <a:t>But learning </a:t>
            </a:r>
            <a:r>
              <a:rPr lang="en-US" altLang="en-US" sz="2800" i="1" dirty="0">
                <a:ea typeface="ＭＳ Ｐゴシック" panose="020B0600070205080204" pitchFamily="34" charset="-128"/>
              </a:rPr>
              <a:t>how </a:t>
            </a:r>
            <a:r>
              <a:rPr lang="en-US" altLang="en-US" sz="2800" dirty="0">
                <a:ea typeface="ＭＳ Ｐゴシック" panose="020B0600070205080204" pitchFamily="34" charset="-128"/>
              </a:rPr>
              <a:t>to learn about electronics will help you learn about other complex, unintuitive systems in life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e.g., your spouse, kids, malfunctioning body, …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 dirty="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sz="24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499CD78A-D579-E448-B0CD-456992FFDB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Topics</a:t>
            </a:r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17D89EEF-B7E2-8A43-80F1-067D461218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ea typeface="ＭＳ Ｐゴシック" panose="020B0600070205080204" pitchFamily="34" charset="-128"/>
              </a:rPr>
              <a:t>There are many organizational ways to break up electronics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Electronic components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Circuit building blocks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The art(s) of construction, debugging, &amp; design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Sensors, transducers, &amp; actuators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DC, AC, frequency responses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Analog and Digital regimes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Instrumentation, noise, measurement theory, metrology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Digital signal processing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… (any requests now?)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A challenge is most of these aren</a:t>
            </a:r>
            <a:r>
              <a:rPr lang="ja-JP" altLang="en-US" sz="2000">
                <a:ea typeface="ＭＳ Ｐゴシック" panose="020B0600070205080204" pitchFamily="34" charset="-128"/>
              </a:rPr>
              <a:t>’</a:t>
            </a:r>
            <a:r>
              <a:rPr lang="en-US" altLang="ja-JP" sz="2000">
                <a:ea typeface="ＭＳ Ｐゴシック" panose="020B0600070205080204" pitchFamily="34" charset="-128"/>
              </a:rPr>
              <a:t>t independent …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ea typeface="ＭＳ Ｐゴシック" panose="020B0600070205080204" pitchFamily="34" charset="-128"/>
              </a:rPr>
              <a:t>you need to know a many of them to learn </a:t>
            </a:r>
            <a:r>
              <a:rPr lang="en-US" altLang="en-US" sz="1800" i="1">
                <a:ea typeface="ＭＳ Ｐゴシック" panose="020B0600070205080204" pitchFamily="34" charset="-128"/>
              </a:rPr>
              <a:t>any </a:t>
            </a:r>
            <a:r>
              <a:rPr lang="en-US" altLang="en-US" sz="1800">
                <a:ea typeface="ＭＳ Ｐゴシック" panose="020B0600070205080204" pitchFamily="34" charset="-128"/>
              </a:rPr>
              <a:t>of them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ea typeface="ＭＳ Ｐゴシック" panose="020B0600070205080204" pitchFamily="34" charset="-128"/>
              </a:rPr>
              <a:t>analogous to any language – there’s a minimum useful vocabulary)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z="18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>
            <a:extLst>
              <a:ext uri="{FF2B5EF4-FFF2-40B4-BE49-F238E27FC236}">
                <a16:creationId xmlns:a16="http://schemas.microsoft.com/office/drawing/2014/main" id="{A4A5C162-B1A0-E848-B238-70FB4CA76B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How to approach it?</a:t>
            </a:r>
          </a:p>
        </p:txBody>
      </p:sp>
      <p:sp>
        <p:nvSpPr>
          <p:cNvPr id="63490" name="Rectangle 3">
            <a:extLst>
              <a:ext uri="{FF2B5EF4-FFF2-40B4-BE49-F238E27FC236}">
                <a16:creationId xmlns:a16="http://schemas.microsoft.com/office/drawing/2014/main" id="{C9BD2051-F553-DD47-8896-A4AC8FFC37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580312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Conventional approach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Simple circuits are boring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Useful circuits are confusing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We’</a:t>
            </a:r>
            <a:r>
              <a:rPr lang="en-US" altLang="ja-JP" sz="2400" dirty="0">
                <a:ea typeface="ＭＳ Ｐゴシック" panose="020B0600070205080204" pitchFamily="34" charset="-128"/>
              </a:rPr>
              <a:t>ll try to steer a path in between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Expect to be confused sometimes, hopefully never bored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Key to understanding advanced topics are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Understanding basic concepts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Art of measurement; DMM, oscilloscope, computer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What to do when something doesn’</a:t>
            </a:r>
            <a:r>
              <a:rPr lang="en-US" altLang="ja-JP" sz="1800" dirty="0">
                <a:ea typeface="ＭＳ Ｐゴシック" panose="020B0600070205080204" pitchFamily="34" charset="-128"/>
              </a:rPr>
              <a:t>t work?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>
                <a:ea typeface="ＭＳ Ｐゴシック" panose="020B0600070205080204" pitchFamily="34" charset="-128"/>
              </a:rPr>
              <a:t>Built a lot, visualize, and verbalize in the new language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>
            <a:extLst>
              <a:ext uri="{FF2B5EF4-FFF2-40B4-BE49-F238E27FC236}">
                <a16:creationId xmlns:a16="http://schemas.microsoft.com/office/drawing/2014/main" id="{9D1A12C5-614A-CF46-BFDD-F420D98882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Specifically …</a:t>
            </a:r>
          </a:p>
        </p:txBody>
      </p:sp>
      <p:sp>
        <p:nvSpPr>
          <p:cNvPr id="64514" name="Content Placeholder 2">
            <a:extLst>
              <a:ext uri="{FF2B5EF4-FFF2-40B4-BE49-F238E27FC236}">
                <a16:creationId xmlns:a16="http://schemas.microsoft.com/office/drawing/2014/main" id="{37DCBC0F-8E49-6947-80EC-DBF5760D0C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2688" y="2017713"/>
            <a:ext cx="7656512" cy="4114800"/>
          </a:xfrm>
        </p:spPr>
        <p:txBody>
          <a:bodyPr/>
          <a:lstStyle/>
          <a:p>
            <a:r>
              <a:rPr lang="en-US" altLang="en-US" sz="2000" dirty="0">
                <a:ea typeface="ＭＳ Ｐゴシック" panose="020B0600070205080204" pitchFamily="34" charset="-128"/>
              </a:rPr>
              <a:t>You</a:t>
            </a:r>
            <a:r>
              <a:rPr lang="en-US" altLang="ja-JP" sz="2000" dirty="0">
                <a:ea typeface="ＭＳ Ｐゴシック" panose="020B0600070205080204" pitchFamily="34" charset="-128"/>
              </a:rPr>
              <a:t>’re going to build your own test equipment and apparatus: starting with a regulated DC power supply</a:t>
            </a:r>
          </a:p>
          <a:p>
            <a:r>
              <a:rPr lang="en-US" altLang="en-US" sz="1800" dirty="0">
                <a:ea typeface="ＭＳ Ｐゴシック" panose="020B0600070205080204" pitchFamily="34" charset="-128"/>
              </a:rPr>
              <a:t>Because these are essential generic tools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You’</a:t>
            </a:r>
            <a:r>
              <a:rPr lang="en-US" altLang="ja-JP" sz="1800" dirty="0">
                <a:ea typeface="ＭＳ Ｐゴシック" panose="020B0600070205080204" pitchFamily="34" charset="-128"/>
              </a:rPr>
              <a:t>ll learn a lot as you build, debug, and use your own tools and test circuits</a:t>
            </a:r>
          </a:p>
          <a:p>
            <a:r>
              <a:rPr lang="en-US" altLang="ja-JP" sz="2000" dirty="0">
                <a:ea typeface="ＭＳ Ｐゴシック" panose="020B0600070205080204" pitchFamily="34" charset="-128"/>
              </a:rPr>
              <a:t>You’ll use an Arduino Nano microcontroller and MATLAB instead of an oscilloscope</a:t>
            </a:r>
          </a:p>
          <a:p>
            <a:pPr lvl="1"/>
            <a:r>
              <a:rPr lang="en-US" altLang="ja-JP" sz="1800" dirty="0">
                <a:ea typeface="ＭＳ Ｐゴシック" panose="020B0600070205080204" pitchFamily="34" charset="-128"/>
              </a:rPr>
              <a:t>This will teach you many useful lessons about automation, programming, interfacing, signal processing, and managing complexity</a:t>
            </a:r>
          </a:p>
          <a:p>
            <a:pPr lvl="1"/>
            <a:r>
              <a:rPr lang="en-US" altLang="ja-JP" sz="1800" dirty="0">
                <a:ea typeface="ＭＳ Ｐゴシック" panose="020B0600070205080204" pitchFamily="34" charset="-128"/>
              </a:rPr>
              <a:t>We’ll do more with this $5 microcontroller than possible with a $500 oscilloscope</a:t>
            </a:r>
          </a:p>
          <a:p>
            <a:pPr lvl="1"/>
            <a:r>
              <a:rPr lang="en-US" altLang="ja-JP" sz="1800" dirty="0">
                <a:ea typeface="ＭＳ Ｐゴシック" panose="020B0600070205080204" pitchFamily="34" charset="-128"/>
              </a:rPr>
              <a:t>You still may wish to pick up a used oscilloscope on Craigslist, </a:t>
            </a:r>
            <a:r>
              <a:rPr lang="en-US" altLang="ja-JP" sz="1800" dirty="0" err="1">
                <a:ea typeface="ＭＳ Ｐゴシック" panose="020B0600070205080204" pitchFamily="34" charset="-128"/>
              </a:rPr>
              <a:t>ebay</a:t>
            </a:r>
            <a:r>
              <a:rPr lang="en-US" altLang="ja-JP" sz="1800" dirty="0">
                <a:ea typeface="ＭＳ Ｐゴシック" panose="020B0600070205080204" pitchFamily="34" charset="-128"/>
              </a:rPr>
              <a:t>, or a ham radio </a:t>
            </a:r>
            <a:r>
              <a:rPr lang="en-US" altLang="ja-JP" sz="1800" dirty="0" err="1">
                <a:ea typeface="ＭＳ Ｐゴシック" panose="020B0600070205080204" pitchFamily="34" charset="-128"/>
              </a:rPr>
              <a:t>swapmeet</a:t>
            </a:r>
            <a:r>
              <a:rPr lang="en-US" altLang="ja-JP" sz="1800" dirty="0">
                <a:ea typeface="ＭＳ Ｐゴシック" panose="020B0600070205080204" pitchFamily="34" charset="-128"/>
              </a:rPr>
              <a:t> … </a:t>
            </a:r>
          </a:p>
          <a:p>
            <a:pPr lvl="1"/>
            <a:endParaRPr lang="en-US" altLang="ja-JP" sz="18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>
            <a:extLst>
              <a:ext uri="{FF2B5EF4-FFF2-40B4-BE49-F238E27FC236}">
                <a16:creationId xmlns:a16="http://schemas.microsoft.com/office/drawing/2014/main" id="{3BBBA0C5-AA8C-3B40-AC4C-EDC649ED7D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Is this approach a good idea?</a:t>
            </a:r>
          </a:p>
        </p:txBody>
      </p:sp>
      <p:sp>
        <p:nvSpPr>
          <p:cNvPr id="68611" name="Content Placeholder 2">
            <a:extLst>
              <a:ext uri="{FF2B5EF4-FFF2-40B4-BE49-F238E27FC236}">
                <a16:creationId xmlns:a16="http://schemas.microsoft.com/office/drawing/2014/main" id="{23451247-8102-4143-8584-23FD245E80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2688" y="2017713"/>
            <a:ext cx="7199312" cy="4840287"/>
          </a:xfrm>
        </p:spPr>
        <p:txBody>
          <a:bodyPr/>
          <a:lstStyle/>
          <a:p>
            <a:r>
              <a:rPr lang="en-US" altLang="en-US" sz="2400" dirty="0">
                <a:ea typeface="ＭＳ Ｐゴシック" panose="020B0600070205080204" pitchFamily="34" charset="-128"/>
              </a:rPr>
              <a:t>To try to teach a too-big topic in a loosely structured style from a foreign perspective?</a:t>
            </a:r>
            <a:endParaRPr lang="en-US" altLang="en-US" sz="200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I don</a:t>
            </a:r>
            <a:r>
              <a:rPr lang="ja-JP" altLang="en-US" sz="2000">
                <a:ea typeface="ＭＳ Ｐゴシック" panose="020B0600070205080204" pitchFamily="34" charset="-128"/>
              </a:rPr>
              <a:t>’</a:t>
            </a:r>
            <a:r>
              <a:rPr lang="en-US" altLang="ja-JP" sz="2000" dirty="0">
                <a:ea typeface="ＭＳ Ｐゴシック" panose="020B0600070205080204" pitchFamily="34" charset="-128"/>
              </a:rPr>
              <a:t>t think you</a:t>
            </a:r>
            <a:r>
              <a:rPr lang="ja-JP" altLang="en-US" sz="2000">
                <a:ea typeface="ＭＳ Ｐゴシック" panose="020B0600070205080204" pitchFamily="34" charset="-128"/>
              </a:rPr>
              <a:t>’</a:t>
            </a:r>
            <a:r>
              <a:rPr lang="en-US" altLang="ja-JP" sz="2000" dirty="0">
                <a:ea typeface="ＭＳ Ｐゴシック" panose="020B0600070205080204" pitchFamily="34" charset="-128"/>
              </a:rPr>
              <a:t>d prefer the conventional approach</a:t>
            </a:r>
          </a:p>
          <a:p>
            <a:pPr lvl="2"/>
            <a:r>
              <a:rPr lang="en-US" altLang="en-US" sz="1600" dirty="0">
                <a:ea typeface="ＭＳ Ｐゴシック" panose="020B0600070205080204" pitchFamily="34" charset="-128"/>
              </a:rPr>
              <a:t>Hardly covers any ground in a semester</a:t>
            </a:r>
          </a:p>
          <a:p>
            <a:pPr lvl="2"/>
            <a:r>
              <a:rPr lang="en-US" altLang="en-US" sz="1600" dirty="0">
                <a:ea typeface="ＭＳ Ｐゴシック" panose="020B0600070205080204" pitchFamily="34" charset="-128"/>
              </a:rPr>
              <a:t>Strives to build a strong foundation (so you can have a nice slab of cement in a few years)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I think you can learn much more much faster </a:t>
            </a:r>
          </a:p>
          <a:p>
            <a:pPr lvl="2"/>
            <a:r>
              <a:rPr lang="en-US" altLang="en-US" sz="1600" dirty="0">
                <a:ea typeface="ＭＳ Ｐゴシック" panose="020B0600070205080204" pitchFamily="34" charset="-128"/>
              </a:rPr>
              <a:t>Study things that you know and care more about </a:t>
            </a:r>
          </a:p>
          <a:p>
            <a:pPr lvl="2"/>
            <a:r>
              <a:rPr lang="en-US" altLang="en-US" sz="1600" dirty="0">
                <a:ea typeface="ＭＳ Ｐゴシック" panose="020B0600070205080204" pitchFamily="34" charset="-128"/>
              </a:rPr>
              <a:t>I will try not to hold any of you back, and I challenge you to push yourself and the rest of us forward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What do you think or recommend? 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I’m relying on your</a:t>
            </a:r>
            <a:r>
              <a:rPr lang="en-US" altLang="en-US" sz="2400" u="sng" dirty="0">
                <a:ea typeface="ＭＳ Ｐゴシック" panose="020B0600070205080204" pitchFamily="34" charset="-128"/>
              </a:rPr>
              <a:t> frequent &amp; honest </a:t>
            </a:r>
            <a:r>
              <a:rPr lang="en-US" altLang="en-US" sz="2400" dirty="0">
                <a:ea typeface="ＭＳ Ｐゴシック" panose="020B0600070205080204" pitchFamily="34" charset="-128"/>
              </a:rPr>
              <a:t>feedback 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If you’re bored or lost, chances are that others are too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If the book isn’t helping you, please let me know! 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 bldLvl="2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>
            <a:extLst>
              <a:ext uri="{FF2B5EF4-FFF2-40B4-BE49-F238E27FC236}">
                <a16:creationId xmlns:a16="http://schemas.microsoft.com/office/drawing/2014/main" id="{7214572E-3D21-A442-986D-38C9B788AF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Format of a lab report</a:t>
            </a:r>
          </a:p>
        </p:txBody>
      </p:sp>
      <p:sp>
        <p:nvSpPr>
          <p:cNvPr id="72706" name="Content Placeholder 2">
            <a:extLst>
              <a:ext uri="{FF2B5EF4-FFF2-40B4-BE49-F238E27FC236}">
                <a16:creationId xmlns:a16="http://schemas.microsoft.com/office/drawing/2014/main" id="{DB64B857-36D7-3E49-9CD0-DA357202AE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19200" y="1600200"/>
            <a:ext cx="7315200" cy="5029200"/>
          </a:xfrm>
        </p:spPr>
        <p:txBody>
          <a:bodyPr/>
          <a:lstStyle/>
          <a:p>
            <a:r>
              <a:rPr lang="en-US" altLang="en-US" sz="2000" b="1" dirty="0">
                <a:ea typeface="ＭＳ Ｐゴシック" panose="020B0600070205080204" pitchFamily="34" charset="-128"/>
              </a:rPr>
              <a:t>Objective</a:t>
            </a:r>
            <a:r>
              <a:rPr lang="en-US" altLang="en-US" sz="2000" dirty="0">
                <a:ea typeface="ＭＳ Ｐゴシック" panose="020B0600070205080204" pitchFamily="34" charset="-128"/>
              </a:rPr>
              <a:t> – concise description of the goal</a:t>
            </a:r>
          </a:p>
          <a:p>
            <a:r>
              <a:rPr lang="en-US" altLang="en-US" sz="2000" b="1" dirty="0">
                <a:ea typeface="ＭＳ Ｐゴシック" panose="020B0600070205080204" pitchFamily="34" charset="-128"/>
              </a:rPr>
              <a:t>Methods</a:t>
            </a:r>
            <a:r>
              <a:rPr lang="en-US" altLang="en-US" sz="2000" dirty="0">
                <a:ea typeface="ＭＳ Ｐゴシック" panose="020B0600070205080204" pitchFamily="34" charset="-128"/>
              </a:rPr>
              <a:t> – how you achiev</a:t>
            </a:r>
            <a:r>
              <a:rPr lang="en-US" altLang="en-US" sz="2000" u="sng" dirty="0">
                <a:ea typeface="ＭＳ Ｐゴシック" panose="020B0600070205080204" pitchFamily="34" charset="-128"/>
              </a:rPr>
              <a:t>ed</a:t>
            </a:r>
            <a:r>
              <a:rPr lang="en-US" altLang="en-US" sz="2000" dirty="0">
                <a:ea typeface="ＭＳ Ｐゴシック" panose="020B0600070205080204" pitchFamily="34" charset="-128"/>
              </a:rPr>
              <a:t> the above goal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Past tense, you did it. Note, this isn’t a blog. Don’t mention mistakes or </a:t>
            </a:r>
            <a:r>
              <a:rPr lang="en-US" altLang="en-US" sz="1800" dirty="0" err="1">
                <a:ea typeface="ＭＳ Ｐゴシック" panose="020B0600070205080204" pitchFamily="34" charset="-128"/>
              </a:rPr>
              <a:t>misteps</a:t>
            </a:r>
            <a:r>
              <a:rPr lang="en-US" altLang="en-US" sz="1800" dirty="0">
                <a:ea typeface="ＭＳ Ｐゴシック" panose="020B0600070205080204" pitchFamily="34" charset="-128"/>
              </a:rPr>
              <a:t> (unless they teach a valuable lesson, and then try to frame those as deliberate and positive </a:t>
            </a:r>
            <a:r>
              <a:rPr lang="is-IS" altLang="en-US" sz="1800" dirty="0">
                <a:ea typeface="ＭＳ Ｐゴシック" panose="020B0600070205080204" pitchFamily="34" charset="-128"/>
              </a:rPr>
              <a:t>… we never make mistakes ;-)</a:t>
            </a:r>
          </a:p>
          <a:p>
            <a:r>
              <a:rPr lang="is-IS" altLang="en-US" sz="2000" b="1" dirty="0">
                <a:ea typeface="ＭＳ Ｐゴシック" panose="020B0600070205080204" pitchFamily="34" charset="-128"/>
              </a:rPr>
              <a:t>Results</a:t>
            </a:r>
            <a:r>
              <a:rPr lang="is-IS" altLang="en-US" sz="2000" dirty="0">
                <a:ea typeface="ＭＳ Ｐゴシック" panose="020B0600070205080204" pitchFamily="34" charset="-128"/>
              </a:rPr>
              <a:t> – what happened from following your methods as stated above (attach voluminous raw data as </a:t>
            </a:r>
            <a:r>
              <a:rPr lang="is-IS" altLang="en-US" sz="2000" b="1" dirty="0">
                <a:ea typeface="ＭＳ Ｐゴシック" panose="020B0600070205080204" pitchFamily="34" charset="-128"/>
              </a:rPr>
              <a:t>appendicies</a:t>
            </a:r>
            <a:r>
              <a:rPr lang="is-IS" altLang="en-US" sz="2000" dirty="0">
                <a:ea typeface="ＭＳ Ｐゴシック" panose="020B0600070205080204" pitchFamily="34" charset="-128"/>
              </a:rPr>
              <a:t>)</a:t>
            </a:r>
          </a:p>
          <a:p>
            <a:r>
              <a:rPr lang="is-IS" altLang="en-US" sz="2000" b="1" dirty="0">
                <a:ea typeface="ＭＳ Ｐゴシック" panose="020B0600070205080204" pitchFamily="34" charset="-128"/>
              </a:rPr>
              <a:t>Discussion</a:t>
            </a:r>
            <a:r>
              <a:rPr lang="is-IS" altLang="en-US" sz="2000" dirty="0">
                <a:ea typeface="ＭＳ Ｐゴシック" panose="020B0600070205080204" pitchFamily="34" charset="-128"/>
              </a:rPr>
              <a:t> – analysis of how the results relate to the objectives as stated above</a:t>
            </a:r>
          </a:p>
          <a:p>
            <a:r>
              <a:rPr lang="is-IS" altLang="en-US" sz="2000" b="1" dirty="0">
                <a:ea typeface="ＭＳ Ｐゴシック" panose="020B0600070205080204" pitchFamily="34" charset="-128"/>
              </a:rPr>
              <a:t>Conclusions</a:t>
            </a:r>
            <a:r>
              <a:rPr lang="is-IS" altLang="en-US" sz="2000" dirty="0">
                <a:ea typeface="ＭＳ Ｐゴシック" panose="020B0600070205080204" pitchFamily="34" charset="-128"/>
              </a:rPr>
              <a:t>, or more typically higher meta-reflections of lessons learned, new questions you wish to answer next, etc. </a:t>
            </a:r>
          </a:p>
          <a:p>
            <a:r>
              <a:rPr lang="is-IS" altLang="en-US" sz="2000" i="1" dirty="0">
                <a:ea typeface="ＭＳ Ｐゴシック" panose="020B0600070205080204" pitchFamily="34" charset="-128"/>
              </a:rPr>
              <a:t>Note: it is usually a lie that we work linearly and our discoveries are deliberate. Iteration and mistakes are important steps that we tend not to publicize</a:t>
            </a:r>
            <a:endParaRPr lang="en-US" altLang="en-US" sz="2000" i="1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C9F61-A118-3E02-D301-B15AF237F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Portfolio or class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A8083-1843-2DA2-A35D-D22EA515C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206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9A5CC6-91F1-9F47-B870-AE8C23DE9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3" y="0"/>
            <a:ext cx="9331523" cy="68674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7E767-74B6-E547-8EF0-3A96DB439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104424876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48797</TotalTime>
  <Words>1980</Words>
  <Application>Microsoft Macintosh PowerPoint</Application>
  <PresentationFormat>On-screen Show (4:3)</PresentationFormat>
  <Paragraphs>186</Paragraphs>
  <Slides>25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ＭＳ Ｐゴシック</vt:lpstr>
      <vt:lpstr>Arial</vt:lpstr>
      <vt:lpstr>Helvetica</vt:lpstr>
      <vt:lpstr>Tahoma</vt:lpstr>
      <vt:lpstr>Times New Roman</vt:lpstr>
      <vt:lpstr>Wingdings</vt:lpstr>
      <vt:lpstr>Blank Presentation</vt:lpstr>
      <vt:lpstr>Blends</vt:lpstr>
      <vt:lpstr>Welcome to  Electronics Phys 310</vt:lpstr>
      <vt:lpstr>Covid 19 bright side</vt:lpstr>
      <vt:lpstr>Introductions</vt:lpstr>
      <vt:lpstr>Learning objectives</vt:lpstr>
      <vt:lpstr>The big challenge</vt:lpstr>
      <vt:lpstr>Complete Electronics</vt:lpstr>
      <vt:lpstr>Tools and Toolbox</vt:lpstr>
      <vt:lpstr>The Art of Poetry</vt:lpstr>
      <vt:lpstr>The Art of Electronics  was a previous text for this class</vt:lpstr>
      <vt:lpstr>Other references</vt:lpstr>
      <vt:lpstr>Building complex stuff</vt:lpstr>
      <vt:lpstr>Education theory:</vt:lpstr>
      <vt:lpstr>Stages of of cognitive development</vt:lpstr>
      <vt:lpstr>Reductionism of the affective domain</vt:lpstr>
      <vt:lpstr>PowerPoint Presentation</vt:lpstr>
      <vt:lpstr>PowerPoint Presentation</vt:lpstr>
      <vt:lpstr>Class rules</vt:lpstr>
      <vt:lpstr>Class philosophy</vt:lpstr>
      <vt:lpstr>Topics</vt:lpstr>
      <vt:lpstr>How to approach it?</vt:lpstr>
      <vt:lpstr>Specifically …</vt:lpstr>
      <vt:lpstr>Is this approach a good idea?</vt:lpstr>
      <vt:lpstr>Format of a lab report</vt:lpstr>
      <vt:lpstr>Portfolio or class project</vt:lpstr>
      <vt:lpstr>Questions?</vt:lpstr>
    </vt:vector>
  </TitlesOfParts>
  <Company>brian rasnow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 310 Electronics</dc:title>
  <dc:creator>brian rasnow</dc:creator>
  <cp:lastModifiedBy>Rasnow, Brian K.</cp:lastModifiedBy>
  <cp:revision>148</cp:revision>
  <cp:lastPrinted>2018-08-27T21:13:59Z</cp:lastPrinted>
  <dcterms:created xsi:type="dcterms:W3CDTF">2012-01-19T08:11:42Z</dcterms:created>
  <dcterms:modified xsi:type="dcterms:W3CDTF">2024-08-26T17:58:02Z</dcterms:modified>
</cp:coreProperties>
</file>