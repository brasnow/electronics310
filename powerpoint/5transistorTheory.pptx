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341" r:id="rId3"/>
    <p:sldId id="337" r:id="rId4"/>
    <p:sldId id="262" r:id="rId5"/>
    <p:sldId id="258" r:id="rId6"/>
    <p:sldId id="340" r:id="rId7"/>
    <p:sldId id="271" r:id="rId8"/>
    <p:sldId id="311" r:id="rId9"/>
    <p:sldId id="257" r:id="rId10"/>
    <p:sldId id="312" r:id="rId11"/>
    <p:sldId id="316" r:id="rId12"/>
    <p:sldId id="334" r:id="rId13"/>
    <p:sldId id="327" r:id="rId14"/>
    <p:sldId id="328" r:id="rId15"/>
    <p:sldId id="329" r:id="rId16"/>
    <p:sldId id="325" r:id="rId17"/>
    <p:sldId id="331" r:id="rId18"/>
    <p:sldId id="339" r:id="rId19"/>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pitchFamily="-1" charset="0"/>
        <a:ea typeface="ＭＳ Ｐゴシック" pitchFamily="-1" charset="-128"/>
        <a:cs typeface="ＭＳ Ｐゴシック" pitchFamily="-1" charset="-128"/>
      </a:defRPr>
    </a:lvl1pPr>
    <a:lvl2pPr marL="457200" algn="l" defTabSz="457200" rtl="0" fontAlgn="base">
      <a:spcBef>
        <a:spcPct val="0"/>
      </a:spcBef>
      <a:spcAft>
        <a:spcPct val="0"/>
      </a:spcAft>
      <a:defRPr kern="1200">
        <a:solidFill>
          <a:schemeClr val="tx1"/>
        </a:solidFill>
        <a:latin typeface="Arial" pitchFamily="-1" charset="0"/>
        <a:ea typeface="ＭＳ Ｐゴシック" pitchFamily="-1" charset="-128"/>
        <a:cs typeface="ＭＳ Ｐゴシック" pitchFamily="-1" charset="-128"/>
      </a:defRPr>
    </a:lvl2pPr>
    <a:lvl3pPr marL="914400" algn="l" defTabSz="457200" rtl="0" fontAlgn="base">
      <a:spcBef>
        <a:spcPct val="0"/>
      </a:spcBef>
      <a:spcAft>
        <a:spcPct val="0"/>
      </a:spcAft>
      <a:defRPr kern="1200">
        <a:solidFill>
          <a:schemeClr val="tx1"/>
        </a:solidFill>
        <a:latin typeface="Arial" pitchFamily="-1" charset="0"/>
        <a:ea typeface="ＭＳ Ｐゴシック" pitchFamily="-1" charset="-128"/>
        <a:cs typeface="ＭＳ Ｐゴシック" pitchFamily="-1" charset="-128"/>
      </a:defRPr>
    </a:lvl3pPr>
    <a:lvl4pPr marL="1371600" algn="l" defTabSz="457200" rtl="0" fontAlgn="base">
      <a:spcBef>
        <a:spcPct val="0"/>
      </a:spcBef>
      <a:spcAft>
        <a:spcPct val="0"/>
      </a:spcAft>
      <a:defRPr kern="1200">
        <a:solidFill>
          <a:schemeClr val="tx1"/>
        </a:solidFill>
        <a:latin typeface="Arial" pitchFamily="-1" charset="0"/>
        <a:ea typeface="ＭＳ Ｐゴシック" pitchFamily="-1" charset="-128"/>
        <a:cs typeface="ＭＳ Ｐゴシック" pitchFamily="-1" charset="-128"/>
      </a:defRPr>
    </a:lvl4pPr>
    <a:lvl5pPr marL="1828800" algn="l" defTabSz="457200" rtl="0" fontAlgn="base">
      <a:spcBef>
        <a:spcPct val="0"/>
      </a:spcBef>
      <a:spcAft>
        <a:spcPct val="0"/>
      </a:spcAft>
      <a:defRPr kern="1200">
        <a:solidFill>
          <a:schemeClr val="tx1"/>
        </a:solidFill>
        <a:latin typeface="Arial" pitchFamily="-1" charset="0"/>
        <a:ea typeface="ＭＳ Ｐゴシック" pitchFamily="-1" charset="-128"/>
        <a:cs typeface="ＭＳ Ｐゴシック" pitchFamily="-1" charset="-128"/>
      </a:defRPr>
    </a:lvl5pPr>
    <a:lvl6pPr marL="2286000" algn="l" defTabSz="457200" rtl="0" eaLnBrk="1" latinLnBrk="0" hangingPunct="1">
      <a:defRPr kern="1200">
        <a:solidFill>
          <a:schemeClr val="tx1"/>
        </a:solidFill>
        <a:latin typeface="Arial" pitchFamily="-1" charset="0"/>
        <a:ea typeface="ＭＳ Ｐゴシック" pitchFamily="-1" charset="-128"/>
        <a:cs typeface="ＭＳ Ｐゴシック" pitchFamily="-1" charset="-128"/>
      </a:defRPr>
    </a:lvl6pPr>
    <a:lvl7pPr marL="2743200" algn="l" defTabSz="457200" rtl="0" eaLnBrk="1" latinLnBrk="0" hangingPunct="1">
      <a:defRPr kern="1200">
        <a:solidFill>
          <a:schemeClr val="tx1"/>
        </a:solidFill>
        <a:latin typeface="Arial" pitchFamily="-1" charset="0"/>
        <a:ea typeface="ＭＳ Ｐゴシック" pitchFamily="-1" charset="-128"/>
        <a:cs typeface="ＭＳ Ｐゴシック" pitchFamily="-1" charset="-128"/>
      </a:defRPr>
    </a:lvl7pPr>
    <a:lvl8pPr marL="3200400" algn="l" defTabSz="457200" rtl="0" eaLnBrk="1" latinLnBrk="0" hangingPunct="1">
      <a:defRPr kern="1200">
        <a:solidFill>
          <a:schemeClr val="tx1"/>
        </a:solidFill>
        <a:latin typeface="Arial" pitchFamily="-1" charset="0"/>
        <a:ea typeface="ＭＳ Ｐゴシック" pitchFamily="-1" charset="-128"/>
        <a:cs typeface="ＭＳ Ｐゴシック" pitchFamily="-1" charset="-128"/>
      </a:defRPr>
    </a:lvl8pPr>
    <a:lvl9pPr marL="3657600" algn="l" defTabSz="457200" rtl="0" eaLnBrk="1" latinLnBrk="0" hangingPunct="1">
      <a:defRPr kern="1200">
        <a:solidFill>
          <a:schemeClr val="tx1"/>
        </a:solidFill>
        <a:latin typeface="Arial" pitchFamily="-1" charset="0"/>
        <a:ea typeface="ＭＳ Ｐゴシック" pitchFamily="-1" charset="-128"/>
        <a:cs typeface="ＭＳ Ｐゴシック" pitchFamily="-1"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378"/>
    <p:restoredTop sz="93385"/>
  </p:normalViewPr>
  <p:slideViewPr>
    <p:cSldViewPr snapToObjects="1">
      <p:cViewPr varScale="1">
        <p:scale>
          <a:sx n="154" d="100"/>
          <a:sy n="154" d="100"/>
        </p:scale>
        <p:origin x="616" y="1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latin typeface="Calibri" charset="0"/>
                <a:ea typeface="ＭＳ Ｐゴシック" charset="-128"/>
                <a:cs typeface="ＭＳ Ｐゴシック" charset="-128"/>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smtClean="0">
                <a:latin typeface="Calibri" charset="0"/>
                <a:ea typeface="ＭＳ Ｐゴシック" charset="-128"/>
                <a:cs typeface="ＭＳ Ｐゴシック" charset="-128"/>
              </a:defRPr>
            </a:lvl1pPr>
          </a:lstStyle>
          <a:p>
            <a:pPr>
              <a:defRPr/>
            </a:pPr>
            <a:fld id="{AB747A76-F69B-7B45-AA5B-79EB24FF57D0}" type="datetime1">
              <a:rPr lang="en-US"/>
              <a:pPr>
                <a:defRPr/>
              </a:pPr>
              <a:t>9/29/24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wrap="square" lIns="91440" tIns="45720" rIns="91440" bIns="45720"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latin typeface="Calibri" charset="0"/>
                <a:ea typeface="ＭＳ Ｐゴシック" charset="-128"/>
                <a:cs typeface="ＭＳ Ｐゴシック" charset="-128"/>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smtClean="0">
                <a:latin typeface="Calibri" charset="0"/>
                <a:ea typeface="ＭＳ Ｐゴシック" charset="-128"/>
                <a:cs typeface="ＭＳ Ｐゴシック" charset="-128"/>
              </a:defRPr>
            </a:lvl1pPr>
          </a:lstStyle>
          <a:p>
            <a:pPr>
              <a:defRPr/>
            </a:pPr>
            <a:fld id="{D9EBC51A-0460-9A44-84DF-95A9F86DA60B}" type="slidenum">
              <a:rPr lang="en-US"/>
              <a:pPr>
                <a:defRPr/>
              </a:pPr>
              <a:t>‹#›</a:t>
            </a:fld>
            <a:endParaRPr lang="en-US"/>
          </a:p>
        </p:txBody>
      </p:sp>
    </p:spTree>
    <p:extLst>
      <p:ext uri="{BB962C8B-B14F-4D97-AF65-F5344CB8AC3E}">
        <p14:creationId xmlns:p14="http://schemas.microsoft.com/office/powerpoint/2010/main" val="4003386681"/>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128"/>
        <a:cs typeface="ＭＳ Ｐゴシック" charset="-128"/>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128"/>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128"/>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128"/>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D9EBC51A-0460-9A44-84DF-95A9F86DA60B}" type="slidenum">
              <a:rPr lang="en-US" smtClean="0"/>
              <a:pPr>
                <a:defRPr/>
              </a:pPr>
              <a:t>5</a:t>
            </a:fld>
            <a:endParaRPr lang="en-US"/>
          </a:p>
        </p:txBody>
      </p:sp>
    </p:spTree>
    <p:extLst>
      <p:ext uri="{BB962C8B-B14F-4D97-AF65-F5344CB8AC3E}">
        <p14:creationId xmlns:p14="http://schemas.microsoft.com/office/powerpoint/2010/main" val="30576123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out was how we collected the data by turning the knob on the power supply. If we want to automate data acquisition, then Arduino needs to control the PS. Current mirror maybe the way to do that … but that’s for another lab. </a:t>
            </a:r>
          </a:p>
        </p:txBody>
      </p:sp>
      <p:sp>
        <p:nvSpPr>
          <p:cNvPr id="4" name="Slide Number Placeholder 3"/>
          <p:cNvSpPr>
            <a:spLocks noGrp="1"/>
          </p:cNvSpPr>
          <p:nvPr>
            <p:ph type="sldNum" sz="quarter" idx="5"/>
          </p:nvPr>
        </p:nvSpPr>
        <p:spPr/>
        <p:txBody>
          <a:bodyPr/>
          <a:lstStyle/>
          <a:p>
            <a:pPr>
              <a:defRPr/>
            </a:pPr>
            <a:fld id="{D9EBC51A-0460-9A44-84DF-95A9F86DA60B}" type="slidenum">
              <a:rPr lang="en-US" smtClean="0"/>
              <a:pPr>
                <a:defRPr/>
              </a:pPr>
              <a:t>17</a:t>
            </a:fld>
            <a:endParaRPr lang="en-US"/>
          </a:p>
        </p:txBody>
      </p:sp>
    </p:spTree>
    <p:extLst>
      <p:ext uri="{BB962C8B-B14F-4D97-AF65-F5344CB8AC3E}">
        <p14:creationId xmlns:p14="http://schemas.microsoft.com/office/powerpoint/2010/main" val="10402789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71669D3D-5CEF-5642-A26F-D6DB24C8F82C}" type="datetime1">
              <a:rPr lang="en-US"/>
              <a:pPr>
                <a:defRPr/>
              </a:pPr>
              <a:t>9/29/24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78982D2-B512-2842-80BC-2066A276EADA}"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dirty="0"/>
              <a:t>Click to edit Master title style</a:t>
            </a:r>
          </a:p>
        </p:txBody>
      </p:sp>
      <p:sp>
        <p:nvSpPr>
          <p:cNvPr id="3" name="Content Placeholder 2"/>
          <p:cNvSpPr>
            <a:spLocks noGrp="1"/>
          </p:cNvSpPr>
          <p:nvPr>
            <p:ph idx="1"/>
          </p:nvPr>
        </p:nvSpPr>
        <p:spPr/>
        <p:txBody>
          <a:bodyPr/>
          <a:lstStyle>
            <a:lvl1pPr>
              <a:defRPr sz="2400"/>
            </a:lvl1pPr>
            <a:lvl2pPr>
              <a:defRPr sz="2000"/>
            </a:lvl2pPr>
            <a:lvl3pPr>
              <a:defRPr sz="18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vl1pPr>
          </a:lstStyle>
          <a:p>
            <a:pPr>
              <a:defRPr/>
            </a:pPr>
            <a:fld id="{97B93243-C3EC-394A-9CEB-369DF87E8479}" type="datetime1">
              <a:rPr lang="en-US"/>
              <a:pPr>
                <a:defRPr/>
              </a:pPr>
              <a:t>9/29/24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A57293C-B6ED-D842-B1BE-7DD65E3A564B}"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A4353983-124B-0549-8646-E9E2FF57AEE6}" type="datetime1">
              <a:rPr lang="en-US"/>
              <a:pPr>
                <a:defRPr/>
              </a:pPr>
              <a:t>9/29/24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0A2E221-1FDB-7044-B4A2-983905506A18}"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AE380308-566A-2F48-A5C9-10C58F65987F}" type="datetime1">
              <a:rPr lang="en-US"/>
              <a:pPr>
                <a:defRPr/>
              </a:pPr>
              <a:t>9/29/24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3DFFD8A4-061E-C549-8BAA-63327A715807}"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2A42417F-779A-4F4C-8597-CD431786AD7C}" type="datetime1">
              <a:rPr lang="en-US"/>
              <a:pPr>
                <a:defRPr/>
              </a:pPr>
              <a:t>9/29/24</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FB322FEA-DBE2-0A42-AFB7-A31639669B6F}"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DC0937FF-BB76-434E-84FC-555E46483C8B}" type="datetime1">
              <a:rPr lang="en-US"/>
              <a:pPr>
                <a:defRPr/>
              </a:pPr>
              <a:t>9/29/24</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E55EB3BD-5003-D548-93BD-203274518040}"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002979D5-0272-B043-9607-2FC95C8862C4}" type="datetime1">
              <a:rPr lang="en-US"/>
              <a:pPr>
                <a:defRPr/>
              </a:pPr>
              <a:t>9/29/24</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A7F99814-D899-1B4E-8A0C-A2A7C2E6DF33}"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AF0D67F4-BB52-B34F-AA7D-4764A7BC91D6}" type="datetime1">
              <a:rPr lang="en-US"/>
              <a:pPr>
                <a:defRPr/>
              </a:pPr>
              <a:t>9/29/24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3BC6A0CD-B03F-8843-ACD5-245CF55EA469}"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74FC6363-18A5-7244-AD01-6A5CE13EA742}" type="datetime1">
              <a:rPr lang="en-US"/>
              <a:pPr>
                <a:defRPr/>
              </a:pPr>
              <a:t>9/29/24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D487A85C-7800-034F-91E8-1232FBF3508E}"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C90D5429-A429-3047-B848-400B652C0E86}" type="datetime1">
              <a:rPr lang="en-US"/>
              <a:pPr>
                <a:defRPr/>
              </a:pPr>
              <a:t>9/29/24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CA9F10E-386B-CA44-96A7-035FBD6FF940}"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8A5F8780-E643-D249-AD89-290352CBC665}" type="datetime1">
              <a:rPr lang="en-US"/>
              <a:pPr>
                <a:defRPr/>
              </a:pPr>
              <a:t>9/29/24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40937EB-CAE6-104D-9E51-83863E7897E7}"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smtClean="0">
                <a:solidFill>
                  <a:srgbClr val="898989"/>
                </a:solidFill>
                <a:latin typeface="Times New Roman" panose="02020603050405020304" pitchFamily="18" charset="0"/>
                <a:ea typeface="ＭＳ Ｐゴシック" charset="-128"/>
                <a:cs typeface="Times New Roman" panose="02020603050405020304" pitchFamily="18" charset="0"/>
              </a:defRPr>
            </a:lvl1pPr>
          </a:lstStyle>
          <a:p>
            <a:pPr>
              <a:defRPr/>
            </a:pPr>
            <a:fld id="{8B688789-C5D4-2840-9EE2-24F88285C175}" type="datetime1">
              <a:rPr lang="en-US" smtClean="0"/>
              <a:pPr>
                <a:defRPr/>
              </a:pPr>
              <a:t>9/29/24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latin typeface="Times New Roman" panose="02020603050405020304" pitchFamily="18" charset="0"/>
                <a:ea typeface="ＭＳ Ｐゴシック" charset="-128"/>
                <a:cs typeface="Times New Roman" panose="02020603050405020304" pitchFamily="18" charset="0"/>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smtClean="0">
                <a:solidFill>
                  <a:srgbClr val="898989"/>
                </a:solidFill>
                <a:latin typeface="Times New Roman" panose="02020603050405020304" pitchFamily="18" charset="0"/>
                <a:ea typeface="ＭＳ Ｐゴシック" charset="-128"/>
                <a:cs typeface="Times New Roman" panose="02020603050405020304" pitchFamily="18" charset="0"/>
              </a:defRPr>
            </a:lvl1pPr>
          </a:lstStyle>
          <a:p>
            <a:pPr>
              <a:defRPr/>
            </a:pPr>
            <a:fld id="{C201AC95-3EAB-5B4A-8433-F69E6326B730}" type="slidenum">
              <a:rPr lang="en-US"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0" fontAlgn="base" hangingPunct="0">
        <a:spcBef>
          <a:spcPct val="0"/>
        </a:spcBef>
        <a:spcAft>
          <a:spcPct val="0"/>
        </a:spcAft>
        <a:defRPr sz="4400" kern="1200">
          <a:solidFill>
            <a:schemeClr val="tx1"/>
          </a:solidFill>
          <a:latin typeface="Times New Roman" panose="02020603050405020304" pitchFamily="18" charset="0"/>
          <a:ea typeface="ＭＳ Ｐゴシック" charset="-128"/>
          <a:cs typeface="Times New Roman" panose="02020603050405020304" pitchFamily="18" charset="0"/>
        </a:defRPr>
      </a:lvl1pPr>
      <a:lvl2pPr algn="ctr" defTabSz="457200" rtl="0" eaLnBrk="0" fontAlgn="base" hangingPunct="0">
        <a:spcBef>
          <a:spcPct val="0"/>
        </a:spcBef>
        <a:spcAft>
          <a:spcPct val="0"/>
        </a:spcAft>
        <a:defRPr sz="4400">
          <a:solidFill>
            <a:schemeClr val="tx1"/>
          </a:solidFill>
          <a:latin typeface="Calibri" charset="0"/>
          <a:ea typeface="ＭＳ Ｐゴシック" charset="-128"/>
          <a:cs typeface="ＭＳ Ｐゴシック" charset="-128"/>
        </a:defRPr>
      </a:lvl2pPr>
      <a:lvl3pPr algn="ctr" defTabSz="457200" rtl="0" eaLnBrk="0" fontAlgn="base" hangingPunct="0">
        <a:spcBef>
          <a:spcPct val="0"/>
        </a:spcBef>
        <a:spcAft>
          <a:spcPct val="0"/>
        </a:spcAft>
        <a:defRPr sz="4400">
          <a:solidFill>
            <a:schemeClr val="tx1"/>
          </a:solidFill>
          <a:latin typeface="Calibri" charset="0"/>
          <a:ea typeface="ＭＳ Ｐゴシック" charset="-128"/>
          <a:cs typeface="ＭＳ Ｐゴシック" charset="-128"/>
        </a:defRPr>
      </a:lvl3pPr>
      <a:lvl4pPr algn="ctr" defTabSz="457200" rtl="0" eaLnBrk="0" fontAlgn="base" hangingPunct="0">
        <a:spcBef>
          <a:spcPct val="0"/>
        </a:spcBef>
        <a:spcAft>
          <a:spcPct val="0"/>
        </a:spcAft>
        <a:defRPr sz="4400">
          <a:solidFill>
            <a:schemeClr val="tx1"/>
          </a:solidFill>
          <a:latin typeface="Calibri" charset="0"/>
          <a:ea typeface="ＭＳ Ｐゴシック" charset="-128"/>
          <a:cs typeface="ＭＳ Ｐゴシック" charset="-128"/>
        </a:defRPr>
      </a:lvl4pPr>
      <a:lvl5pPr algn="ctr" defTabSz="457200" rtl="0" eaLnBrk="0" fontAlgn="base" hangingPunct="0">
        <a:spcBef>
          <a:spcPct val="0"/>
        </a:spcBef>
        <a:spcAft>
          <a:spcPct val="0"/>
        </a:spcAft>
        <a:defRPr sz="4400">
          <a:solidFill>
            <a:schemeClr val="tx1"/>
          </a:solidFill>
          <a:latin typeface="Calibri" charset="0"/>
          <a:ea typeface="ＭＳ Ｐゴシック" charset="-128"/>
          <a:cs typeface="ＭＳ Ｐゴシック" charset="-128"/>
        </a:defRPr>
      </a:lvl5pPr>
      <a:lvl6pPr marL="457200" algn="ctr" defTabSz="457200" rtl="0" fontAlgn="base">
        <a:spcBef>
          <a:spcPct val="0"/>
        </a:spcBef>
        <a:spcAft>
          <a:spcPct val="0"/>
        </a:spcAft>
        <a:defRPr sz="4400">
          <a:solidFill>
            <a:schemeClr val="tx1"/>
          </a:solidFill>
          <a:latin typeface="Calibri" charset="0"/>
          <a:ea typeface="ＭＳ Ｐゴシック" charset="-128"/>
          <a:cs typeface="ＭＳ Ｐゴシック" charset="-128"/>
        </a:defRPr>
      </a:lvl6pPr>
      <a:lvl7pPr marL="914400" algn="ctr" defTabSz="457200" rtl="0" fontAlgn="base">
        <a:spcBef>
          <a:spcPct val="0"/>
        </a:spcBef>
        <a:spcAft>
          <a:spcPct val="0"/>
        </a:spcAft>
        <a:defRPr sz="4400">
          <a:solidFill>
            <a:schemeClr val="tx1"/>
          </a:solidFill>
          <a:latin typeface="Calibri" charset="0"/>
          <a:ea typeface="ＭＳ Ｐゴシック" charset="-128"/>
          <a:cs typeface="ＭＳ Ｐゴシック" charset="-128"/>
        </a:defRPr>
      </a:lvl7pPr>
      <a:lvl8pPr marL="1371600" algn="ctr" defTabSz="457200" rtl="0" fontAlgn="base">
        <a:spcBef>
          <a:spcPct val="0"/>
        </a:spcBef>
        <a:spcAft>
          <a:spcPct val="0"/>
        </a:spcAft>
        <a:defRPr sz="4400">
          <a:solidFill>
            <a:schemeClr val="tx1"/>
          </a:solidFill>
          <a:latin typeface="Calibri" charset="0"/>
          <a:ea typeface="ＭＳ Ｐゴシック" charset="-128"/>
          <a:cs typeface="ＭＳ Ｐゴシック" charset="-128"/>
        </a:defRPr>
      </a:lvl8pPr>
      <a:lvl9pPr marL="1828800" algn="ctr" defTabSz="457200" rtl="0" fontAlgn="base">
        <a:spcBef>
          <a:spcPct val="0"/>
        </a:spcBef>
        <a:spcAft>
          <a:spcPct val="0"/>
        </a:spcAft>
        <a:defRPr sz="4400">
          <a:solidFill>
            <a:schemeClr val="tx1"/>
          </a:solidFill>
          <a:latin typeface="Calibri" charset="0"/>
          <a:ea typeface="ＭＳ Ｐゴシック" charset="-128"/>
          <a:cs typeface="ＭＳ Ｐゴシック" charset="-128"/>
        </a:defRPr>
      </a:lvl9pPr>
    </p:titleStyle>
    <p:bodyStyle>
      <a:lvl1pPr marL="342900" indent="-342900" algn="l" defTabSz="457200" rtl="0" eaLnBrk="0" fontAlgn="base" hangingPunct="0">
        <a:spcBef>
          <a:spcPct val="20000"/>
        </a:spcBef>
        <a:spcAft>
          <a:spcPct val="0"/>
        </a:spcAft>
        <a:buFont typeface="Arial" pitchFamily="-1" charset="0"/>
        <a:buChar char="•"/>
        <a:defRPr sz="3200" kern="1200">
          <a:solidFill>
            <a:schemeClr val="tx1"/>
          </a:solidFill>
          <a:latin typeface="Times New Roman" panose="02020603050405020304" pitchFamily="18" charset="0"/>
          <a:ea typeface="ＭＳ Ｐゴシック" charset="-128"/>
          <a:cs typeface="Times New Roman" panose="02020603050405020304" pitchFamily="18" charset="0"/>
        </a:defRPr>
      </a:lvl1pPr>
      <a:lvl2pPr marL="742950" indent="-285750" algn="l" defTabSz="457200" rtl="0" eaLnBrk="0" fontAlgn="base" hangingPunct="0">
        <a:spcBef>
          <a:spcPct val="20000"/>
        </a:spcBef>
        <a:spcAft>
          <a:spcPct val="0"/>
        </a:spcAft>
        <a:buFont typeface="Arial" pitchFamily="-1" charset="0"/>
        <a:buChar char="–"/>
        <a:defRPr sz="2800" kern="1200">
          <a:solidFill>
            <a:schemeClr val="tx1"/>
          </a:solidFill>
          <a:latin typeface="Times New Roman" panose="02020603050405020304" pitchFamily="18" charset="0"/>
          <a:ea typeface="ＭＳ Ｐゴシック" charset="-128"/>
          <a:cs typeface="Times New Roman" panose="02020603050405020304" pitchFamily="18" charset="0"/>
        </a:defRPr>
      </a:lvl2pPr>
      <a:lvl3pPr marL="1143000" indent="-228600" algn="l" defTabSz="457200" rtl="0" eaLnBrk="0" fontAlgn="base" hangingPunct="0">
        <a:spcBef>
          <a:spcPct val="20000"/>
        </a:spcBef>
        <a:spcAft>
          <a:spcPct val="0"/>
        </a:spcAft>
        <a:buFont typeface="Arial" pitchFamily="-1" charset="0"/>
        <a:buChar char="•"/>
        <a:defRPr sz="2400" kern="1200">
          <a:solidFill>
            <a:schemeClr val="tx1"/>
          </a:solidFill>
          <a:latin typeface="Times New Roman" panose="02020603050405020304" pitchFamily="18" charset="0"/>
          <a:ea typeface="ＭＳ Ｐゴシック" charset="-128"/>
          <a:cs typeface="Times New Roman" panose="02020603050405020304" pitchFamily="18" charset="0"/>
        </a:defRPr>
      </a:lvl3pPr>
      <a:lvl4pPr marL="1600200" indent="-228600" algn="l" defTabSz="457200" rtl="0" eaLnBrk="0" fontAlgn="base" hangingPunct="0">
        <a:spcBef>
          <a:spcPct val="20000"/>
        </a:spcBef>
        <a:spcAft>
          <a:spcPct val="0"/>
        </a:spcAft>
        <a:buFont typeface="Arial" pitchFamily="-1" charset="0"/>
        <a:buChar char="–"/>
        <a:defRPr sz="2000" kern="1200">
          <a:solidFill>
            <a:schemeClr val="tx1"/>
          </a:solidFill>
          <a:latin typeface="Times New Roman" panose="02020603050405020304" pitchFamily="18" charset="0"/>
          <a:ea typeface="ＭＳ Ｐゴシック" charset="-128"/>
          <a:cs typeface="Times New Roman" panose="02020603050405020304" pitchFamily="18" charset="0"/>
        </a:defRPr>
      </a:lvl4pPr>
      <a:lvl5pPr marL="2057400" indent="-228600" algn="l" defTabSz="457200" rtl="0" eaLnBrk="0" fontAlgn="base" hangingPunct="0">
        <a:spcBef>
          <a:spcPct val="20000"/>
        </a:spcBef>
        <a:spcAft>
          <a:spcPct val="0"/>
        </a:spcAft>
        <a:buFont typeface="Arial" pitchFamily="-1" charset="0"/>
        <a:buChar char="»"/>
        <a:defRPr sz="2000" kern="1200">
          <a:solidFill>
            <a:schemeClr val="tx1"/>
          </a:solidFill>
          <a:latin typeface="Times New Roman" panose="02020603050405020304" pitchFamily="18" charset="0"/>
          <a:ea typeface="ＭＳ Ｐゴシック" charset="-128"/>
          <a:cs typeface="Times New Roman" panose="02020603050405020304" pitchFamily="18"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2" Type="http://schemas.openxmlformats.org/officeDocument/2006/relationships/hyperlink" Target="http://en.wikipedia.org/wiki/Transistor"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9.xml.rels><?xml version="1.0" encoding="UTF-8" standalone="yes"?>
<Relationships xmlns="http://schemas.openxmlformats.org/package/2006/relationships"><Relationship Id="rId3" Type="http://schemas.openxmlformats.org/officeDocument/2006/relationships/hyperlink" Target="http://www.satcure-focus.com/tutor/page4.htm" TargetMode="External"/><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youtube.com/watch?v=FN2RM-CHkuI"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3"/>
          <p:cNvPicPr>
            <a:picLocks noChangeAspect="1"/>
          </p:cNvPicPr>
          <p:nvPr/>
        </p:nvPicPr>
        <p:blipFill>
          <a:blip r:embed="rId2"/>
          <a:srcRect/>
          <a:stretch>
            <a:fillRect/>
          </a:stretch>
        </p:blipFill>
        <p:spPr bwMode="auto">
          <a:xfrm>
            <a:off x="1397000" y="254000"/>
            <a:ext cx="6350000" cy="6350000"/>
          </a:xfrm>
          <a:prstGeom prst="rect">
            <a:avLst/>
          </a:prstGeom>
          <a:noFill/>
          <a:ln w="9525">
            <a:noFill/>
            <a:miter lim="800000"/>
            <a:headEnd/>
            <a:tailEnd/>
          </a:ln>
        </p:spPr>
      </p:pic>
      <p:sp>
        <p:nvSpPr>
          <p:cNvPr id="14339" name="Title 1"/>
          <p:cNvSpPr>
            <a:spLocks noGrp="1"/>
          </p:cNvSpPr>
          <p:nvPr>
            <p:ph type="ctrTitle"/>
          </p:nvPr>
        </p:nvSpPr>
        <p:spPr>
          <a:xfrm>
            <a:off x="685800" y="381000"/>
            <a:ext cx="7772400" cy="1470025"/>
          </a:xfrm>
        </p:spPr>
        <p:txBody>
          <a:bodyPr/>
          <a:lstStyle/>
          <a:p>
            <a:pPr eaLnBrk="1" hangingPunct="1"/>
            <a:r>
              <a:rPr lang="en-US" dirty="0">
                <a:solidFill>
                  <a:srgbClr val="FF0000"/>
                </a:solidFill>
                <a:ea typeface="ＭＳ Ｐゴシック" pitchFamily="-1" charset="-128"/>
                <a:cs typeface="ＭＳ Ｐゴシック" pitchFamily="-1" charset="-128"/>
              </a:rPr>
              <a:t>Transistors</a:t>
            </a:r>
          </a:p>
        </p:txBody>
      </p:sp>
      <p:sp>
        <p:nvSpPr>
          <p:cNvPr id="14340" name="Subtitle 2"/>
          <p:cNvSpPr>
            <a:spLocks noGrp="1"/>
          </p:cNvSpPr>
          <p:nvPr>
            <p:ph type="subTitle" idx="1"/>
          </p:nvPr>
        </p:nvSpPr>
        <p:spPr>
          <a:xfrm>
            <a:off x="1397000" y="5486400"/>
            <a:ext cx="6400800" cy="1752600"/>
          </a:xfrm>
        </p:spPr>
        <p:txBody>
          <a:bodyPr/>
          <a:lstStyle/>
          <a:p>
            <a:pPr eaLnBrk="1" hangingPunct="1"/>
            <a:r>
              <a:rPr lang="en-US" dirty="0">
                <a:solidFill>
                  <a:srgbClr val="FF0000"/>
                </a:solidFill>
                <a:ea typeface="ＭＳ Ｐゴシック" pitchFamily="-1" charset="-128"/>
                <a:cs typeface="ＭＳ Ｐゴシック" pitchFamily="-1" charset="-128"/>
              </a:rPr>
              <a:t>5-2</a:t>
            </a:r>
          </a:p>
        </p:txBody>
      </p:sp>
      <p:sp>
        <p:nvSpPr>
          <p:cNvPr id="14341" name="TextBox 4"/>
          <p:cNvSpPr txBox="1">
            <a:spLocks noChangeArrowheads="1"/>
          </p:cNvSpPr>
          <p:nvPr/>
        </p:nvSpPr>
        <p:spPr bwMode="auto">
          <a:xfrm>
            <a:off x="228600" y="4267200"/>
            <a:ext cx="2057400" cy="646113"/>
          </a:xfrm>
          <a:prstGeom prst="rect">
            <a:avLst/>
          </a:prstGeom>
          <a:noFill/>
          <a:ln w="9525">
            <a:noFill/>
            <a:miter lim="800000"/>
            <a:headEnd/>
            <a:tailEnd/>
          </a:ln>
        </p:spPr>
        <p:txBody>
          <a:bodyPr>
            <a:prstTxWarp prst="textNoShape">
              <a:avLst/>
            </a:prstTxWarp>
            <a:spAutoFit/>
          </a:bodyPr>
          <a:lstStyle/>
          <a:p>
            <a:r>
              <a:rPr lang="en-US">
                <a:latin typeface="Calibri" pitchFamily="-1" charset="0"/>
              </a:rPr>
              <a:t>First transistor, 1947, Bell Labs</a:t>
            </a:r>
          </a:p>
        </p:txBody>
      </p:sp>
      <p:sp>
        <p:nvSpPr>
          <p:cNvPr id="6" name="Title 1">
            <a:extLst>
              <a:ext uri="{FF2B5EF4-FFF2-40B4-BE49-F238E27FC236}">
                <a16:creationId xmlns:a16="http://schemas.microsoft.com/office/drawing/2014/main" id="{8E8F166A-94D1-D443-BA6C-B3AA3E1D1ECA}"/>
              </a:ext>
            </a:extLst>
          </p:cNvPr>
          <p:cNvSpPr txBox="1">
            <a:spLocks/>
          </p:cNvSpPr>
          <p:nvPr/>
        </p:nvSpPr>
        <p:spPr bwMode="auto">
          <a:xfrm>
            <a:off x="2858844" y="865094"/>
            <a:ext cx="7772400"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defTabSz="457200" rtl="0" eaLnBrk="0" fontAlgn="base" hangingPunct="0">
              <a:spcBef>
                <a:spcPct val="0"/>
              </a:spcBef>
              <a:spcAft>
                <a:spcPct val="0"/>
              </a:spcAft>
              <a:defRPr sz="4400" kern="1200">
                <a:solidFill>
                  <a:schemeClr val="tx1"/>
                </a:solidFill>
                <a:latin typeface="+mj-lt"/>
                <a:ea typeface="ＭＳ Ｐゴシック" charset="-128"/>
                <a:cs typeface="ＭＳ Ｐゴシック" charset="-128"/>
              </a:defRPr>
            </a:lvl1pPr>
            <a:lvl2pPr algn="ctr" defTabSz="457200" rtl="0" eaLnBrk="0" fontAlgn="base" hangingPunct="0">
              <a:spcBef>
                <a:spcPct val="0"/>
              </a:spcBef>
              <a:spcAft>
                <a:spcPct val="0"/>
              </a:spcAft>
              <a:defRPr sz="4400">
                <a:solidFill>
                  <a:schemeClr val="tx1"/>
                </a:solidFill>
                <a:latin typeface="Calibri" charset="0"/>
                <a:ea typeface="ＭＳ Ｐゴシック" charset="-128"/>
                <a:cs typeface="ＭＳ Ｐゴシック" charset="-128"/>
              </a:defRPr>
            </a:lvl2pPr>
            <a:lvl3pPr algn="ctr" defTabSz="457200" rtl="0" eaLnBrk="0" fontAlgn="base" hangingPunct="0">
              <a:spcBef>
                <a:spcPct val="0"/>
              </a:spcBef>
              <a:spcAft>
                <a:spcPct val="0"/>
              </a:spcAft>
              <a:defRPr sz="4400">
                <a:solidFill>
                  <a:schemeClr val="tx1"/>
                </a:solidFill>
                <a:latin typeface="Calibri" charset="0"/>
                <a:ea typeface="ＭＳ Ｐゴシック" charset="-128"/>
                <a:cs typeface="ＭＳ Ｐゴシック" charset="-128"/>
              </a:defRPr>
            </a:lvl3pPr>
            <a:lvl4pPr algn="ctr" defTabSz="457200" rtl="0" eaLnBrk="0" fontAlgn="base" hangingPunct="0">
              <a:spcBef>
                <a:spcPct val="0"/>
              </a:spcBef>
              <a:spcAft>
                <a:spcPct val="0"/>
              </a:spcAft>
              <a:defRPr sz="4400">
                <a:solidFill>
                  <a:schemeClr val="tx1"/>
                </a:solidFill>
                <a:latin typeface="Calibri" charset="0"/>
                <a:ea typeface="ＭＳ Ｐゴシック" charset="-128"/>
                <a:cs typeface="ＭＳ Ｐゴシック" charset="-128"/>
              </a:defRPr>
            </a:lvl4pPr>
            <a:lvl5pPr algn="ctr" defTabSz="457200" rtl="0" eaLnBrk="0" fontAlgn="base" hangingPunct="0">
              <a:spcBef>
                <a:spcPct val="0"/>
              </a:spcBef>
              <a:spcAft>
                <a:spcPct val="0"/>
              </a:spcAft>
              <a:defRPr sz="4400">
                <a:solidFill>
                  <a:schemeClr val="tx1"/>
                </a:solidFill>
                <a:latin typeface="Calibri" charset="0"/>
                <a:ea typeface="ＭＳ Ｐゴシック" charset="-128"/>
                <a:cs typeface="ＭＳ Ｐゴシック" charset="-128"/>
              </a:defRPr>
            </a:lvl5pPr>
            <a:lvl6pPr marL="457200" algn="ctr" defTabSz="457200" rtl="0" fontAlgn="base">
              <a:spcBef>
                <a:spcPct val="0"/>
              </a:spcBef>
              <a:spcAft>
                <a:spcPct val="0"/>
              </a:spcAft>
              <a:defRPr sz="4400">
                <a:solidFill>
                  <a:schemeClr val="tx1"/>
                </a:solidFill>
                <a:latin typeface="Calibri" charset="0"/>
                <a:ea typeface="ＭＳ Ｐゴシック" charset="-128"/>
                <a:cs typeface="ＭＳ Ｐゴシック" charset="-128"/>
              </a:defRPr>
            </a:lvl6pPr>
            <a:lvl7pPr marL="914400" algn="ctr" defTabSz="457200" rtl="0" fontAlgn="base">
              <a:spcBef>
                <a:spcPct val="0"/>
              </a:spcBef>
              <a:spcAft>
                <a:spcPct val="0"/>
              </a:spcAft>
              <a:defRPr sz="4400">
                <a:solidFill>
                  <a:schemeClr val="tx1"/>
                </a:solidFill>
                <a:latin typeface="Calibri" charset="0"/>
                <a:ea typeface="ＭＳ Ｐゴシック" charset="-128"/>
                <a:cs typeface="ＭＳ Ｐゴシック" charset="-128"/>
              </a:defRPr>
            </a:lvl7pPr>
            <a:lvl8pPr marL="1371600" algn="ctr" defTabSz="457200" rtl="0" fontAlgn="base">
              <a:spcBef>
                <a:spcPct val="0"/>
              </a:spcBef>
              <a:spcAft>
                <a:spcPct val="0"/>
              </a:spcAft>
              <a:defRPr sz="4400">
                <a:solidFill>
                  <a:schemeClr val="tx1"/>
                </a:solidFill>
                <a:latin typeface="Calibri" charset="0"/>
                <a:ea typeface="ＭＳ Ｐゴシック" charset="-128"/>
                <a:cs typeface="ＭＳ Ｐゴシック" charset="-128"/>
              </a:defRPr>
            </a:lvl8pPr>
            <a:lvl9pPr marL="1828800" algn="ctr" defTabSz="457200" rtl="0" fontAlgn="base">
              <a:spcBef>
                <a:spcPct val="0"/>
              </a:spcBef>
              <a:spcAft>
                <a:spcPct val="0"/>
              </a:spcAft>
              <a:defRPr sz="4400">
                <a:solidFill>
                  <a:schemeClr val="tx1"/>
                </a:solidFill>
                <a:latin typeface="Calibri" charset="0"/>
                <a:ea typeface="ＭＳ Ｐゴシック" charset="-128"/>
                <a:cs typeface="ＭＳ Ｐゴシック" charset="-128"/>
              </a:defRPr>
            </a:lvl9pPr>
          </a:lstStyle>
          <a:p>
            <a:pPr eaLnBrk="1" hangingPunct="1"/>
            <a:r>
              <a:rPr lang="en-US" sz="2800" dirty="0">
                <a:solidFill>
                  <a:srgbClr val="FF0000"/>
                </a:solidFill>
                <a:ea typeface="ＭＳ Ｐゴシック" pitchFamily="-1" charset="-128"/>
                <a:cs typeface="ＭＳ Ｐゴシック" pitchFamily="-1" charset="-128"/>
              </a:rPr>
              <a:t>Week 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AE78B-9318-9844-B8EE-75EB0B025F2D}"/>
              </a:ext>
            </a:extLst>
          </p:cNvPr>
          <p:cNvSpPr>
            <a:spLocks noGrp="1"/>
          </p:cNvSpPr>
          <p:nvPr>
            <p:ph type="title"/>
          </p:nvPr>
        </p:nvSpPr>
        <p:spPr/>
        <p:txBody>
          <a:bodyPr/>
          <a:lstStyle/>
          <a:p>
            <a:r>
              <a:rPr lang="en-US" dirty="0"/>
              <a:t>Why is this class so hard?</a:t>
            </a:r>
          </a:p>
        </p:txBody>
      </p:sp>
      <p:sp>
        <p:nvSpPr>
          <p:cNvPr id="3" name="Content Placeholder 2">
            <a:extLst>
              <a:ext uri="{FF2B5EF4-FFF2-40B4-BE49-F238E27FC236}">
                <a16:creationId xmlns:a16="http://schemas.microsoft.com/office/drawing/2014/main" id="{46569759-64C3-A645-A51C-20B0926F91C7}"/>
              </a:ext>
            </a:extLst>
          </p:cNvPr>
          <p:cNvSpPr>
            <a:spLocks noGrp="1"/>
          </p:cNvSpPr>
          <p:nvPr>
            <p:ph idx="1"/>
          </p:nvPr>
        </p:nvSpPr>
        <p:spPr>
          <a:xfrm>
            <a:off x="152400" y="1166018"/>
            <a:ext cx="8686800" cy="5691982"/>
          </a:xfrm>
        </p:spPr>
        <p:txBody>
          <a:bodyPr/>
          <a:lstStyle/>
          <a:p>
            <a:r>
              <a:rPr lang="en-US" sz="2000" dirty="0"/>
              <a:t>Are you putting enough time into this class?</a:t>
            </a:r>
          </a:p>
          <a:p>
            <a:r>
              <a:rPr lang="en-US" sz="2000" dirty="0"/>
              <a:t>A “typical” student spends 3-4 hours/week per unit in college (I googled it)</a:t>
            </a:r>
          </a:p>
          <a:p>
            <a:pPr lvl="1"/>
            <a:r>
              <a:rPr lang="en-US" sz="1800" dirty="0"/>
              <a:t>This 4-unit class requires 12-16 hours/week, thus 7-11 hours per week </a:t>
            </a:r>
            <a:r>
              <a:rPr lang="en-US" sz="1800" i="1" u="sng" dirty="0"/>
              <a:t>outside</a:t>
            </a:r>
            <a:r>
              <a:rPr lang="en-US" sz="1800" dirty="0"/>
              <a:t> of class for the </a:t>
            </a:r>
            <a:r>
              <a:rPr lang="en-US" sz="1800" u="sng" dirty="0"/>
              <a:t>typical</a:t>
            </a:r>
            <a:r>
              <a:rPr lang="en-US" sz="1800" dirty="0"/>
              <a:t> student (and many of us have to work harder)</a:t>
            </a:r>
          </a:p>
          <a:p>
            <a:pPr lvl="1"/>
            <a:r>
              <a:rPr lang="en-US" sz="1800" dirty="0"/>
              <a:t>Living in earth’s gravity gives us some intuition about kinematics, but we have </a:t>
            </a:r>
            <a:r>
              <a:rPr lang="en-US" sz="1800" i="1" dirty="0"/>
              <a:t>nothing</a:t>
            </a:r>
            <a:r>
              <a:rPr lang="en-US" sz="1800" dirty="0"/>
              <a:t> to base intuition about feeble electric fields in semiconductors</a:t>
            </a:r>
          </a:p>
          <a:p>
            <a:pPr lvl="1"/>
            <a:r>
              <a:rPr lang="en-US" sz="1800" dirty="0"/>
              <a:t>If you’re putting in ½ the time, getting &lt;½ the grade is expected</a:t>
            </a:r>
          </a:p>
          <a:p>
            <a:r>
              <a:rPr lang="en-US" sz="2000" dirty="0"/>
              <a:t>Another</a:t>
            </a:r>
            <a:r>
              <a:rPr lang="en-US" dirty="0"/>
              <a:t> reason this class is harder is it’s 300 level … </a:t>
            </a:r>
          </a:p>
          <a:p>
            <a:pPr lvl="1"/>
            <a:r>
              <a:rPr lang="en-US" sz="1800" dirty="0"/>
              <a:t>We’re not applying one formula at a time to “problems” (odd answers in the back)</a:t>
            </a:r>
          </a:p>
          <a:p>
            <a:pPr lvl="2"/>
            <a:r>
              <a:rPr lang="en-US" sz="1600" dirty="0"/>
              <a:t>Our “problems” are like: “Why doesn’t the *%&amp;$ circuit work???” (answers </a:t>
            </a:r>
            <a:r>
              <a:rPr lang="en-US" sz="1600" i="1" dirty="0"/>
              <a:t>maybe</a:t>
            </a:r>
            <a:r>
              <a:rPr lang="en-US" sz="1600" dirty="0"/>
              <a:t> on the back of the circuit board ;-)</a:t>
            </a:r>
          </a:p>
          <a:p>
            <a:pPr lvl="1"/>
            <a:r>
              <a:rPr lang="en-US" sz="1800" dirty="0"/>
              <a:t>You’re applying all the undergraduate math, principles and reasoning you learned in 201, and experimental methods (that’s what your kit is for) to answer questions in this foreign domain – and test and verify those answers</a:t>
            </a:r>
          </a:p>
          <a:p>
            <a:pPr lvl="1"/>
            <a:r>
              <a:rPr lang="en-US" sz="1800" dirty="0"/>
              <a:t>This is much harder … and afterwards you’ll have achieved much greater and powerful intellectual milestones … </a:t>
            </a:r>
          </a:p>
        </p:txBody>
      </p:sp>
    </p:spTree>
    <p:extLst>
      <p:ext uri="{BB962C8B-B14F-4D97-AF65-F5344CB8AC3E}">
        <p14:creationId xmlns:p14="http://schemas.microsoft.com/office/powerpoint/2010/main" val="6866621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47063-948E-D149-83F1-6AEECF962296}"/>
              </a:ext>
            </a:extLst>
          </p:cNvPr>
          <p:cNvSpPr>
            <a:spLocks noGrp="1"/>
          </p:cNvSpPr>
          <p:nvPr>
            <p:ph type="title"/>
          </p:nvPr>
        </p:nvSpPr>
        <p:spPr/>
        <p:txBody>
          <a:bodyPr/>
          <a:lstStyle/>
          <a:p>
            <a:r>
              <a:rPr lang="en-US" dirty="0"/>
              <a:t>Floyd’s textbook</a:t>
            </a:r>
          </a:p>
        </p:txBody>
      </p:sp>
      <p:pic>
        <p:nvPicPr>
          <p:cNvPr id="4" name="Picture 3">
            <a:extLst>
              <a:ext uri="{FF2B5EF4-FFF2-40B4-BE49-F238E27FC236}">
                <a16:creationId xmlns:a16="http://schemas.microsoft.com/office/drawing/2014/main" id="{1614579C-1AF0-7846-A96A-2C1018568B4A}"/>
              </a:ext>
            </a:extLst>
          </p:cNvPr>
          <p:cNvPicPr>
            <a:picLocks noChangeAspect="1"/>
          </p:cNvPicPr>
          <p:nvPr/>
        </p:nvPicPr>
        <p:blipFill>
          <a:blip r:embed="rId2"/>
          <a:stretch>
            <a:fillRect/>
          </a:stretch>
        </p:blipFill>
        <p:spPr>
          <a:xfrm>
            <a:off x="152400" y="1417638"/>
            <a:ext cx="4315537" cy="5454706"/>
          </a:xfrm>
          <a:prstGeom prst="rect">
            <a:avLst/>
          </a:prstGeom>
        </p:spPr>
      </p:pic>
      <p:pic>
        <p:nvPicPr>
          <p:cNvPr id="5" name="Picture 4">
            <a:extLst>
              <a:ext uri="{FF2B5EF4-FFF2-40B4-BE49-F238E27FC236}">
                <a16:creationId xmlns:a16="http://schemas.microsoft.com/office/drawing/2014/main" id="{59F0F14F-9C9A-B540-9835-C755E4B11E4F}"/>
              </a:ext>
            </a:extLst>
          </p:cNvPr>
          <p:cNvPicPr>
            <a:picLocks noChangeAspect="1"/>
          </p:cNvPicPr>
          <p:nvPr/>
        </p:nvPicPr>
        <p:blipFill rotWithShape="1">
          <a:blip r:embed="rId3"/>
          <a:srcRect b="17391"/>
          <a:stretch/>
        </p:blipFill>
        <p:spPr>
          <a:xfrm>
            <a:off x="4800600" y="1600200"/>
            <a:ext cx="4232731" cy="4419600"/>
          </a:xfrm>
          <a:prstGeom prst="rect">
            <a:avLst/>
          </a:prstGeom>
        </p:spPr>
      </p:pic>
      <p:sp>
        <p:nvSpPr>
          <p:cNvPr id="6" name="Rectangle 5">
            <a:extLst>
              <a:ext uri="{FF2B5EF4-FFF2-40B4-BE49-F238E27FC236}">
                <a16:creationId xmlns:a16="http://schemas.microsoft.com/office/drawing/2014/main" id="{188811BF-41CB-5842-BA1C-DB3295608C81}"/>
              </a:ext>
            </a:extLst>
          </p:cNvPr>
          <p:cNvSpPr/>
          <p:nvPr/>
        </p:nvSpPr>
        <p:spPr>
          <a:xfrm>
            <a:off x="4831847" y="2590800"/>
            <a:ext cx="4159753" cy="304800"/>
          </a:xfrm>
          <a:prstGeom prst="rect">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7F96B439-263D-B64E-A3AD-172D2FC5DFBA}"/>
              </a:ext>
            </a:extLst>
          </p:cNvPr>
          <p:cNvSpPr txBox="1"/>
          <p:nvPr/>
        </p:nvSpPr>
        <p:spPr>
          <a:xfrm>
            <a:off x="4800600" y="6019800"/>
            <a:ext cx="4191000" cy="646331"/>
          </a:xfrm>
          <a:prstGeom prst="rect">
            <a:avLst/>
          </a:prstGeom>
          <a:noFill/>
        </p:spPr>
        <p:txBody>
          <a:bodyPr wrap="square" rtlCol="0">
            <a:spAutoFit/>
          </a:bodyPr>
          <a:lstStyle/>
          <a:p>
            <a:r>
              <a:rPr lang="en-US" dirty="0">
                <a:solidFill>
                  <a:srgbClr val="FF0000"/>
                </a:solidFill>
              </a:rPr>
              <a:t>We’re skipping a lot … to get into more interesting and useful contents …</a:t>
            </a:r>
          </a:p>
        </p:txBody>
      </p:sp>
      <p:pic>
        <p:nvPicPr>
          <p:cNvPr id="1028" name="Picture 4">
            <a:extLst>
              <a:ext uri="{FF2B5EF4-FFF2-40B4-BE49-F238E27FC236}">
                <a16:creationId xmlns:a16="http://schemas.microsoft.com/office/drawing/2014/main" id="{31B37F0B-DDE1-3B46-8B34-5F641C5D8152}"/>
              </a:ext>
            </a:extLst>
          </p:cNvPr>
          <p:cNvPicPr>
            <a:picLocks noChangeAspect="1" noChangeArrowheads="1"/>
          </p:cNvPicPr>
          <p:nvPr/>
        </p:nvPicPr>
        <p:blipFill>
          <a:blip r:embed="rId4">
            <a:alphaModFix amt="67000"/>
            <a:extLst>
              <a:ext uri="{28A0092B-C50C-407E-A947-70E740481C1C}">
                <a14:useLocalDpi xmlns:a14="http://schemas.microsoft.com/office/drawing/2010/main" val="0"/>
              </a:ext>
            </a:extLst>
          </a:blip>
          <a:srcRect/>
          <a:stretch>
            <a:fillRect/>
          </a:stretch>
        </p:blipFill>
        <p:spPr bwMode="auto">
          <a:xfrm>
            <a:off x="156116" y="80221"/>
            <a:ext cx="2053684" cy="26968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16351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pPr eaLnBrk="1" hangingPunct="1"/>
            <a:r>
              <a:rPr lang="en-US" sz="4000" dirty="0">
                <a:ea typeface="ＭＳ Ｐゴシック" pitchFamily="-1" charset="-128"/>
                <a:cs typeface="ＭＳ Ｐゴシック" pitchFamily="-1" charset="-128"/>
                <a:hlinkClick r:id="rId2"/>
              </a:rPr>
              <a:t>http://en.wikipedia.org/wiki/Transistor</a:t>
            </a:r>
            <a:endParaRPr lang="en-US" sz="4000" dirty="0">
              <a:ea typeface="ＭＳ Ｐゴシック" pitchFamily="-1" charset="-128"/>
              <a:cs typeface="ＭＳ Ｐゴシック" pitchFamily="-1" charset="-128"/>
            </a:endParaRPr>
          </a:p>
        </p:txBody>
      </p:sp>
      <p:sp>
        <p:nvSpPr>
          <p:cNvPr id="15363" name="Content Placeholder 2"/>
          <p:cNvSpPr>
            <a:spLocks noGrp="1"/>
          </p:cNvSpPr>
          <p:nvPr>
            <p:ph idx="1"/>
          </p:nvPr>
        </p:nvSpPr>
        <p:spPr/>
        <p:txBody>
          <a:bodyPr/>
          <a:lstStyle/>
          <a:p>
            <a:pPr eaLnBrk="1" hangingPunct="1">
              <a:lnSpc>
                <a:spcPct val="80000"/>
              </a:lnSpc>
            </a:pPr>
            <a:r>
              <a:rPr lang="en-US" sz="2200" dirty="0">
                <a:ea typeface="ＭＳ Ｐゴシック" pitchFamily="-1" charset="-128"/>
                <a:cs typeface="ＭＳ Ｐゴシック" pitchFamily="-1" charset="-128"/>
              </a:rPr>
              <a:t>A semiconductor device commonly used to amplify or switch electronic signals. </a:t>
            </a:r>
          </a:p>
          <a:p>
            <a:pPr eaLnBrk="1" hangingPunct="1">
              <a:lnSpc>
                <a:spcPct val="80000"/>
              </a:lnSpc>
            </a:pPr>
            <a:r>
              <a:rPr lang="en-US" sz="2200" dirty="0">
                <a:ea typeface="ＭＳ Ｐゴシック" pitchFamily="-1" charset="-128"/>
                <a:cs typeface="ＭＳ Ｐゴシック" pitchFamily="-1" charset="-128"/>
              </a:rPr>
              <a:t>Made of a solid piece of a semiconductor material, with at least three terminals for connection to an external circuit. </a:t>
            </a:r>
          </a:p>
          <a:p>
            <a:pPr eaLnBrk="1" hangingPunct="1">
              <a:lnSpc>
                <a:spcPct val="80000"/>
              </a:lnSpc>
            </a:pPr>
            <a:r>
              <a:rPr lang="en-US" sz="2200" dirty="0">
                <a:ea typeface="ＭＳ Ｐゴシック" pitchFamily="-1" charset="-128"/>
                <a:cs typeface="ＭＳ Ｐゴシック" pitchFamily="-1" charset="-128"/>
              </a:rPr>
              <a:t>A voltage or current applied to one pair of the transistor's terminals changes the current flowing through another pair of terminals. </a:t>
            </a:r>
          </a:p>
          <a:p>
            <a:pPr eaLnBrk="1" hangingPunct="1">
              <a:lnSpc>
                <a:spcPct val="80000"/>
              </a:lnSpc>
            </a:pPr>
            <a:r>
              <a:rPr lang="en-US" sz="2200" dirty="0">
                <a:ea typeface="ＭＳ Ｐゴシック" pitchFamily="-1" charset="-128"/>
                <a:cs typeface="ＭＳ Ｐゴシック" pitchFamily="-1" charset="-128"/>
              </a:rPr>
              <a:t>Because the controlled (output) power can be much larger than the controlling (input) power, the transistor can </a:t>
            </a:r>
            <a:r>
              <a:rPr lang="en-US" sz="2200" i="1" dirty="0">
                <a:ea typeface="ＭＳ Ｐゴシック" pitchFamily="-1" charset="-128"/>
                <a:cs typeface="ＭＳ Ｐゴシック" pitchFamily="-1" charset="-128"/>
              </a:rPr>
              <a:t>amplify</a:t>
            </a:r>
            <a:r>
              <a:rPr lang="en-US" sz="2200" dirty="0">
                <a:ea typeface="ＭＳ Ｐゴシック" pitchFamily="-1" charset="-128"/>
                <a:cs typeface="ＭＳ Ｐゴシック" pitchFamily="-1" charset="-128"/>
              </a:rPr>
              <a:t> (increase) a signal</a:t>
            </a:r>
          </a:p>
          <a:p>
            <a:pPr lvl="1" eaLnBrk="1" hangingPunct="1">
              <a:lnSpc>
                <a:spcPct val="80000"/>
              </a:lnSpc>
            </a:pPr>
            <a:r>
              <a:rPr lang="en-US" sz="1800" dirty="0">
                <a:ea typeface="ＭＳ Ｐゴシック" pitchFamily="-1" charset="-128"/>
                <a:cs typeface="ＭＳ Ｐゴシック" pitchFamily="-1" charset="-128"/>
              </a:rPr>
              <a:t>Voltage dividers can only decrease signals</a:t>
            </a:r>
          </a:p>
          <a:p>
            <a:pPr eaLnBrk="1" hangingPunct="1">
              <a:lnSpc>
                <a:spcPct val="80000"/>
              </a:lnSpc>
            </a:pPr>
            <a:r>
              <a:rPr lang="en-US" sz="2200" dirty="0">
                <a:ea typeface="ＭＳ Ｐゴシック" pitchFamily="-1" charset="-128"/>
                <a:cs typeface="ＭＳ Ｐゴシック" pitchFamily="-1" charset="-128"/>
              </a:rPr>
              <a:t>The transistor is the fundamental building block of modern electronic devices, and is used in radio, telephone, computer and other electronic systems. </a:t>
            </a:r>
          </a:p>
          <a:p>
            <a:pPr eaLnBrk="1" hangingPunct="1">
              <a:lnSpc>
                <a:spcPct val="80000"/>
              </a:lnSpc>
            </a:pPr>
            <a:r>
              <a:rPr lang="en-US" sz="2200" dirty="0">
                <a:ea typeface="ＭＳ Ｐゴシック" pitchFamily="-1" charset="-128"/>
                <a:cs typeface="ＭＳ Ｐゴシック" pitchFamily="-1" charset="-128"/>
              </a:rPr>
              <a:t>Some transistors are packaged individually but most are found in integrated circuits.</a:t>
            </a:r>
          </a:p>
        </p:txBody>
      </p:sp>
      <p:sp>
        <p:nvSpPr>
          <p:cNvPr id="2" name="TextBox 1">
            <a:extLst>
              <a:ext uri="{FF2B5EF4-FFF2-40B4-BE49-F238E27FC236}">
                <a16:creationId xmlns:a16="http://schemas.microsoft.com/office/drawing/2014/main" id="{9A2204F6-3851-3C47-A533-6C1F792A1EDF}"/>
              </a:ext>
            </a:extLst>
          </p:cNvPr>
          <p:cNvSpPr txBox="1"/>
          <p:nvPr/>
        </p:nvSpPr>
        <p:spPr>
          <a:xfrm>
            <a:off x="2667000" y="92076"/>
            <a:ext cx="4038600" cy="369332"/>
          </a:xfrm>
          <a:prstGeom prst="rect">
            <a:avLst/>
          </a:prstGeom>
          <a:noFill/>
        </p:spPr>
        <p:txBody>
          <a:bodyPr wrap="square" rtlCol="0">
            <a:spAutoFit/>
          </a:bodyPr>
          <a:lstStyle/>
          <a:p>
            <a:r>
              <a:rPr lang="en-US" dirty="0"/>
              <a:t>What is a transistor? What is a car?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pPr eaLnBrk="1" hangingPunct="1"/>
            <a:r>
              <a:rPr lang="en-US">
                <a:ea typeface="ＭＳ Ｐゴシック" pitchFamily="-1" charset="-128"/>
                <a:cs typeface="ＭＳ Ｐゴシック" pitchFamily="-1" charset="-128"/>
              </a:rPr>
              <a:t>Key points</a:t>
            </a:r>
          </a:p>
        </p:txBody>
      </p:sp>
      <p:sp>
        <p:nvSpPr>
          <p:cNvPr id="16387" name="Content Placeholder 2"/>
          <p:cNvSpPr>
            <a:spLocks noGrp="1"/>
          </p:cNvSpPr>
          <p:nvPr>
            <p:ph idx="1"/>
          </p:nvPr>
        </p:nvSpPr>
        <p:spPr>
          <a:xfrm>
            <a:off x="457200" y="1143000"/>
            <a:ext cx="8534400" cy="4525963"/>
          </a:xfrm>
        </p:spPr>
        <p:txBody>
          <a:bodyPr/>
          <a:lstStyle/>
          <a:p>
            <a:pPr eaLnBrk="1" hangingPunct="1"/>
            <a:r>
              <a:rPr lang="en-US" dirty="0">
                <a:ea typeface="ＭＳ Ｐゴシック" pitchFamily="-1" charset="-128"/>
                <a:cs typeface="ＭＳ Ｐゴシック" pitchFamily="-1" charset="-128"/>
              </a:rPr>
              <a:t>3 terminals = 2 circuits</a:t>
            </a:r>
          </a:p>
          <a:p>
            <a:pPr lvl="1" eaLnBrk="1" hangingPunct="1"/>
            <a:r>
              <a:rPr lang="en-US" dirty="0"/>
              <a:t>B-E current controls C-E current </a:t>
            </a:r>
          </a:p>
          <a:p>
            <a:pPr eaLnBrk="1" hangingPunct="1"/>
            <a:r>
              <a:rPr lang="en-US" dirty="0">
                <a:ea typeface="ＭＳ Ｐゴシック" pitchFamily="-1" charset="-128"/>
                <a:cs typeface="ＭＳ Ｐゴシック" pitchFamily="-1" charset="-128"/>
              </a:rPr>
              <a:t>NPN and PNP flavors (and variants)</a:t>
            </a:r>
          </a:p>
          <a:p>
            <a:pPr lvl="1" eaLnBrk="1" hangingPunct="1"/>
            <a:r>
              <a:rPr lang="en-US" dirty="0">
                <a:ea typeface="ＭＳ Ｐゴシック" pitchFamily="-1" charset="-128"/>
                <a:cs typeface="ＭＳ Ｐゴシック" pitchFamily="-1" charset="-128"/>
              </a:rPr>
              <a:t>Facilitate normally-on or normally-off, NOT, …</a:t>
            </a:r>
          </a:p>
          <a:p>
            <a:pPr eaLnBrk="1" hangingPunct="1"/>
            <a:r>
              <a:rPr lang="en-US" dirty="0">
                <a:ea typeface="ＭＳ Ｐゴシック" pitchFamily="-1" charset="-128"/>
                <a:cs typeface="ＭＳ Ｐゴシック" pitchFamily="-1" charset="-128"/>
              </a:rPr>
              <a:t>Many behaviors and functions are possible</a:t>
            </a:r>
          </a:p>
          <a:p>
            <a:pPr lvl="1" eaLnBrk="1" hangingPunct="1"/>
            <a:r>
              <a:rPr lang="en-US" dirty="0">
                <a:ea typeface="ＭＳ Ｐゴシック" pitchFamily="-1" charset="-128"/>
                <a:cs typeface="ＭＳ Ｐゴシック" pitchFamily="-1" charset="-128"/>
              </a:rPr>
              <a:t>Behavior is typically highly nonlinear</a:t>
            </a:r>
          </a:p>
          <a:p>
            <a:pPr eaLnBrk="1" hangingPunct="1"/>
            <a:r>
              <a:rPr lang="en-US" dirty="0">
                <a:ea typeface="ＭＳ Ｐゴシック" pitchFamily="-1" charset="-128"/>
                <a:cs typeface="ＭＳ Ｐゴシック" pitchFamily="-1" charset="-128"/>
              </a:rPr>
              <a:t>Several mathematical models apply</a:t>
            </a:r>
          </a:p>
          <a:p>
            <a:pPr lvl="1" eaLnBrk="1" hangingPunct="1"/>
            <a:r>
              <a:rPr lang="en-US" dirty="0">
                <a:ea typeface="ＭＳ Ｐゴシック" pitchFamily="-1" charset="-128"/>
                <a:cs typeface="ＭＳ Ｐゴシック" pitchFamily="-1" charset="-128"/>
              </a:rPr>
              <a:t>Use the simplest model you can get away with</a:t>
            </a:r>
          </a:p>
          <a:p>
            <a:pPr eaLnBrk="1" hangingPunct="1"/>
            <a:r>
              <a:rPr lang="en-US" dirty="0">
                <a:ea typeface="ＭＳ Ｐゴシック" pitchFamily="-1" charset="-128"/>
                <a:cs typeface="ＭＳ Ｐゴシック" pitchFamily="-1" charset="-128"/>
              </a:rPr>
              <a:t>ICs are generally more useful than individual transistors (and about as cheap)</a:t>
            </a:r>
          </a:p>
          <a:p>
            <a:pPr lvl="1" eaLnBrk="1" hangingPunct="1"/>
            <a:r>
              <a:rPr lang="en-US" dirty="0">
                <a:ea typeface="ＭＳ Ｐゴシック" pitchFamily="-1" charset="-128"/>
                <a:cs typeface="ＭＳ Ｐゴシック" pitchFamily="-1" charset="-128"/>
              </a:rPr>
              <a:t>E.g., op-amps generally beat discrete transistor amps</a:t>
            </a:r>
          </a:p>
          <a:p>
            <a:pPr lvl="1" eaLnBrk="1" hangingPunct="1"/>
            <a:r>
              <a:rPr lang="en-US" dirty="0">
                <a:ea typeface="ＭＳ Ｐゴシック" pitchFamily="-1" charset="-128"/>
                <a:cs typeface="ＭＳ Ｐゴシック" pitchFamily="-1" charset="-128"/>
              </a:rPr>
              <a:t>TTL (74xx) or CMOS (40xx, 45xx) families of logic </a:t>
            </a:r>
            <a:r>
              <a:rPr lang="en-US" dirty="0" err="1">
                <a:ea typeface="ＭＳ Ｐゴシック" pitchFamily="-1" charset="-128"/>
                <a:cs typeface="ＭＳ Ｐゴシック" pitchFamily="-1" charset="-128"/>
              </a:rPr>
              <a:t>Ics</a:t>
            </a:r>
            <a:endParaRPr lang="en-US" dirty="0">
              <a:ea typeface="ＭＳ Ｐゴシック" pitchFamily="-1" charset="-128"/>
              <a:cs typeface="ＭＳ Ｐゴシック" pitchFamily="-1" charset="-128"/>
            </a:endParaRPr>
          </a:p>
          <a:p>
            <a:pPr lvl="1" eaLnBrk="1" hangingPunct="1"/>
            <a:r>
              <a:rPr lang="en-US" dirty="0">
                <a:ea typeface="ＭＳ Ｐゴシック" pitchFamily="-1" charset="-128"/>
                <a:cs typeface="ＭＳ Ｐゴシック" pitchFamily="-1" charset="-128"/>
              </a:rPr>
              <a:t>So your use of discrete transistors will be limited – but nevertheless very powerful!! </a:t>
            </a:r>
          </a:p>
          <a:p>
            <a:pPr eaLnBrk="1" hangingPunct="1"/>
            <a:endParaRPr lang="en-US" dirty="0">
              <a:ea typeface="ＭＳ Ｐゴシック" pitchFamily="-1" charset="-128"/>
              <a:cs typeface="ＭＳ Ｐゴシック" pitchFamily="-1" charset="-128"/>
            </a:endParaRPr>
          </a:p>
        </p:txBody>
      </p:sp>
      <p:pic>
        <p:nvPicPr>
          <p:cNvPr id="4" name="Picture 2" descr="measure the value of transistor - My electronic">
            <a:extLst>
              <a:ext uri="{FF2B5EF4-FFF2-40B4-BE49-F238E27FC236}">
                <a16:creationId xmlns:a16="http://schemas.microsoft.com/office/drawing/2014/main" id="{84B287D4-31F6-D541-87A7-A355A5EDC496}"/>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6503504" y="533400"/>
            <a:ext cx="2667000" cy="2667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38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38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38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387">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387">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6387">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387">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387">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387">
                                            <p:txEl>
                                              <p:pRg st="9" end="9"/>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6387">
                                            <p:txEl>
                                              <p:pRg st="10" end="10"/>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387">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B15DC-69FA-1E40-95E2-E84F155DF153}"/>
              </a:ext>
            </a:extLst>
          </p:cNvPr>
          <p:cNvSpPr>
            <a:spLocks noGrp="1"/>
          </p:cNvSpPr>
          <p:nvPr>
            <p:ph type="title"/>
          </p:nvPr>
        </p:nvSpPr>
        <p:spPr/>
        <p:txBody>
          <a:bodyPr/>
          <a:lstStyle/>
          <a:p>
            <a:r>
              <a:rPr lang="en-US" dirty="0"/>
              <a:t>Multiple regimes of operation</a:t>
            </a:r>
          </a:p>
        </p:txBody>
      </p:sp>
      <p:sp>
        <p:nvSpPr>
          <p:cNvPr id="3" name="Content Placeholder 2">
            <a:extLst>
              <a:ext uri="{FF2B5EF4-FFF2-40B4-BE49-F238E27FC236}">
                <a16:creationId xmlns:a16="http://schemas.microsoft.com/office/drawing/2014/main" id="{E301CAED-FE5E-1F4C-87E1-5211788A689C}"/>
              </a:ext>
            </a:extLst>
          </p:cNvPr>
          <p:cNvSpPr>
            <a:spLocks noGrp="1"/>
          </p:cNvSpPr>
          <p:nvPr>
            <p:ph idx="1"/>
          </p:nvPr>
        </p:nvSpPr>
        <p:spPr/>
        <p:txBody>
          <a:bodyPr/>
          <a:lstStyle/>
          <a:p>
            <a:r>
              <a:rPr lang="en-US" dirty="0"/>
              <a:t>The LM317 is described by different equations:</a:t>
            </a:r>
          </a:p>
          <a:p>
            <a:pPr lvl="1"/>
            <a:r>
              <a:rPr lang="en-US" dirty="0" err="1"/>
              <a:t>Vout</a:t>
            </a:r>
            <a:r>
              <a:rPr lang="en-US" dirty="0"/>
              <a:t> = 1.25V*(1+R2/R1), or … </a:t>
            </a:r>
          </a:p>
          <a:p>
            <a:pPr lvl="1"/>
            <a:r>
              <a:rPr lang="en-US" dirty="0" err="1"/>
              <a:t>Vout</a:t>
            </a:r>
            <a:r>
              <a:rPr lang="en-US" dirty="0"/>
              <a:t> = Vin - </a:t>
            </a:r>
            <a:r>
              <a:rPr lang="en-US" dirty="0" err="1"/>
              <a:t>Vdropout</a:t>
            </a:r>
            <a:r>
              <a:rPr lang="en-US" dirty="0"/>
              <a:t>, or … </a:t>
            </a:r>
          </a:p>
          <a:p>
            <a:pPr lvl="1"/>
            <a:r>
              <a:rPr lang="en-US" dirty="0" err="1"/>
              <a:t>Vout</a:t>
            </a:r>
            <a:r>
              <a:rPr lang="en-US" dirty="0"/>
              <a:t> = 0 (i.e., when the power is off)</a:t>
            </a:r>
          </a:p>
          <a:p>
            <a:pPr lvl="1"/>
            <a:r>
              <a:rPr lang="en-US" dirty="0"/>
              <a:t>… </a:t>
            </a:r>
          </a:p>
          <a:p>
            <a:r>
              <a:rPr lang="en-US" dirty="0"/>
              <a:t>All of those equations can’t be true at the same time – so how do you choose which applies?</a:t>
            </a:r>
          </a:p>
          <a:p>
            <a:endParaRPr lang="en-US" dirty="0"/>
          </a:p>
          <a:p>
            <a:r>
              <a:rPr lang="en-US" dirty="0"/>
              <a:t>Likewise, transistors have 3 main</a:t>
            </a:r>
            <a:br>
              <a:rPr lang="en-US" dirty="0"/>
            </a:br>
            <a:r>
              <a:rPr lang="en-US" dirty="0"/>
              <a:t>regimes: cutoff, active, &amp; saturation</a:t>
            </a:r>
          </a:p>
          <a:p>
            <a:r>
              <a:rPr lang="en-US" dirty="0"/>
              <a:t>We’ll study active first, then</a:t>
            </a:r>
            <a:br>
              <a:rPr lang="en-US" dirty="0"/>
            </a:br>
            <a:r>
              <a:rPr lang="en-US" dirty="0"/>
              <a:t>saturation (Ch. 4, the switch)</a:t>
            </a:r>
          </a:p>
        </p:txBody>
      </p:sp>
      <p:pic>
        <p:nvPicPr>
          <p:cNvPr id="7" name="Picture 6" descr="A picture containing diagram&#10;&#10;Description automatically generated">
            <a:extLst>
              <a:ext uri="{FF2B5EF4-FFF2-40B4-BE49-F238E27FC236}">
                <a16:creationId xmlns:a16="http://schemas.microsoft.com/office/drawing/2014/main" id="{5CB96A71-D227-7A4A-9A2F-05245EE119B6}"/>
              </a:ext>
            </a:extLst>
          </p:cNvPr>
          <p:cNvPicPr>
            <a:picLocks noChangeAspect="1"/>
          </p:cNvPicPr>
          <p:nvPr/>
        </p:nvPicPr>
        <p:blipFill>
          <a:blip r:embed="rId2">
            <a:biLevel thresh="50000"/>
            <a:extLst>
              <a:ext uri="{BEBA8EAE-BF5A-486C-A8C5-ECC9F3942E4B}">
                <a14:imgProps xmlns:a14="http://schemas.microsoft.com/office/drawing/2010/main">
                  <a14:imgLayer r:embed="rId3">
                    <a14:imgEffect>
                      <a14:sharpenSoften amount="55000"/>
                    </a14:imgEffect>
                    <a14:imgEffect>
                      <a14:saturation sat="0"/>
                    </a14:imgEffect>
                    <a14:imgEffect>
                      <a14:brightnessContrast contrast="36000"/>
                    </a14:imgEffect>
                  </a14:imgLayer>
                </a14:imgProps>
              </a:ext>
            </a:extLst>
          </a:blip>
          <a:stretch>
            <a:fillRect/>
          </a:stretch>
        </p:blipFill>
        <p:spPr>
          <a:xfrm>
            <a:off x="5334000" y="3936253"/>
            <a:ext cx="3543300" cy="2908300"/>
          </a:xfrm>
          <a:prstGeom prst="rect">
            <a:avLst/>
          </a:prstGeom>
        </p:spPr>
      </p:pic>
    </p:spTree>
    <p:extLst>
      <p:ext uri="{BB962C8B-B14F-4D97-AF65-F5344CB8AC3E}">
        <p14:creationId xmlns:p14="http://schemas.microsoft.com/office/powerpoint/2010/main" val="44800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US">
                <a:ea typeface="ＭＳ Ｐゴシック" pitchFamily="-1" charset="-128"/>
                <a:cs typeface="ＭＳ Ｐゴシック" pitchFamily="-1" charset="-128"/>
              </a:rPr>
              <a:t>Recommended strategy</a:t>
            </a:r>
          </a:p>
        </p:txBody>
      </p:sp>
      <p:sp>
        <p:nvSpPr>
          <p:cNvPr id="17411" name="Content Placeholder 2"/>
          <p:cNvSpPr>
            <a:spLocks noGrp="1"/>
          </p:cNvSpPr>
          <p:nvPr>
            <p:ph idx="1"/>
          </p:nvPr>
        </p:nvSpPr>
        <p:spPr/>
        <p:txBody>
          <a:bodyPr/>
          <a:lstStyle/>
          <a:p>
            <a:pPr eaLnBrk="1" hangingPunct="1"/>
            <a:r>
              <a:rPr lang="en-US" sz="2800" dirty="0">
                <a:ea typeface="ＭＳ Ｐゴシック" pitchFamily="-1" charset="-128"/>
                <a:cs typeface="ＭＳ Ｐゴシック" pitchFamily="-1" charset="-128"/>
              </a:rPr>
              <a:t>If you’re at all like me, it will take lots of effort (i.e., years) to wrap your brain around these things</a:t>
            </a:r>
          </a:p>
          <a:p>
            <a:pPr lvl="1" eaLnBrk="1" hangingPunct="1"/>
            <a:r>
              <a:rPr lang="en-US" sz="2400" i="1" dirty="0"/>
              <a:t>Memorize</a:t>
            </a:r>
            <a:r>
              <a:rPr lang="en-US" sz="2400" dirty="0"/>
              <a:t> the basic nomenclature (base/emitter/collector) – can’t avoid it, the sooner you grok it, the easier</a:t>
            </a:r>
          </a:p>
          <a:p>
            <a:pPr lvl="1" eaLnBrk="1" hangingPunct="1"/>
            <a:r>
              <a:rPr lang="en-US" sz="2400" dirty="0"/>
              <a:t>Try to understand intuitively the most basic model by reading and rereading descriptions from many sources</a:t>
            </a:r>
          </a:p>
          <a:p>
            <a:pPr eaLnBrk="1" hangingPunct="1"/>
            <a:r>
              <a:rPr lang="en-US" sz="2800" i="1" dirty="0"/>
              <a:t>The voltages that matter are relative, measured </a:t>
            </a:r>
            <a:r>
              <a:rPr lang="en-US" sz="2800" u="sng" dirty="0"/>
              <a:t>between</a:t>
            </a:r>
            <a:r>
              <a:rPr lang="en-US" sz="2800" dirty="0"/>
              <a:t> </a:t>
            </a:r>
            <a:r>
              <a:rPr lang="en-US" sz="2800" i="1" dirty="0"/>
              <a:t>the pins. </a:t>
            </a:r>
            <a:r>
              <a:rPr lang="en-US" sz="2800" dirty="0"/>
              <a:t>The transistor doesn’t know or care what its voltage is relative to ground or your favorite reference</a:t>
            </a:r>
          </a:p>
          <a:p>
            <a:pPr lvl="1" eaLnBrk="1" hangingPunct="1"/>
            <a:r>
              <a:rPr lang="en-US" sz="2400" dirty="0"/>
              <a:t>The big challenge is figuring out what those relative voltages are in dynamic circuits</a:t>
            </a:r>
          </a:p>
          <a:p>
            <a:pPr eaLnBrk="1" hangingPunct="1"/>
            <a:endParaRPr lang="en-US" sz="2800" dirty="0">
              <a:ea typeface="ＭＳ Ｐゴシック" pitchFamily="-1" charset="-128"/>
              <a:cs typeface="ＭＳ Ｐゴシック" pitchFamily="-1" charset="-128"/>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69D30-ED62-C44E-8C9F-7C221E9A35A8}"/>
              </a:ext>
            </a:extLst>
          </p:cNvPr>
          <p:cNvSpPr>
            <a:spLocks noGrp="1"/>
          </p:cNvSpPr>
          <p:nvPr>
            <p:ph type="title"/>
          </p:nvPr>
        </p:nvSpPr>
        <p:spPr/>
        <p:txBody>
          <a:bodyPr/>
          <a:lstStyle/>
          <a:p>
            <a:r>
              <a:rPr lang="en-US" dirty="0"/>
              <a:t>Water analogies</a:t>
            </a:r>
          </a:p>
        </p:txBody>
      </p:sp>
      <p:sp>
        <p:nvSpPr>
          <p:cNvPr id="3" name="Content Placeholder 2">
            <a:extLst>
              <a:ext uri="{FF2B5EF4-FFF2-40B4-BE49-F238E27FC236}">
                <a16:creationId xmlns:a16="http://schemas.microsoft.com/office/drawing/2014/main" id="{F37ABA28-F546-F447-BEA4-0480BD562D20}"/>
              </a:ext>
            </a:extLst>
          </p:cNvPr>
          <p:cNvSpPr>
            <a:spLocks noGrp="1"/>
          </p:cNvSpPr>
          <p:nvPr>
            <p:ph idx="1"/>
          </p:nvPr>
        </p:nvSpPr>
        <p:spPr>
          <a:xfrm>
            <a:off x="457200" y="1461209"/>
            <a:ext cx="8229600" cy="4525963"/>
          </a:xfrm>
        </p:spPr>
        <p:txBody>
          <a:bodyPr/>
          <a:lstStyle/>
          <a:p>
            <a:r>
              <a:rPr lang="en-US" dirty="0"/>
              <a:t>Diodes are like “check valves”</a:t>
            </a:r>
          </a:p>
          <a:p>
            <a:pPr lvl="1"/>
            <a:r>
              <a:rPr lang="en-US" dirty="0"/>
              <a:t>There’s a minimal pressure difference to open (~0.7V for Si, ~0.4 for Ge, 1.5-2.5V for LEDs)</a:t>
            </a:r>
          </a:p>
          <a:p>
            <a:pPr lvl="1"/>
            <a:r>
              <a:rPr lang="en-US" dirty="0"/>
              <a:t>Allows for flow in only one direction </a:t>
            </a:r>
          </a:p>
          <a:p>
            <a:pPr lvl="2"/>
            <a:r>
              <a:rPr lang="en-US" dirty="0"/>
              <a:t>If P1&gt;P2, flow is to the right</a:t>
            </a:r>
          </a:p>
          <a:p>
            <a:pPr lvl="2"/>
            <a:r>
              <a:rPr lang="en-US" dirty="0"/>
              <a:t>If V1 &gt; V2, current is to the right</a:t>
            </a:r>
          </a:p>
          <a:p>
            <a:pPr lvl="2"/>
            <a:r>
              <a:rPr lang="en-US" dirty="0"/>
              <a:t>No flow if P1&lt;P2, no current if V1 &lt; V2</a:t>
            </a:r>
          </a:p>
          <a:p>
            <a:pPr lvl="1"/>
            <a:r>
              <a:rPr lang="en-US" dirty="0"/>
              <a:t>Analogy is only as good as it is … </a:t>
            </a:r>
          </a:p>
          <a:p>
            <a:pPr lvl="2"/>
            <a:r>
              <a:rPr lang="en-US" dirty="0"/>
              <a:t>E.g., diodes have no moving </a:t>
            </a:r>
            <a:br>
              <a:rPr lang="en-US" dirty="0"/>
            </a:br>
            <a:r>
              <a:rPr lang="en-US" dirty="0"/>
              <a:t>parts larger than electrons</a:t>
            </a:r>
          </a:p>
        </p:txBody>
      </p:sp>
      <p:pic>
        <p:nvPicPr>
          <p:cNvPr id="48130" name="Picture 2">
            <a:extLst>
              <a:ext uri="{FF2B5EF4-FFF2-40B4-BE49-F238E27FC236}">
                <a16:creationId xmlns:a16="http://schemas.microsoft.com/office/drawing/2014/main" id="{F77EF319-4606-5C4F-AE86-EE1F77C42D6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8666" t="6001" r="28667" b="5999"/>
          <a:stretch/>
        </p:blipFill>
        <p:spPr bwMode="auto">
          <a:xfrm rot="5400000">
            <a:off x="6199909" y="3867872"/>
            <a:ext cx="1773382" cy="3657600"/>
          </a:xfrm>
          <a:prstGeom prst="rect">
            <a:avLst/>
          </a:prstGeom>
          <a:noFill/>
          <a:extLst>
            <a:ext uri="{909E8E84-426E-40DD-AFC4-6F175D3DCCD1}">
              <a14:hiddenFill xmlns:a14="http://schemas.microsoft.com/office/drawing/2010/main">
                <a:solidFill>
                  <a:srgbClr val="FFFFFF"/>
                </a:solidFill>
              </a14:hiddenFill>
            </a:ext>
          </a:extLst>
        </p:spPr>
      </p:pic>
      <p:pic>
        <p:nvPicPr>
          <p:cNvPr id="48132" name="Picture 4">
            <a:extLst>
              <a:ext uri="{FF2B5EF4-FFF2-40B4-BE49-F238E27FC236}">
                <a16:creationId xmlns:a16="http://schemas.microsoft.com/office/drawing/2014/main" id="{826BAF9E-D602-D84B-91CB-5CB8E4D406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0" y="6335120"/>
            <a:ext cx="1524000" cy="6477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978CEE62-F8A9-B24E-AF6D-2A0563E2A4A8}"/>
              </a:ext>
            </a:extLst>
          </p:cNvPr>
          <p:cNvSpPr txBox="1"/>
          <p:nvPr/>
        </p:nvSpPr>
        <p:spPr>
          <a:xfrm>
            <a:off x="4953000" y="5638800"/>
            <a:ext cx="466794" cy="369332"/>
          </a:xfrm>
          <a:prstGeom prst="rect">
            <a:avLst/>
          </a:prstGeom>
          <a:noFill/>
        </p:spPr>
        <p:txBody>
          <a:bodyPr wrap="none" rtlCol="0">
            <a:spAutoFit/>
          </a:bodyPr>
          <a:lstStyle/>
          <a:p>
            <a:r>
              <a:rPr lang="en-US" dirty="0"/>
              <a:t>P1</a:t>
            </a:r>
          </a:p>
        </p:txBody>
      </p:sp>
      <p:sp>
        <p:nvSpPr>
          <p:cNvPr id="10" name="TextBox 9">
            <a:extLst>
              <a:ext uri="{FF2B5EF4-FFF2-40B4-BE49-F238E27FC236}">
                <a16:creationId xmlns:a16="http://schemas.microsoft.com/office/drawing/2014/main" id="{3F8F9938-9769-5840-8022-1BEF879BA882}"/>
              </a:ext>
            </a:extLst>
          </p:cNvPr>
          <p:cNvSpPr txBox="1"/>
          <p:nvPr/>
        </p:nvSpPr>
        <p:spPr>
          <a:xfrm>
            <a:off x="8696661" y="5638800"/>
            <a:ext cx="466794" cy="369332"/>
          </a:xfrm>
          <a:prstGeom prst="rect">
            <a:avLst/>
          </a:prstGeom>
          <a:noFill/>
        </p:spPr>
        <p:txBody>
          <a:bodyPr wrap="none" rtlCol="0">
            <a:spAutoFit/>
          </a:bodyPr>
          <a:lstStyle/>
          <a:p>
            <a:r>
              <a:rPr lang="en-US" dirty="0"/>
              <a:t>P2</a:t>
            </a:r>
          </a:p>
        </p:txBody>
      </p:sp>
      <p:sp>
        <p:nvSpPr>
          <p:cNvPr id="11" name="TextBox 10">
            <a:extLst>
              <a:ext uri="{FF2B5EF4-FFF2-40B4-BE49-F238E27FC236}">
                <a16:creationId xmlns:a16="http://schemas.microsoft.com/office/drawing/2014/main" id="{E586C88A-4F8D-C042-92F9-253D84E1430C}"/>
              </a:ext>
            </a:extLst>
          </p:cNvPr>
          <p:cNvSpPr txBox="1"/>
          <p:nvPr/>
        </p:nvSpPr>
        <p:spPr>
          <a:xfrm>
            <a:off x="5974976" y="6488654"/>
            <a:ext cx="466794" cy="369332"/>
          </a:xfrm>
          <a:prstGeom prst="rect">
            <a:avLst/>
          </a:prstGeom>
          <a:noFill/>
        </p:spPr>
        <p:txBody>
          <a:bodyPr wrap="none" rtlCol="0">
            <a:spAutoFit/>
          </a:bodyPr>
          <a:lstStyle/>
          <a:p>
            <a:r>
              <a:rPr lang="en-US" dirty="0"/>
              <a:t>V1</a:t>
            </a:r>
          </a:p>
        </p:txBody>
      </p:sp>
      <p:sp>
        <p:nvSpPr>
          <p:cNvPr id="12" name="TextBox 11">
            <a:extLst>
              <a:ext uri="{FF2B5EF4-FFF2-40B4-BE49-F238E27FC236}">
                <a16:creationId xmlns:a16="http://schemas.microsoft.com/office/drawing/2014/main" id="{1D5C5EF6-0B54-3549-A50C-A5B025D0D6E4}"/>
              </a:ext>
            </a:extLst>
          </p:cNvPr>
          <p:cNvSpPr txBox="1"/>
          <p:nvPr/>
        </p:nvSpPr>
        <p:spPr>
          <a:xfrm>
            <a:off x="7803776" y="6488654"/>
            <a:ext cx="466794" cy="369332"/>
          </a:xfrm>
          <a:prstGeom prst="rect">
            <a:avLst/>
          </a:prstGeom>
          <a:noFill/>
        </p:spPr>
        <p:txBody>
          <a:bodyPr wrap="none" rtlCol="0">
            <a:spAutoFit/>
          </a:bodyPr>
          <a:lstStyle/>
          <a:p>
            <a:r>
              <a:rPr lang="en-US" dirty="0"/>
              <a:t>V2</a:t>
            </a:r>
          </a:p>
        </p:txBody>
      </p:sp>
      <p:pic>
        <p:nvPicPr>
          <p:cNvPr id="1026" name="Picture 2" descr="Flapper Check Valve - Indusrtrial Valve ...">
            <a:extLst>
              <a:ext uri="{FF2B5EF4-FFF2-40B4-BE49-F238E27FC236}">
                <a16:creationId xmlns:a16="http://schemas.microsoft.com/office/drawing/2014/main" id="{53808FDD-019C-120D-DE5B-2727385160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7400" y="2398270"/>
            <a:ext cx="2514600" cy="23520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06205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4"/>
          <p:cNvPicPr>
            <a:picLocks noChangeAspect="1"/>
          </p:cNvPicPr>
          <p:nvPr/>
        </p:nvPicPr>
        <p:blipFill>
          <a:blip r:embed="rId2"/>
          <a:srcRect/>
          <a:stretch>
            <a:fillRect/>
          </a:stretch>
        </p:blipFill>
        <p:spPr bwMode="auto">
          <a:xfrm>
            <a:off x="2590800" y="1219200"/>
            <a:ext cx="6229350" cy="5156200"/>
          </a:xfrm>
          <a:prstGeom prst="rect">
            <a:avLst/>
          </a:prstGeom>
          <a:noFill/>
          <a:ln w="9525">
            <a:noFill/>
            <a:miter lim="800000"/>
            <a:headEnd/>
            <a:tailEnd/>
          </a:ln>
        </p:spPr>
      </p:pic>
      <p:sp>
        <p:nvSpPr>
          <p:cNvPr id="18435" name="Title 1"/>
          <p:cNvSpPr>
            <a:spLocks noGrp="1"/>
          </p:cNvSpPr>
          <p:nvPr>
            <p:ph type="title"/>
          </p:nvPr>
        </p:nvSpPr>
        <p:spPr/>
        <p:txBody>
          <a:bodyPr/>
          <a:lstStyle/>
          <a:p>
            <a:pPr eaLnBrk="1" hangingPunct="1"/>
            <a:r>
              <a:rPr lang="en-US">
                <a:ea typeface="ＭＳ Ｐゴシック" pitchFamily="-1" charset="-128"/>
                <a:cs typeface="ＭＳ Ｐゴシック" pitchFamily="-1" charset="-128"/>
              </a:rPr>
              <a:t>Transistor as a valve</a:t>
            </a:r>
          </a:p>
        </p:txBody>
      </p:sp>
      <p:sp>
        <p:nvSpPr>
          <p:cNvPr id="18436" name="Content Placeholder 2"/>
          <p:cNvSpPr>
            <a:spLocks noGrp="1"/>
          </p:cNvSpPr>
          <p:nvPr>
            <p:ph idx="1"/>
          </p:nvPr>
        </p:nvSpPr>
        <p:spPr>
          <a:xfrm>
            <a:off x="457200" y="1600200"/>
            <a:ext cx="2590800" cy="4525963"/>
          </a:xfrm>
        </p:spPr>
        <p:txBody>
          <a:bodyPr/>
          <a:lstStyle/>
          <a:p>
            <a:pPr eaLnBrk="1" hangingPunct="1">
              <a:buFont typeface="Arial" pitchFamily="-1" charset="0"/>
              <a:buNone/>
            </a:pPr>
            <a:r>
              <a:rPr lang="en-US">
                <a:ea typeface="ＭＳ Ｐゴシック" pitchFamily="-1" charset="-128"/>
                <a:cs typeface="ＭＳ Ｐゴシック" pitchFamily="-1" charset="-128"/>
              </a:rPr>
              <a:t>	A small base-emitter current controls a much larger collector-emitter current</a:t>
            </a:r>
          </a:p>
        </p:txBody>
      </p:sp>
      <p:sp>
        <p:nvSpPr>
          <p:cNvPr id="18437" name="TextBox 5"/>
          <p:cNvSpPr txBox="1">
            <a:spLocks noChangeArrowheads="1"/>
          </p:cNvSpPr>
          <p:nvPr/>
        </p:nvSpPr>
        <p:spPr bwMode="auto">
          <a:xfrm>
            <a:off x="152400" y="6375400"/>
            <a:ext cx="9024938" cy="338138"/>
          </a:xfrm>
          <a:prstGeom prst="rect">
            <a:avLst/>
          </a:prstGeom>
          <a:noFill/>
          <a:ln w="9525">
            <a:noFill/>
            <a:miter lim="800000"/>
            <a:headEnd/>
            <a:tailEnd/>
          </a:ln>
        </p:spPr>
        <p:txBody>
          <a:bodyPr wrap="none">
            <a:prstTxWarp prst="textNoShape">
              <a:avLst/>
            </a:prstTxWarp>
            <a:spAutoFit/>
          </a:bodyPr>
          <a:lstStyle/>
          <a:p>
            <a:r>
              <a:rPr lang="en-US" sz="1600" dirty="0">
                <a:latin typeface="Calibri" pitchFamily="-1" charset="0"/>
                <a:hlinkClick r:id="rId3"/>
              </a:rPr>
              <a:t>http://www.satcure-focus.com/tutor/page4.htm</a:t>
            </a:r>
            <a:r>
              <a:rPr lang="en-US" sz="1600" dirty="0">
                <a:latin typeface="Calibri" pitchFamily="-1" charset="0"/>
              </a:rPr>
              <a:t> (google “transistor tutorial” for many other explanations)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6609C-598F-BE4E-B501-CE1E1C0B7A3F}"/>
              </a:ext>
            </a:extLst>
          </p:cNvPr>
          <p:cNvSpPr>
            <a:spLocks noGrp="1"/>
          </p:cNvSpPr>
          <p:nvPr>
            <p:ph type="title"/>
          </p:nvPr>
        </p:nvSpPr>
        <p:spPr/>
        <p:txBody>
          <a:bodyPr/>
          <a:lstStyle/>
          <a:p>
            <a:r>
              <a:rPr lang="en-US" dirty="0"/>
              <a:t>Some (minor) issues with the book</a:t>
            </a:r>
          </a:p>
        </p:txBody>
      </p:sp>
      <p:sp>
        <p:nvSpPr>
          <p:cNvPr id="3" name="Content Placeholder 2">
            <a:extLst>
              <a:ext uri="{FF2B5EF4-FFF2-40B4-BE49-F238E27FC236}">
                <a16:creationId xmlns:a16="http://schemas.microsoft.com/office/drawing/2014/main" id="{F3D77101-68EF-4349-B6CA-3D8AF07A5D1A}"/>
              </a:ext>
            </a:extLst>
          </p:cNvPr>
          <p:cNvSpPr>
            <a:spLocks noGrp="1"/>
          </p:cNvSpPr>
          <p:nvPr>
            <p:ph idx="1"/>
          </p:nvPr>
        </p:nvSpPr>
        <p:spPr/>
        <p:txBody>
          <a:bodyPr/>
          <a:lstStyle/>
          <a:p>
            <a:r>
              <a:rPr lang="en-US" sz="2400" dirty="0"/>
              <a:t>I find Fig 3.11-16 confusing … how is thinking of a transistor as 2 back-to-back diodes useful?</a:t>
            </a:r>
          </a:p>
          <a:p>
            <a:endParaRPr lang="en-US" sz="2400" dirty="0"/>
          </a:p>
          <a:p>
            <a:endParaRPr lang="en-US" sz="2400" dirty="0"/>
          </a:p>
          <a:p>
            <a:r>
              <a:rPr lang="en-US" sz="2400" dirty="0"/>
              <a:t>Fig. 3.15-16 confuses me because I’m accustomed to + voltages drawn at the top and – voltages at the bottom – so current tends to flow down </a:t>
            </a:r>
            <a:r>
              <a:rPr lang="en-US" sz="2400" dirty="0">
                <a:sym typeface="Wingdings" pitchFamily="2" charset="2"/>
              </a:rPr>
              <a:t> why draw this figure upside down? (I think they’re trying to make PNPs look more like upside down NPN’s …)</a:t>
            </a:r>
          </a:p>
          <a:p>
            <a:r>
              <a:rPr lang="en-US" sz="2400" dirty="0"/>
              <a:t>You can postpone reading about JFETs for now, we’ll come back to them later. </a:t>
            </a:r>
          </a:p>
          <a:p>
            <a:r>
              <a:rPr lang="en-US" sz="2400" dirty="0"/>
              <a:t>We will also just focus on NPN transistor circuits</a:t>
            </a:r>
          </a:p>
          <a:p>
            <a:endParaRPr lang="en-US" sz="2400" dirty="0">
              <a:sym typeface="Wingdings" pitchFamily="2" charset="2"/>
            </a:endParaRPr>
          </a:p>
          <a:p>
            <a:endParaRPr lang="en-US" sz="2400" dirty="0"/>
          </a:p>
        </p:txBody>
      </p:sp>
      <p:pic>
        <p:nvPicPr>
          <p:cNvPr id="4" name="Picture 5">
            <a:extLst>
              <a:ext uri="{FF2B5EF4-FFF2-40B4-BE49-F238E27FC236}">
                <a16:creationId xmlns:a16="http://schemas.microsoft.com/office/drawing/2014/main" id="{2C0AB4CB-838D-F64B-A8A0-CE7E4B47FA78}"/>
              </a:ext>
            </a:extLst>
          </p:cNvPr>
          <p:cNvPicPr>
            <a:picLocks noChangeAspect="1"/>
          </p:cNvPicPr>
          <p:nvPr/>
        </p:nvPicPr>
        <p:blipFill>
          <a:blip r:embed="rId2">
            <a:lum bright="22000" contrast="78000"/>
            <a:extLst>
              <a:ext uri="{28A0092B-C50C-407E-A947-70E740481C1C}">
                <a14:useLocalDpi xmlns:a14="http://schemas.microsoft.com/office/drawing/2010/main" val="0"/>
              </a:ext>
            </a:extLst>
          </a:blip>
          <a:srcRect l="38750" t="43750" r="5939" b="25000"/>
          <a:stretch>
            <a:fillRect/>
          </a:stretch>
        </p:blipFill>
        <p:spPr bwMode="auto">
          <a:xfrm>
            <a:off x="5791200" y="2057400"/>
            <a:ext cx="2643352" cy="112031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7207622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2" descr="measure the value of transistor - My electronic">
            <a:extLst>
              <a:ext uri="{FF2B5EF4-FFF2-40B4-BE49-F238E27FC236}">
                <a16:creationId xmlns:a16="http://schemas.microsoft.com/office/drawing/2014/main" id="{7D2F2C8C-09EC-4F45-8F93-056D080AC3E0}"/>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6503504" y="533400"/>
            <a:ext cx="2667000" cy="2667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D44ECB15-C02A-BF47-8542-53387B3F2DE6}"/>
              </a:ext>
            </a:extLst>
          </p:cNvPr>
          <p:cNvSpPr>
            <a:spLocks noGrp="1"/>
          </p:cNvSpPr>
          <p:nvPr>
            <p:ph type="title"/>
          </p:nvPr>
        </p:nvSpPr>
        <p:spPr/>
        <p:txBody>
          <a:bodyPr/>
          <a:lstStyle/>
          <a:p>
            <a:r>
              <a:rPr lang="en-US" dirty="0"/>
              <a:t>BJT Golden Rules      </a:t>
            </a:r>
          </a:p>
        </p:txBody>
      </p:sp>
      <p:sp>
        <p:nvSpPr>
          <p:cNvPr id="3" name="Content Placeholder 2">
            <a:extLst>
              <a:ext uri="{FF2B5EF4-FFF2-40B4-BE49-F238E27FC236}">
                <a16:creationId xmlns:a16="http://schemas.microsoft.com/office/drawing/2014/main" id="{4103E9E0-72F1-6E4A-8CDF-88ABEBFFE534}"/>
              </a:ext>
            </a:extLst>
          </p:cNvPr>
          <p:cNvSpPr>
            <a:spLocks noGrp="1"/>
          </p:cNvSpPr>
          <p:nvPr>
            <p:ph idx="1"/>
          </p:nvPr>
        </p:nvSpPr>
        <p:spPr>
          <a:xfrm>
            <a:off x="457200" y="1524000"/>
            <a:ext cx="8229600" cy="4525963"/>
          </a:xfrm>
        </p:spPr>
        <p:txBody>
          <a:bodyPr/>
          <a:lstStyle/>
          <a:p>
            <a:pPr marL="457200" indent="-457200">
              <a:buFont typeface="+mj-lt"/>
              <a:buAutoNum type="arabicPeriod"/>
            </a:pPr>
            <a:r>
              <a:rPr lang="en-US" dirty="0"/>
              <a:t>There are no golden rules … there are many </a:t>
            </a:r>
            <a:br>
              <a:rPr lang="en-US" dirty="0"/>
            </a:br>
            <a:r>
              <a:rPr lang="en-US" dirty="0"/>
              <a:t>configurations and possibilities with BJTs…</a:t>
            </a:r>
          </a:p>
          <a:p>
            <a:pPr marL="457200" indent="-457200">
              <a:buFont typeface="+mj-lt"/>
              <a:buAutoNum type="arabicPeriod"/>
            </a:pPr>
            <a:r>
              <a:rPr lang="en-US" dirty="0"/>
              <a:t>The base-emitter often </a:t>
            </a:r>
            <a:r>
              <a:rPr lang="en-US" i="1" dirty="0"/>
              <a:t>acts</a:t>
            </a:r>
            <a:r>
              <a:rPr lang="en-US" dirty="0"/>
              <a:t> like a diode</a:t>
            </a:r>
          </a:p>
          <a:p>
            <a:pPr marL="857250" lvl="1" indent="-457200">
              <a:buFont typeface="+mj-lt"/>
              <a:buAutoNum type="alphaLcParenR"/>
            </a:pPr>
            <a:r>
              <a:rPr lang="en-US" dirty="0"/>
              <a:t>If </a:t>
            </a:r>
            <a:r>
              <a:rPr lang="en-US" dirty="0" err="1"/>
              <a:t>V</a:t>
            </a:r>
            <a:r>
              <a:rPr lang="en-US" baseline="-25000" dirty="0" err="1"/>
              <a:t>be</a:t>
            </a:r>
            <a:r>
              <a:rPr lang="en-US" baseline="-25000" dirty="0"/>
              <a:t> </a:t>
            </a:r>
            <a:r>
              <a:rPr lang="en-US" dirty="0"/>
              <a:t>&lt; ~0.6V then </a:t>
            </a:r>
            <a:r>
              <a:rPr lang="en-US" dirty="0" err="1"/>
              <a:t>i</a:t>
            </a:r>
            <a:r>
              <a:rPr lang="en-US" baseline="-25000" dirty="0" err="1"/>
              <a:t>c</a:t>
            </a:r>
            <a:r>
              <a:rPr lang="en-US" dirty="0"/>
              <a:t> ~ 0 and the transistor is “off”</a:t>
            </a:r>
          </a:p>
          <a:p>
            <a:pPr marL="857250" lvl="1" indent="-457200">
              <a:buFont typeface="+mj-lt"/>
              <a:buAutoNum type="alphaLcParenR"/>
            </a:pPr>
            <a:r>
              <a:rPr lang="en-US" dirty="0"/>
              <a:t>If V</a:t>
            </a:r>
            <a:r>
              <a:rPr lang="en-US" baseline="-25000" dirty="0"/>
              <a:t>be</a:t>
            </a:r>
            <a:r>
              <a:rPr lang="en-US" dirty="0"/>
              <a:t>~0.6-0.7V (forward biased diode), the collector-emitter conducts</a:t>
            </a:r>
          </a:p>
          <a:p>
            <a:pPr marL="857250" lvl="1" indent="-457200">
              <a:buFont typeface="+mj-lt"/>
              <a:buAutoNum type="alphaLcParenR"/>
            </a:pPr>
            <a:r>
              <a:rPr lang="en-US" dirty="0"/>
              <a:t>Making </a:t>
            </a:r>
            <a:r>
              <a:rPr lang="en-US" dirty="0" err="1"/>
              <a:t>V</a:t>
            </a:r>
            <a:r>
              <a:rPr lang="en-US" baseline="-25000" dirty="0" err="1"/>
              <a:t>be</a:t>
            </a:r>
            <a:r>
              <a:rPr lang="en-US" dirty="0"/>
              <a:t>&gt;0.7V will likely destroy the device quickly </a:t>
            </a:r>
          </a:p>
          <a:p>
            <a:pPr marL="457200" indent="-457200">
              <a:buFont typeface="+mj-lt"/>
              <a:buAutoNum type="arabicPeriod"/>
            </a:pPr>
            <a:r>
              <a:rPr lang="en-US" dirty="0"/>
              <a:t>If not </a:t>
            </a:r>
            <a:r>
              <a:rPr lang="en-US" i="1" dirty="0"/>
              <a:t>saturated</a:t>
            </a:r>
            <a:r>
              <a:rPr lang="en-US" dirty="0"/>
              <a:t>, </a:t>
            </a:r>
            <a:r>
              <a:rPr lang="en-US" dirty="0" err="1"/>
              <a:t>i</a:t>
            </a:r>
            <a:r>
              <a:rPr lang="en-US" baseline="-25000" dirty="0" err="1"/>
              <a:t>c</a:t>
            </a:r>
            <a:r>
              <a:rPr lang="en-US" dirty="0"/>
              <a:t> = </a:t>
            </a:r>
            <a:r>
              <a:rPr lang="en-US" dirty="0">
                <a:latin typeface="Symbol" pitchFamily="2" charset="2"/>
              </a:rPr>
              <a:t>b</a:t>
            </a:r>
            <a:r>
              <a:rPr lang="en-US" dirty="0"/>
              <a:t> * </a:t>
            </a:r>
            <a:r>
              <a:rPr lang="en-US" dirty="0" err="1"/>
              <a:t>i</a:t>
            </a:r>
            <a:r>
              <a:rPr lang="en-US" baseline="-25000" dirty="0" err="1"/>
              <a:t>b</a:t>
            </a:r>
            <a:r>
              <a:rPr lang="en-US" dirty="0"/>
              <a:t> </a:t>
            </a:r>
          </a:p>
          <a:p>
            <a:pPr marL="457200" indent="-457200">
              <a:buFont typeface="+mj-lt"/>
              <a:buAutoNum type="arabicPeriod"/>
            </a:pPr>
            <a:r>
              <a:rPr lang="en-US" dirty="0"/>
              <a:t>The transistor will lower its collector-emitter voltage in order to satisfy (3.) But it can’t go below </a:t>
            </a:r>
            <a:r>
              <a:rPr lang="en-US" dirty="0" err="1"/>
              <a:t>V</a:t>
            </a:r>
            <a:r>
              <a:rPr lang="en-US" baseline="-25000" dirty="0" err="1"/>
              <a:t>ce</a:t>
            </a:r>
            <a:r>
              <a:rPr lang="en-US" dirty="0"/>
              <a:t>~ 0.01-0.3V</a:t>
            </a:r>
          </a:p>
          <a:p>
            <a:pPr marL="457200" indent="-457200">
              <a:buFont typeface="+mj-lt"/>
              <a:buAutoNum type="arabicPeriod"/>
            </a:pPr>
            <a:r>
              <a:rPr lang="en-US" dirty="0"/>
              <a:t>Like diodes (e.g., LEDs), external components are generally needed to keep base and collector currents at safe (for the device) values</a:t>
            </a:r>
          </a:p>
          <a:p>
            <a:pPr marL="457200" indent="-457200">
              <a:buFont typeface="+mj-lt"/>
              <a:buAutoNum type="arabicPeriod"/>
            </a:pPr>
            <a:r>
              <a:rPr lang="en-US" dirty="0"/>
              <a:t>… </a:t>
            </a:r>
          </a:p>
          <a:p>
            <a:pPr marL="457200" indent="-457200">
              <a:buFont typeface="+mj-lt"/>
              <a:buAutoNum type="arabicPeriod"/>
            </a:pPr>
            <a:endParaRPr lang="en-US" dirty="0"/>
          </a:p>
        </p:txBody>
      </p:sp>
      <p:pic>
        <p:nvPicPr>
          <p:cNvPr id="4100" name="Picture 4">
            <a:extLst>
              <a:ext uri="{FF2B5EF4-FFF2-40B4-BE49-F238E27FC236}">
                <a16:creationId xmlns:a16="http://schemas.microsoft.com/office/drawing/2014/main" id="{F4FDDAEE-A2AC-094A-BF8A-D790BEFB4D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2800" y="3467183"/>
            <a:ext cx="457200" cy="45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23894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33A83-68FF-7147-9935-3EFC4A6FBE2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2FC5302-1D68-3F47-9A8D-7D7DC9583188}"/>
              </a:ext>
            </a:extLst>
          </p:cNvPr>
          <p:cNvSpPr>
            <a:spLocks noGrp="1"/>
          </p:cNvSpPr>
          <p:nvPr>
            <p:ph idx="1"/>
          </p:nvPr>
        </p:nvSpPr>
        <p:spPr/>
        <p:txBody>
          <a:bodyPr/>
          <a:lstStyle/>
          <a:p>
            <a:r>
              <a:rPr lang="en-US" dirty="0" err="1"/>
              <a:t>Matlab</a:t>
            </a:r>
            <a:r>
              <a:rPr lang="en-US" dirty="0"/>
              <a:t> transistor gain activity </a:t>
            </a:r>
          </a:p>
        </p:txBody>
      </p:sp>
    </p:spTree>
    <p:extLst>
      <p:ext uri="{BB962C8B-B14F-4D97-AF65-F5344CB8AC3E}">
        <p14:creationId xmlns:p14="http://schemas.microsoft.com/office/powerpoint/2010/main" val="26115254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74F90-ECFF-1B46-B1A7-707D2377FC94}"/>
              </a:ext>
            </a:extLst>
          </p:cNvPr>
          <p:cNvSpPr>
            <a:spLocks noGrp="1"/>
          </p:cNvSpPr>
          <p:nvPr>
            <p:ph type="title"/>
          </p:nvPr>
        </p:nvSpPr>
        <p:spPr/>
        <p:txBody>
          <a:bodyPr/>
          <a:lstStyle/>
          <a:p>
            <a:r>
              <a:rPr lang="en-US" dirty="0"/>
              <a:t>Saturation</a:t>
            </a:r>
          </a:p>
        </p:txBody>
      </p:sp>
      <p:sp>
        <p:nvSpPr>
          <p:cNvPr id="3" name="Content Placeholder 2">
            <a:extLst>
              <a:ext uri="{FF2B5EF4-FFF2-40B4-BE49-F238E27FC236}">
                <a16:creationId xmlns:a16="http://schemas.microsoft.com/office/drawing/2014/main" id="{CB2DC309-0C0E-5947-B26B-822786E5171F}"/>
              </a:ext>
            </a:extLst>
          </p:cNvPr>
          <p:cNvSpPr>
            <a:spLocks noGrp="1"/>
          </p:cNvSpPr>
          <p:nvPr>
            <p:ph idx="1"/>
          </p:nvPr>
        </p:nvSpPr>
        <p:spPr/>
        <p:txBody>
          <a:bodyPr/>
          <a:lstStyle/>
          <a:p>
            <a:r>
              <a:rPr lang="en-US" dirty="0"/>
              <a:t>What happens if we change R</a:t>
            </a:r>
            <a:r>
              <a:rPr lang="en-US" baseline="-25000" dirty="0"/>
              <a:t>L </a:t>
            </a:r>
            <a:r>
              <a:rPr lang="en-US" dirty="0"/>
              <a:t>to 2k</a:t>
            </a:r>
            <a:r>
              <a:rPr lang="en-US" dirty="0">
                <a:latin typeface="Symbol" pitchFamily="2" charset="2"/>
              </a:rPr>
              <a:t>W, 10KW</a:t>
            </a:r>
            <a:r>
              <a:rPr lang="en-US" dirty="0"/>
              <a:t>? </a:t>
            </a:r>
          </a:p>
          <a:p>
            <a:pPr lvl="1"/>
            <a:r>
              <a:rPr lang="en-US" dirty="0"/>
              <a:t>Swap the component and repeat the experiment … </a:t>
            </a:r>
          </a:p>
          <a:p>
            <a:pPr lvl="1"/>
            <a:r>
              <a:rPr lang="en-US" dirty="0"/>
              <a:t>The second time is much faster … </a:t>
            </a:r>
          </a:p>
          <a:p>
            <a:pPr lvl="1"/>
            <a:r>
              <a:rPr lang="en-US" dirty="0"/>
              <a:t>Did you forget to change </a:t>
            </a:r>
            <a:r>
              <a:rPr lang="en-US" dirty="0" err="1"/>
              <a:t>Rc</a:t>
            </a:r>
            <a:r>
              <a:rPr lang="en-US" dirty="0"/>
              <a:t> in the </a:t>
            </a:r>
            <a:r>
              <a:rPr lang="en-US" dirty="0" err="1"/>
              <a:t>Matlab</a:t>
            </a:r>
            <a:r>
              <a:rPr lang="en-US" dirty="0"/>
              <a:t> code?</a:t>
            </a:r>
          </a:p>
        </p:txBody>
      </p:sp>
      <p:grpSp>
        <p:nvGrpSpPr>
          <p:cNvPr id="4" name="Group 3">
            <a:extLst>
              <a:ext uri="{FF2B5EF4-FFF2-40B4-BE49-F238E27FC236}">
                <a16:creationId xmlns:a16="http://schemas.microsoft.com/office/drawing/2014/main" id="{04B78326-C35A-924D-8858-745B265E9011}"/>
              </a:ext>
            </a:extLst>
          </p:cNvPr>
          <p:cNvGrpSpPr/>
          <p:nvPr/>
        </p:nvGrpSpPr>
        <p:grpSpPr>
          <a:xfrm>
            <a:off x="4065681" y="3684153"/>
            <a:ext cx="4976445" cy="2743200"/>
            <a:chOff x="4027854" y="1143000"/>
            <a:chExt cx="4976445" cy="2743200"/>
          </a:xfrm>
        </p:grpSpPr>
        <p:pic>
          <p:nvPicPr>
            <p:cNvPr id="5" name="Picture 4">
              <a:extLst>
                <a:ext uri="{FF2B5EF4-FFF2-40B4-BE49-F238E27FC236}">
                  <a16:creationId xmlns:a16="http://schemas.microsoft.com/office/drawing/2014/main" id="{9772E93D-2D8E-B543-9E8F-405086808A0D}"/>
                </a:ext>
              </a:extLst>
            </p:cNvPr>
            <p:cNvPicPr>
              <a:picLocks noChangeAspect="1"/>
            </p:cNvPicPr>
            <p:nvPr/>
          </p:nvPicPr>
          <p:blipFill rotWithShape="1">
            <a:blip r:embed="rId2" cstate="print">
              <a:extLst>
                <a:ext uri="{BEBA8EAE-BF5A-486C-A8C5-ECC9F3942E4B}">
                  <a14:imgProps xmlns:a14="http://schemas.microsoft.com/office/drawing/2010/main">
                    <a14:imgLayer r:embed="rId3">
                      <a14:imgEffect>
                        <a14:sharpenSoften amount="100000"/>
                      </a14:imgEffect>
                      <a14:imgEffect>
                        <a14:brightnessContrast contrast="51000"/>
                      </a14:imgEffect>
                    </a14:imgLayer>
                  </a14:imgProps>
                </a:ext>
                <a:ext uri="{28A0092B-C50C-407E-A947-70E740481C1C}">
                  <a14:useLocalDpi xmlns:a14="http://schemas.microsoft.com/office/drawing/2010/main"/>
                </a:ext>
              </a:extLst>
            </a:blip>
            <a:srcRect/>
            <a:stretch/>
          </p:blipFill>
          <p:spPr>
            <a:xfrm>
              <a:off x="4027854" y="1143000"/>
              <a:ext cx="4976445" cy="2743200"/>
            </a:xfrm>
            <a:prstGeom prst="rect">
              <a:avLst/>
            </a:prstGeom>
          </p:spPr>
        </p:pic>
        <p:sp>
          <p:nvSpPr>
            <p:cNvPr id="6" name="TextBox 5">
              <a:extLst>
                <a:ext uri="{FF2B5EF4-FFF2-40B4-BE49-F238E27FC236}">
                  <a16:creationId xmlns:a16="http://schemas.microsoft.com/office/drawing/2014/main" id="{FEB6F001-37CE-4848-9A78-BB4325D91913}"/>
                </a:ext>
              </a:extLst>
            </p:cNvPr>
            <p:cNvSpPr txBox="1"/>
            <p:nvPr/>
          </p:nvSpPr>
          <p:spPr>
            <a:xfrm>
              <a:off x="7010400" y="1571866"/>
              <a:ext cx="740908" cy="369332"/>
            </a:xfrm>
            <a:prstGeom prst="rect">
              <a:avLst/>
            </a:prstGeom>
            <a:noFill/>
          </p:spPr>
          <p:txBody>
            <a:bodyPr wrap="none" rtlCol="0">
              <a:spAutoFit/>
            </a:bodyPr>
            <a:lstStyle/>
            <a:p>
              <a:r>
                <a:rPr lang="en-US" dirty="0"/>
                <a:t>=1k</a:t>
              </a:r>
              <a:r>
                <a:rPr lang="en-US" dirty="0">
                  <a:latin typeface="Symbol" pitchFamily="2" charset="2"/>
                </a:rPr>
                <a:t>W</a:t>
              </a:r>
            </a:p>
          </p:txBody>
        </p:sp>
        <p:sp>
          <p:nvSpPr>
            <p:cNvPr id="7" name="TextBox 6">
              <a:extLst>
                <a:ext uri="{FF2B5EF4-FFF2-40B4-BE49-F238E27FC236}">
                  <a16:creationId xmlns:a16="http://schemas.microsoft.com/office/drawing/2014/main" id="{067EC819-CDB4-E341-A04D-181E8BF8C235}"/>
                </a:ext>
              </a:extLst>
            </p:cNvPr>
            <p:cNvSpPr txBox="1"/>
            <p:nvPr/>
          </p:nvSpPr>
          <p:spPr>
            <a:xfrm>
              <a:off x="5638800" y="2345412"/>
              <a:ext cx="734496" cy="369332"/>
            </a:xfrm>
            <a:prstGeom prst="rect">
              <a:avLst/>
            </a:prstGeom>
            <a:noFill/>
          </p:spPr>
          <p:txBody>
            <a:bodyPr wrap="none" rtlCol="0">
              <a:spAutoFit/>
            </a:bodyPr>
            <a:lstStyle/>
            <a:p>
              <a:r>
                <a:rPr lang="en-US" dirty="0"/>
                <a:t>22k</a:t>
              </a:r>
              <a:r>
                <a:rPr lang="en-US" dirty="0">
                  <a:latin typeface="Symbol" pitchFamily="2" charset="2"/>
                </a:rPr>
                <a:t>W</a:t>
              </a:r>
            </a:p>
          </p:txBody>
        </p:sp>
      </p:grpSp>
      <p:sp>
        <p:nvSpPr>
          <p:cNvPr id="8" name="TextBox 7">
            <a:extLst>
              <a:ext uri="{FF2B5EF4-FFF2-40B4-BE49-F238E27FC236}">
                <a16:creationId xmlns:a16="http://schemas.microsoft.com/office/drawing/2014/main" id="{C7039017-EF62-494B-B24C-0B8B3A4B5B39}"/>
              </a:ext>
            </a:extLst>
          </p:cNvPr>
          <p:cNvSpPr txBox="1"/>
          <p:nvPr/>
        </p:nvSpPr>
        <p:spPr>
          <a:xfrm>
            <a:off x="4648200" y="5147846"/>
            <a:ext cx="685800" cy="338554"/>
          </a:xfrm>
          <a:prstGeom prst="rect">
            <a:avLst/>
          </a:prstGeom>
          <a:solidFill>
            <a:schemeClr val="bg1"/>
          </a:solidFill>
        </p:spPr>
        <p:txBody>
          <a:bodyPr wrap="square" rtlCol="0">
            <a:spAutoFit/>
          </a:bodyPr>
          <a:lstStyle/>
          <a:p>
            <a:pPr algn="r"/>
            <a:r>
              <a:rPr lang="en-US" sz="1600" dirty="0"/>
              <a:t>20K</a:t>
            </a:r>
            <a:endParaRPr lang="en-US" sz="1600" baseline="-25000" dirty="0"/>
          </a:p>
        </p:txBody>
      </p:sp>
      <p:sp>
        <p:nvSpPr>
          <p:cNvPr id="9" name="TextBox 8">
            <a:extLst>
              <a:ext uri="{FF2B5EF4-FFF2-40B4-BE49-F238E27FC236}">
                <a16:creationId xmlns:a16="http://schemas.microsoft.com/office/drawing/2014/main" id="{1DA46741-541B-2E4B-8888-98C587A4582A}"/>
              </a:ext>
            </a:extLst>
          </p:cNvPr>
          <p:cNvSpPr txBox="1"/>
          <p:nvPr/>
        </p:nvSpPr>
        <p:spPr>
          <a:xfrm>
            <a:off x="5638800" y="4995446"/>
            <a:ext cx="685800" cy="338554"/>
          </a:xfrm>
          <a:prstGeom prst="rect">
            <a:avLst/>
          </a:prstGeom>
          <a:solidFill>
            <a:schemeClr val="bg1"/>
          </a:solidFill>
        </p:spPr>
        <p:txBody>
          <a:bodyPr wrap="square" rtlCol="0">
            <a:spAutoFit/>
          </a:bodyPr>
          <a:lstStyle/>
          <a:p>
            <a:pPr algn="r"/>
            <a:r>
              <a:rPr lang="en-US" sz="1600" dirty="0"/>
              <a:t>1M</a:t>
            </a:r>
            <a:r>
              <a:rPr lang="en-US" sz="1600" dirty="0">
                <a:latin typeface="Symbol" pitchFamily="2" charset="2"/>
              </a:rPr>
              <a:t>W</a:t>
            </a:r>
            <a:endParaRPr lang="en-US" sz="1600" baseline="-25000" dirty="0">
              <a:latin typeface="Symbol" pitchFamily="2" charset="2"/>
            </a:endParaRPr>
          </a:p>
        </p:txBody>
      </p:sp>
    </p:spTree>
    <p:extLst>
      <p:ext uri="{BB962C8B-B14F-4D97-AF65-F5344CB8AC3E}">
        <p14:creationId xmlns:p14="http://schemas.microsoft.com/office/powerpoint/2010/main" val="5413833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67C9B26-30EA-544A-97BD-9EEFF50E4338}"/>
              </a:ext>
            </a:extLst>
          </p:cNvPr>
          <p:cNvPicPr>
            <a:picLocks noChangeAspect="1"/>
          </p:cNvPicPr>
          <p:nvPr/>
        </p:nvPicPr>
        <p:blipFill>
          <a:blip r:embed="rId2"/>
          <a:stretch>
            <a:fillRect/>
          </a:stretch>
        </p:blipFill>
        <p:spPr>
          <a:xfrm>
            <a:off x="4191000" y="1485900"/>
            <a:ext cx="5181600" cy="3886200"/>
          </a:xfrm>
          <a:prstGeom prst="rect">
            <a:avLst/>
          </a:prstGeom>
        </p:spPr>
      </p:pic>
      <p:sp>
        <p:nvSpPr>
          <p:cNvPr id="2" name="Title 1">
            <a:extLst>
              <a:ext uri="{FF2B5EF4-FFF2-40B4-BE49-F238E27FC236}">
                <a16:creationId xmlns:a16="http://schemas.microsoft.com/office/drawing/2014/main" id="{E5F3996A-21FF-2142-B89E-D3CF5FE8DEBD}"/>
              </a:ext>
            </a:extLst>
          </p:cNvPr>
          <p:cNvSpPr>
            <a:spLocks noGrp="1"/>
          </p:cNvSpPr>
          <p:nvPr>
            <p:ph type="title"/>
          </p:nvPr>
        </p:nvSpPr>
        <p:spPr/>
        <p:txBody>
          <a:bodyPr/>
          <a:lstStyle/>
          <a:p>
            <a:r>
              <a:rPr lang="en-US" dirty="0"/>
              <a:t>Saturation</a:t>
            </a:r>
          </a:p>
        </p:txBody>
      </p:sp>
      <p:sp>
        <p:nvSpPr>
          <p:cNvPr id="3" name="Content Placeholder 2">
            <a:extLst>
              <a:ext uri="{FF2B5EF4-FFF2-40B4-BE49-F238E27FC236}">
                <a16:creationId xmlns:a16="http://schemas.microsoft.com/office/drawing/2014/main" id="{C902CB99-9A00-BA4D-9B52-A767C86DFE10}"/>
              </a:ext>
            </a:extLst>
          </p:cNvPr>
          <p:cNvSpPr>
            <a:spLocks noGrp="1"/>
          </p:cNvSpPr>
          <p:nvPr>
            <p:ph idx="1"/>
          </p:nvPr>
        </p:nvSpPr>
        <p:spPr>
          <a:xfrm>
            <a:off x="457200" y="1600200"/>
            <a:ext cx="5105400" cy="4876800"/>
          </a:xfrm>
        </p:spPr>
        <p:txBody>
          <a:bodyPr/>
          <a:lstStyle/>
          <a:p>
            <a:pPr marL="0" indent="0">
              <a:buNone/>
            </a:pPr>
            <a:r>
              <a:rPr lang="en-US" sz="1400" dirty="0">
                <a:latin typeface="Courier New" panose="02070309020205020404" pitchFamily="49" charset="0"/>
                <a:cs typeface="Courier New" panose="02070309020205020404" pitchFamily="49" charset="0"/>
              </a:rPr>
              <a:t>&gt;&gt; </a:t>
            </a:r>
            <a:r>
              <a:rPr lang="en-US" sz="1400" dirty="0" err="1">
                <a:latin typeface="Courier New" panose="02070309020205020404" pitchFamily="49" charset="0"/>
                <a:cs typeface="Courier New" panose="02070309020205020404" pitchFamily="49" charset="0"/>
              </a:rPr>
              <a:t>indx</a:t>
            </a:r>
            <a:r>
              <a:rPr lang="en-US" sz="1400" dirty="0">
                <a:latin typeface="Courier New" panose="02070309020205020404" pitchFamily="49" charset="0"/>
                <a:cs typeface="Courier New" panose="02070309020205020404" pitchFamily="49" charset="0"/>
              </a:rPr>
              <a:t> = </a:t>
            </a:r>
            <a:r>
              <a:rPr lang="en-US" sz="1400" dirty="0" err="1">
                <a:latin typeface="Courier New" panose="02070309020205020404" pitchFamily="49" charset="0"/>
                <a:cs typeface="Courier New" panose="02070309020205020404" pitchFamily="49" charset="0"/>
              </a:rPr>
              <a:t>ib</a:t>
            </a:r>
            <a:r>
              <a:rPr lang="en-US" sz="1400" dirty="0">
                <a:latin typeface="Courier New" panose="02070309020205020404" pitchFamily="49" charset="0"/>
                <a:cs typeface="Courier New" panose="02070309020205020404" pitchFamily="49" charset="0"/>
              </a:rPr>
              <a:t> &lt; .006; </a:t>
            </a:r>
          </a:p>
          <a:p>
            <a:pPr marL="0" indent="0">
              <a:buNone/>
            </a:pPr>
            <a:r>
              <a:rPr lang="en-US" sz="1400" dirty="0">
                <a:latin typeface="Courier New" panose="02070309020205020404" pitchFamily="49" charset="0"/>
                <a:cs typeface="Courier New" panose="02070309020205020404" pitchFamily="49" charset="0"/>
              </a:rPr>
              <a:t>&gt;&gt; p = </a:t>
            </a:r>
            <a:r>
              <a:rPr lang="en-US" sz="1400" dirty="0" err="1">
                <a:latin typeface="Courier New" panose="02070309020205020404" pitchFamily="49" charset="0"/>
                <a:cs typeface="Courier New" panose="02070309020205020404" pitchFamily="49" charset="0"/>
              </a:rPr>
              <a:t>polyfit</a:t>
            </a:r>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ib</a:t>
            </a:r>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indx</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ic</a:t>
            </a:r>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indx</a:t>
            </a:r>
            <a:r>
              <a:rPr lang="en-US" sz="1400" dirty="0">
                <a:latin typeface="Courier New" panose="02070309020205020404" pitchFamily="49" charset="0"/>
                <a:cs typeface="Courier New" panose="02070309020205020404" pitchFamily="49" charset="0"/>
              </a:rPr>
              <a:t>), 1)</a:t>
            </a:r>
          </a:p>
          <a:p>
            <a:pPr marL="0" indent="0">
              <a:buNone/>
            </a:pPr>
            <a:r>
              <a:rPr lang="en-US" sz="1400" dirty="0" err="1">
                <a:latin typeface="Courier New" panose="02070309020205020404" pitchFamily="49" charset="0"/>
                <a:cs typeface="Courier New" panose="02070309020205020404" pitchFamily="49" charset="0"/>
              </a:rPr>
              <a:t>ans</a:t>
            </a:r>
            <a:r>
              <a:rPr lang="en-US" sz="1400" dirty="0">
                <a:latin typeface="Courier New" panose="02070309020205020404" pitchFamily="49" charset="0"/>
                <a:cs typeface="Courier New" panose="02070309020205020404" pitchFamily="49" charset="0"/>
              </a:rPr>
              <a:t> =</a:t>
            </a:r>
          </a:p>
          <a:p>
            <a:pPr marL="0" indent="0">
              <a:buNone/>
            </a:pPr>
            <a:r>
              <a:rPr lang="en-US" sz="1400" dirty="0">
                <a:latin typeface="Courier New" panose="02070309020205020404" pitchFamily="49" charset="0"/>
                <a:cs typeface="Courier New" panose="02070309020205020404" pitchFamily="49" charset="0"/>
              </a:rPr>
              <a:t>  331.0971    0.0037</a:t>
            </a:r>
          </a:p>
          <a:p>
            <a:pPr marL="0" indent="0">
              <a:buNone/>
            </a:pPr>
            <a:r>
              <a:rPr lang="en-US" sz="1400" dirty="0">
                <a:latin typeface="Courier New" panose="02070309020205020404" pitchFamily="49" charset="0"/>
                <a:cs typeface="Courier New" panose="02070309020205020404" pitchFamily="49" charset="0"/>
              </a:rPr>
              <a:t>&gt;&gt; mean(</a:t>
            </a:r>
            <a:r>
              <a:rPr lang="en-US" sz="1400" dirty="0" err="1">
                <a:latin typeface="Courier New" panose="02070309020205020404" pitchFamily="49" charset="0"/>
                <a:cs typeface="Courier New" panose="02070309020205020404" pitchFamily="49" charset="0"/>
              </a:rPr>
              <a:t>ic</a:t>
            </a:r>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indx</a:t>
            </a:r>
            <a:r>
              <a:rPr lang="en-US" sz="1400" dirty="0">
                <a:latin typeface="Courier New" panose="02070309020205020404" pitchFamily="49" charset="0"/>
                <a:cs typeface="Courier New" panose="02070309020205020404" pitchFamily="49" charset="0"/>
              </a:rPr>
              <a:t>))</a:t>
            </a:r>
          </a:p>
          <a:p>
            <a:pPr marL="0" indent="0">
              <a:buNone/>
            </a:pPr>
            <a:r>
              <a:rPr lang="en-US" sz="1400" dirty="0" err="1">
                <a:latin typeface="Courier New" panose="02070309020205020404" pitchFamily="49" charset="0"/>
                <a:cs typeface="Courier New" panose="02070309020205020404" pitchFamily="49" charset="0"/>
              </a:rPr>
              <a:t>ans</a:t>
            </a:r>
            <a:r>
              <a:rPr lang="en-US" sz="1400" dirty="0">
                <a:latin typeface="Courier New" panose="02070309020205020404" pitchFamily="49" charset="0"/>
                <a:cs typeface="Courier New" panose="02070309020205020404" pitchFamily="49" charset="0"/>
              </a:rPr>
              <a:t> =</a:t>
            </a:r>
          </a:p>
          <a:p>
            <a:pPr marL="0" indent="0">
              <a:buNone/>
            </a:pPr>
            <a:r>
              <a:rPr lang="en-US" sz="1400" dirty="0">
                <a:latin typeface="Courier New" panose="02070309020205020404" pitchFamily="49" charset="0"/>
                <a:cs typeface="Courier New" panose="02070309020205020404" pitchFamily="49" charset="0"/>
              </a:rPr>
              <a:t>    2.2285 </a:t>
            </a:r>
          </a:p>
          <a:p>
            <a:pPr marL="0" indent="0">
              <a:buNone/>
            </a:pPr>
            <a:r>
              <a:rPr lang="en-US" sz="1400" dirty="0">
                <a:latin typeface="Courier New" panose="02070309020205020404" pitchFamily="49" charset="0"/>
                <a:cs typeface="Courier New" panose="02070309020205020404" pitchFamily="49" charset="0"/>
              </a:rPr>
              <a:t>&gt;&gt; (</a:t>
            </a:r>
            <a:r>
              <a:rPr lang="en-US" sz="1400" dirty="0" err="1">
                <a:latin typeface="Courier New" panose="02070309020205020404" pitchFamily="49" charset="0"/>
                <a:cs typeface="Courier New" panose="02070309020205020404" pitchFamily="49" charset="0"/>
              </a:rPr>
              <a:t>Vref</a:t>
            </a:r>
            <a:r>
              <a:rPr lang="en-US" sz="1400" dirty="0">
                <a:latin typeface="Courier New" panose="02070309020205020404" pitchFamily="49" charset="0"/>
                <a:cs typeface="Courier New" panose="02070309020205020404" pitchFamily="49" charset="0"/>
              </a:rPr>
              <a:t>-min(data1(:,3)))/2</a:t>
            </a:r>
          </a:p>
          <a:p>
            <a:pPr marL="0" indent="0">
              <a:buNone/>
            </a:pPr>
            <a:r>
              <a:rPr lang="en-US" sz="1400" dirty="0" err="1">
                <a:latin typeface="Courier New" panose="02070309020205020404" pitchFamily="49" charset="0"/>
                <a:cs typeface="Courier New" panose="02070309020205020404" pitchFamily="49" charset="0"/>
              </a:rPr>
              <a:t>ans</a:t>
            </a:r>
            <a:r>
              <a:rPr lang="en-US" sz="1400" dirty="0">
                <a:latin typeface="Courier New" panose="02070309020205020404" pitchFamily="49" charset="0"/>
                <a:cs typeface="Courier New" panose="02070309020205020404" pitchFamily="49" charset="0"/>
              </a:rPr>
              <a:t> =</a:t>
            </a:r>
          </a:p>
          <a:p>
            <a:pPr marL="0" indent="0">
              <a:buNone/>
            </a:pPr>
            <a:r>
              <a:rPr lang="en-US" sz="1400" dirty="0">
                <a:latin typeface="Courier New" panose="02070309020205020404" pitchFamily="49" charset="0"/>
                <a:cs typeface="Courier New" panose="02070309020205020404" pitchFamily="49" charset="0"/>
              </a:rPr>
              <a:t>    2.2550</a:t>
            </a:r>
          </a:p>
          <a:p>
            <a:r>
              <a:rPr lang="en-US" sz="2000" dirty="0" err="1"/>
              <a:t>R</a:t>
            </a:r>
            <a:r>
              <a:rPr lang="en-US" sz="2000" baseline="-25000" dirty="0" err="1"/>
              <a:t>c</a:t>
            </a:r>
            <a:r>
              <a:rPr lang="en-US" sz="2000" baseline="-25000" dirty="0"/>
              <a:t> </a:t>
            </a:r>
            <a:r>
              <a:rPr lang="en-US" sz="2000" dirty="0"/>
              <a:t>= 2k</a:t>
            </a:r>
            <a:r>
              <a:rPr lang="en-US" sz="2000" dirty="0">
                <a:latin typeface="Symbol" pitchFamily="2" charset="2"/>
              </a:rPr>
              <a:t>W</a:t>
            </a:r>
            <a:r>
              <a:rPr lang="en-US" sz="2000" dirty="0"/>
              <a:t> saturated </a:t>
            </a:r>
            <a:r>
              <a:rPr lang="en-US" sz="2000" dirty="0" err="1"/>
              <a:t>i</a:t>
            </a:r>
            <a:r>
              <a:rPr lang="en-US" sz="2000" baseline="-25000" dirty="0" err="1"/>
              <a:t>c</a:t>
            </a:r>
            <a:r>
              <a:rPr lang="en-US" sz="2000" dirty="0"/>
              <a:t> at  2.23mA, </a:t>
            </a:r>
            <a:br>
              <a:rPr lang="en-US" sz="2000" dirty="0"/>
            </a:br>
            <a:r>
              <a:rPr lang="en-US" sz="2000" dirty="0"/>
              <a:t>with V</a:t>
            </a:r>
            <a:r>
              <a:rPr lang="en-US" sz="2000" baseline="-25000" dirty="0"/>
              <a:t>CE</a:t>
            </a:r>
            <a:r>
              <a:rPr lang="en-US" sz="2000" dirty="0"/>
              <a:t> = 0.23V – the transistor</a:t>
            </a:r>
            <a:br>
              <a:rPr lang="en-US" sz="2000" dirty="0"/>
            </a:br>
            <a:r>
              <a:rPr lang="en-US" sz="2000" dirty="0"/>
              <a:t>couldn’t go lower</a:t>
            </a:r>
          </a:p>
          <a:p>
            <a:pPr marL="0" indent="0">
              <a:buNone/>
            </a:pPr>
            <a:endParaRPr lang="en-US" sz="12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0469021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D21C-69E7-904B-A85E-6461EC3E089F}"/>
              </a:ext>
            </a:extLst>
          </p:cNvPr>
          <p:cNvSpPr>
            <a:spLocks noGrp="1"/>
          </p:cNvSpPr>
          <p:nvPr>
            <p:ph type="title"/>
          </p:nvPr>
        </p:nvSpPr>
        <p:spPr/>
        <p:txBody>
          <a:bodyPr/>
          <a:lstStyle/>
          <a:p>
            <a:r>
              <a:rPr lang="en-US" dirty="0"/>
              <a:t>What happens in saturation?</a:t>
            </a:r>
          </a:p>
        </p:txBody>
      </p:sp>
      <p:sp>
        <p:nvSpPr>
          <p:cNvPr id="3" name="Content Placeholder 2">
            <a:extLst>
              <a:ext uri="{FF2B5EF4-FFF2-40B4-BE49-F238E27FC236}">
                <a16:creationId xmlns:a16="http://schemas.microsoft.com/office/drawing/2014/main" id="{2E17EA3A-5599-C64A-9C06-AF1EB386FD12}"/>
              </a:ext>
            </a:extLst>
          </p:cNvPr>
          <p:cNvSpPr>
            <a:spLocks noGrp="1"/>
          </p:cNvSpPr>
          <p:nvPr>
            <p:ph idx="1"/>
          </p:nvPr>
        </p:nvSpPr>
        <p:spPr>
          <a:xfrm>
            <a:off x="457200" y="1600200"/>
            <a:ext cx="4191000" cy="4525963"/>
          </a:xfrm>
        </p:spPr>
        <p:txBody>
          <a:bodyPr/>
          <a:lstStyle/>
          <a:p>
            <a:r>
              <a:rPr lang="en-US" dirty="0"/>
              <a:t>“Transistor man” adjusts a variable resistor that’s a voltage divider with </a:t>
            </a:r>
            <a:r>
              <a:rPr lang="en-US" dirty="0" err="1"/>
              <a:t>R</a:t>
            </a:r>
            <a:r>
              <a:rPr lang="en-US" baseline="-25000" dirty="0" err="1"/>
              <a:t>c</a:t>
            </a:r>
            <a:r>
              <a:rPr lang="en-US" dirty="0"/>
              <a:t>. Once set to its minimum value (R=</a:t>
            </a:r>
            <a:r>
              <a:rPr lang="en-US" dirty="0" err="1"/>
              <a:t>V</a:t>
            </a:r>
            <a:r>
              <a:rPr lang="en-US" baseline="-25000" dirty="0" err="1"/>
              <a:t>ce</a:t>
            </a:r>
            <a:r>
              <a:rPr lang="en-US" dirty="0"/>
              <a:t>/</a:t>
            </a:r>
            <a:r>
              <a:rPr lang="en-US" dirty="0" err="1"/>
              <a:t>i</a:t>
            </a:r>
            <a:r>
              <a:rPr lang="en-US" baseline="-25000" dirty="0" err="1"/>
              <a:t>c</a:t>
            </a:r>
            <a:r>
              <a:rPr lang="en-US" dirty="0"/>
              <a:t>), it can’t go any lower</a:t>
            </a:r>
          </a:p>
          <a:p>
            <a:r>
              <a:rPr lang="en-US" dirty="0" err="1"/>
              <a:t>i</a:t>
            </a:r>
            <a:r>
              <a:rPr lang="en-US" baseline="-25000" dirty="0" err="1"/>
              <a:t>c</a:t>
            </a:r>
            <a:r>
              <a:rPr lang="en-US" dirty="0"/>
              <a:t> is now saturated at (</a:t>
            </a:r>
            <a:r>
              <a:rPr lang="en-US" dirty="0" err="1"/>
              <a:t>V</a:t>
            </a:r>
            <a:r>
              <a:rPr lang="en-US" baseline="-25000" dirty="0" err="1"/>
              <a:t>cc</a:t>
            </a:r>
            <a:r>
              <a:rPr lang="en-US" dirty="0" err="1"/>
              <a:t>-V</a:t>
            </a:r>
            <a:r>
              <a:rPr lang="en-US" baseline="-25000" dirty="0" err="1"/>
              <a:t>ce</a:t>
            </a:r>
            <a:r>
              <a:rPr lang="en-US" dirty="0"/>
              <a:t>)/</a:t>
            </a:r>
            <a:r>
              <a:rPr lang="en-US" dirty="0" err="1"/>
              <a:t>R</a:t>
            </a:r>
            <a:r>
              <a:rPr lang="en-US" baseline="-25000" dirty="0" err="1"/>
              <a:t>c</a:t>
            </a:r>
            <a:r>
              <a:rPr lang="en-US" dirty="0"/>
              <a:t>, additional increase in </a:t>
            </a:r>
            <a:r>
              <a:rPr lang="en-US" dirty="0" err="1"/>
              <a:t>i</a:t>
            </a:r>
            <a:r>
              <a:rPr lang="en-US" baseline="-25000" dirty="0" err="1"/>
              <a:t>b</a:t>
            </a:r>
            <a:r>
              <a:rPr lang="en-US" dirty="0"/>
              <a:t> cannot increase </a:t>
            </a:r>
            <a:r>
              <a:rPr lang="en-US" dirty="0" err="1"/>
              <a:t>i</a:t>
            </a:r>
            <a:r>
              <a:rPr lang="en-US" baseline="-25000" dirty="0" err="1"/>
              <a:t>c</a:t>
            </a:r>
            <a:endParaRPr lang="en-US" dirty="0"/>
          </a:p>
          <a:p>
            <a:r>
              <a:rPr lang="en-US" dirty="0"/>
              <a:t>In saturation, the external collector circuitry (</a:t>
            </a:r>
            <a:r>
              <a:rPr lang="en-US" dirty="0" err="1"/>
              <a:t>R</a:t>
            </a:r>
            <a:r>
              <a:rPr lang="en-US" baseline="-25000" dirty="0" err="1"/>
              <a:t>c</a:t>
            </a:r>
            <a:r>
              <a:rPr lang="en-US" dirty="0"/>
              <a:t>) determines </a:t>
            </a:r>
            <a:r>
              <a:rPr lang="en-US" dirty="0" err="1"/>
              <a:t>i</a:t>
            </a:r>
            <a:r>
              <a:rPr lang="en-US" baseline="-25000" dirty="0" err="1"/>
              <a:t>c</a:t>
            </a:r>
            <a:r>
              <a:rPr lang="en-US" dirty="0"/>
              <a:t>, not </a:t>
            </a:r>
            <a:r>
              <a:rPr lang="en-US" dirty="0" err="1"/>
              <a:t>h</a:t>
            </a:r>
            <a:r>
              <a:rPr lang="en-US" baseline="-25000" dirty="0" err="1"/>
              <a:t>fe</a:t>
            </a:r>
            <a:r>
              <a:rPr lang="en-US" dirty="0" err="1"/>
              <a:t>i</a:t>
            </a:r>
            <a:r>
              <a:rPr lang="en-US" baseline="-25000" dirty="0" err="1"/>
              <a:t>b</a:t>
            </a:r>
            <a:r>
              <a:rPr lang="en-US" dirty="0"/>
              <a:t>.</a:t>
            </a:r>
          </a:p>
        </p:txBody>
      </p:sp>
      <p:pic>
        <p:nvPicPr>
          <p:cNvPr id="4" name="Picture 5">
            <a:extLst>
              <a:ext uri="{FF2B5EF4-FFF2-40B4-BE49-F238E27FC236}">
                <a16:creationId xmlns:a16="http://schemas.microsoft.com/office/drawing/2014/main" id="{CCB7C9F6-BB47-DD4F-8691-CA4CF4D056C8}"/>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4724400" y="1371600"/>
            <a:ext cx="4084638" cy="4876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026" name="Picture 2" descr="What is a resisitor.types,its uses,defintion,symbols.">
            <a:extLst>
              <a:ext uri="{FF2B5EF4-FFF2-40B4-BE49-F238E27FC236}">
                <a16:creationId xmlns:a16="http://schemas.microsoft.com/office/drawing/2014/main" id="{55041721-F844-5440-8188-30621A123227}"/>
              </a:ext>
            </a:extLst>
          </p:cNvPr>
          <p:cNvPicPr>
            <a:picLocks noChangeAspect="1" noChangeArrowheads="1"/>
          </p:cNvPicPr>
          <p:nvPr/>
        </p:nvPicPr>
        <p:blipFill rotWithShape="1">
          <a:blip r:embed="rId3" cstate="print">
            <a:extLst>
              <a:ext uri="{28A0092B-C50C-407E-A947-70E740481C1C}">
                <a14:useLocalDpi xmlns:a14="http://schemas.microsoft.com/office/drawing/2010/main"/>
              </a:ext>
            </a:extLst>
          </a:blip>
          <a:srcRect/>
          <a:stretch/>
        </p:blipFill>
        <p:spPr bwMode="auto">
          <a:xfrm rot="5400000">
            <a:off x="7229593" y="1000008"/>
            <a:ext cx="1600200" cy="362185"/>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Connector 5">
            <a:extLst>
              <a:ext uri="{FF2B5EF4-FFF2-40B4-BE49-F238E27FC236}">
                <a16:creationId xmlns:a16="http://schemas.microsoft.com/office/drawing/2014/main" id="{65658B6D-5123-E245-A8E2-6E4F040B925A}"/>
              </a:ext>
            </a:extLst>
          </p:cNvPr>
          <p:cNvCxnSpPr/>
          <p:nvPr/>
        </p:nvCxnSpPr>
        <p:spPr>
          <a:xfrm>
            <a:off x="7848600" y="1905000"/>
            <a:ext cx="362186" cy="0"/>
          </a:xfrm>
          <a:prstGeom prst="line">
            <a:avLst/>
          </a:prstGeom>
        </p:spPr>
        <p:style>
          <a:lnRef idx="2">
            <a:schemeClr val="dk1"/>
          </a:lnRef>
          <a:fillRef idx="0">
            <a:schemeClr val="dk1"/>
          </a:fillRef>
          <a:effectRef idx="1">
            <a:schemeClr val="dk1"/>
          </a:effectRef>
          <a:fontRef idx="minor">
            <a:schemeClr val="tx1"/>
          </a:fontRef>
        </p:style>
      </p:cxnSp>
      <p:sp>
        <p:nvSpPr>
          <p:cNvPr id="7" name="TextBox 6">
            <a:extLst>
              <a:ext uri="{FF2B5EF4-FFF2-40B4-BE49-F238E27FC236}">
                <a16:creationId xmlns:a16="http://schemas.microsoft.com/office/drawing/2014/main" id="{13FD2481-B97A-8E4B-B80C-18CDA3E04251}"/>
              </a:ext>
            </a:extLst>
          </p:cNvPr>
          <p:cNvSpPr txBox="1"/>
          <p:nvPr/>
        </p:nvSpPr>
        <p:spPr>
          <a:xfrm>
            <a:off x="8205407" y="926068"/>
            <a:ext cx="428322" cy="369332"/>
          </a:xfrm>
          <a:prstGeom prst="rect">
            <a:avLst/>
          </a:prstGeom>
          <a:noFill/>
        </p:spPr>
        <p:txBody>
          <a:bodyPr wrap="none" rtlCol="0">
            <a:spAutoFit/>
          </a:bodyPr>
          <a:lstStyle/>
          <a:p>
            <a:r>
              <a:rPr lang="en-US" dirty="0" err="1"/>
              <a:t>R</a:t>
            </a:r>
            <a:r>
              <a:rPr lang="en-US" baseline="-25000" dirty="0" err="1"/>
              <a:t>c</a:t>
            </a:r>
            <a:endParaRPr lang="en-US" baseline="-25000" dirty="0"/>
          </a:p>
        </p:txBody>
      </p:sp>
      <p:sp>
        <p:nvSpPr>
          <p:cNvPr id="9" name="TextBox 8">
            <a:extLst>
              <a:ext uri="{FF2B5EF4-FFF2-40B4-BE49-F238E27FC236}">
                <a16:creationId xmlns:a16="http://schemas.microsoft.com/office/drawing/2014/main" id="{75E7982A-B1A3-A443-9CC0-3CAFDB7B4BFF}"/>
              </a:ext>
            </a:extLst>
          </p:cNvPr>
          <p:cNvSpPr txBox="1"/>
          <p:nvPr/>
        </p:nvSpPr>
        <p:spPr>
          <a:xfrm>
            <a:off x="7807374" y="33183"/>
            <a:ext cx="492443" cy="369332"/>
          </a:xfrm>
          <a:prstGeom prst="rect">
            <a:avLst/>
          </a:prstGeom>
          <a:noFill/>
        </p:spPr>
        <p:txBody>
          <a:bodyPr wrap="none" rtlCol="0">
            <a:spAutoFit/>
          </a:bodyPr>
          <a:lstStyle/>
          <a:p>
            <a:r>
              <a:rPr lang="en-US" dirty="0" err="1"/>
              <a:t>V</a:t>
            </a:r>
            <a:r>
              <a:rPr lang="en-US" baseline="-25000" dirty="0" err="1"/>
              <a:t>cc</a:t>
            </a:r>
            <a:endParaRPr lang="en-US" baseline="-25000" dirty="0"/>
          </a:p>
        </p:txBody>
      </p:sp>
      <p:sp>
        <p:nvSpPr>
          <p:cNvPr id="8" name="TextBox 7">
            <a:extLst>
              <a:ext uri="{FF2B5EF4-FFF2-40B4-BE49-F238E27FC236}">
                <a16:creationId xmlns:a16="http://schemas.microsoft.com/office/drawing/2014/main" id="{24A627D0-F089-7743-88EE-94BB83A59C55}"/>
              </a:ext>
            </a:extLst>
          </p:cNvPr>
          <p:cNvSpPr txBox="1"/>
          <p:nvPr/>
        </p:nvSpPr>
        <p:spPr>
          <a:xfrm>
            <a:off x="762000" y="6324600"/>
            <a:ext cx="6781800" cy="461665"/>
          </a:xfrm>
          <a:prstGeom prst="rect">
            <a:avLst/>
          </a:prstGeom>
          <a:noFill/>
        </p:spPr>
        <p:txBody>
          <a:bodyPr wrap="square" rtlCol="0">
            <a:spAutoFit/>
          </a:bodyPr>
          <a:lstStyle/>
          <a:p>
            <a:r>
              <a:rPr lang="en-US" sz="2400" dirty="0">
                <a:solidFill>
                  <a:srgbClr val="0070C0"/>
                </a:solidFill>
                <a:latin typeface="Times New Roman" panose="02020603050405020304" pitchFamily="18" charset="0"/>
                <a:cs typeface="Times New Roman" panose="02020603050405020304" pitchFamily="18" charset="0"/>
              </a:rPr>
              <a:t>How do you </a:t>
            </a:r>
            <a:r>
              <a:rPr lang="en-US" sz="2400" i="1" dirty="0">
                <a:solidFill>
                  <a:srgbClr val="0070C0"/>
                </a:solidFill>
                <a:latin typeface="Times New Roman" panose="02020603050405020304" pitchFamily="18" charset="0"/>
                <a:cs typeface="Times New Roman" panose="02020603050405020304" pitchFamily="18" charset="0"/>
              </a:rPr>
              <a:t>feel</a:t>
            </a:r>
            <a:r>
              <a:rPr lang="en-US" sz="2400" dirty="0">
                <a:solidFill>
                  <a:srgbClr val="0070C0"/>
                </a:solidFill>
                <a:latin typeface="Times New Roman" panose="02020603050405020304" pitchFamily="18" charset="0"/>
                <a:cs typeface="Times New Roman" panose="02020603050405020304" pitchFamily="18" charset="0"/>
              </a:rPr>
              <a:t> about this model? </a:t>
            </a:r>
          </a:p>
        </p:txBody>
      </p:sp>
    </p:spTree>
    <p:extLst>
      <p:ext uri="{BB962C8B-B14F-4D97-AF65-F5344CB8AC3E}">
        <p14:creationId xmlns:p14="http://schemas.microsoft.com/office/powerpoint/2010/main" val="17988139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0582E-EC2F-0747-A35D-9DF2AF7DEE01}"/>
              </a:ext>
            </a:extLst>
          </p:cNvPr>
          <p:cNvSpPr>
            <a:spLocks noGrp="1"/>
          </p:cNvSpPr>
          <p:nvPr>
            <p:ph type="title"/>
          </p:nvPr>
        </p:nvSpPr>
        <p:spPr/>
        <p:txBody>
          <a:bodyPr/>
          <a:lstStyle/>
          <a:p>
            <a:r>
              <a:rPr lang="en-US" dirty="0"/>
              <a:t>What do you think?</a:t>
            </a:r>
          </a:p>
        </p:txBody>
      </p:sp>
      <p:sp>
        <p:nvSpPr>
          <p:cNvPr id="3" name="Content Placeholder 2">
            <a:extLst>
              <a:ext uri="{FF2B5EF4-FFF2-40B4-BE49-F238E27FC236}">
                <a16:creationId xmlns:a16="http://schemas.microsoft.com/office/drawing/2014/main" id="{8E161D0E-E59D-5644-A0A6-4B8AC9BAA67E}"/>
              </a:ext>
            </a:extLst>
          </p:cNvPr>
          <p:cNvSpPr>
            <a:spLocks noGrp="1"/>
          </p:cNvSpPr>
          <p:nvPr>
            <p:ph idx="1"/>
          </p:nvPr>
        </p:nvSpPr>
        <p:spPr/>
        <p:txBody>
          <a:bodyPr/>
          <a:lstStyle/>
          <a:p>
            <a:r>
              <a:rPr lang="en-US" dirty="0"/>
              <a:t>How did your second automated lab </a:t>
            </a:r>
            <a:r>
              <a:rPr lang="en-US" i="1" dirty="0"/>
              <a:t>feel</a:t>
            </a:r>
            <a:r>
              <a:rPr lang="en-US" dirty="0"/>
              <a:t>? </a:t>
            </a:r>
          </a:p>
          <a:p>
            <a:pPr lvl="1"/>
            <a:r>
              <a:rPr lang="en-US" dirty="0"/>
              <a:t>&gt;700 voltages were recorded in this dataset </a:t>
            </a:r>
          </a:p>
          <a:p>
            <a:pPr lvl="1"/>
            <a:r>
              <a:rPr lang="en-US" dirty="0"/>
              <a:t>Fewer data would suffice, but its just as easy to deal with more complete data when the acquisition and analyses are automated</a:t>
            </a:r>
          </a:p>
          <a:p>
            <a:pPr lvl="1"/>
            <a:r>
              <a:rPr lang="en-US" dirty="0"/>
              <a:t>Setting up the system is where the (1-time, “NRE”) effort is, repeating experiments is easy</a:t>
            </a:r>
          </a:p>
          <a:p>
            <a:r>
              <a:rPr lang="en-US" dirty="0"/>
              <a:t>The complexity of hardware, </a:t>
            </a:r>
            <a:r>
              <a:rPr lang="en-US" dirty="0" err="1">
                <a:latin typeface="Symbol" pitchFamily="2" charset="2"/>
              </a:rPr>
              <a:t>m</a:t>
            </a:r>
            <a:r>
              <a:rPr lang="en-US" dirty="0" err="1"/>
              <a:t>C</a:t>
            </a:r>
            <a:r>
              <a:rPr lang="en-US" dirty="0"/>
              <a:t> software, and </a:t>
            </a:r>
            <a:r>
              <a:rPr lang="en-US" dirty="0" err="1"/>
              <a:t>Matlab</a:t>
            </a:r>
            <a:r>
              <a:rPr lang="en-US" dirty="0"/>
              <a:t> SW is higher than your typical Phys 200 lab</a:t>
            </a:r>
          </a:p>
          <a:p>
            <a:r>
              <a:rPr lang="en-US" dirty="0"/>
              <a:t>But when the pieces fit together, the puzzle picture comes out pretty cool!! </a:t>
            </a:r>
          </a:p>
          <a:p>
            <a:endParaRPr lang="en-US" dirty="0"/>
          </a:p>
          <a:p>
            <a:r>
              <a:rPr lang="en-US" dirty="0"/>
              <a:t>What strategies can you use to help manage the complexity?</a:t>
            </a:r>
          </a:p>
        </p:txBody>
      </p:sp>
    </p:spTree>
    <p:extLst>
      <p:ext uri="{BB962C8B-B14F-4D97-AF65-F5344CB8AC3E}">
        <p14:creationId xmlns:p14="http://schemas.microsoft.com/office/powerpoint/2010/main" val="29317113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CCF89-DD66-1349-8B17-6ABD9FB692B9}"/>
              </a:ext>
            </a:extLst>
          </p:cNvPr>
          <p:cNvSpPr>
            <a:spLocks noGrp="1"/>
          </p:cNvSpPr>
          <p:nvPr>
            <p:ph type="title"/>
          </p:nvPr>
        </p:nvSpPr>
        <p:spPr/>
        <p:txBody>
          <a:bodyPr/>
          <a:lstStyle/>
          <a:p>
            <a:r>
              <a:rPr lang="en-US" dirty="0"/>
              <a:t>Automating labs …</a:t>
            </a:r>
          </a:p>
        </p:txBody>
      </p:sp>
      <p:sp>
        <p:nvSpPr>
          <p:cNvPr id="3" name="Content Placeholder 2">
            <a:extLst>
              <a:ext uri="{FF2B5EF4-FFF2-40B4-BE49-F238E27FC236}">
                <a16:creationId xmlns:a16="http://schemas.microsoft.com/office/drawing/2014/main" id="{99A3C50E-50F0-D445-B64F-7E9D05934632}"/>
              </a:ext>
            </a:extLst>
          </p:cNvPr>
          <p:cNvSpPr>
            <a:spLocks noGrp="1"/>
          </p:cNvSpPr>
          <p:nvPr>
            <p:ph idx="1"/>
          </p:nvPr>
        </p:nvSpPr>
        <p:spPr/>
        <p:txBody>
          <a:bodyPr/>
          <a:lstStyle/>
          <a:p>
            <a:r>
              <a:rPr lang="en-US" dirty="0"/>
              <a:t>Right now, the process I’ve shown you involves </a:t>
            </a:r>
          </a:p>
          <a:p>
            <a:pPr marL="914400" lvl="1" indent="-457200">
              <a:buFont typeface="+mj-lt"/>
              <a:buAutoNum type="arabicPeriod"/>
            </a:pPr>
            <a:r>
              <a:rPr lang="en-US" dirty="0"/>
              <a:t>Design and build a test circuit</a:t>
            </a:r>
          </a:p>
          <a:p>
            <a:pPr marL="914400" lvl="1" indent="-457200">
              <a:buFont typeface="+mj-lt"/>
              <a:buAutoNum type="arabicPeriod"/>
            </a:pPr>
            <a:r>
              <a:rPr lang="en-US" dirty="0"/>
              <a:t>Create a</a:t>
            </a:r>
            <a:r>
              <a:rPr lang="en-US" u="sng" dirty="0"/>
              <a:t> hardware interface</a:t>
            </a:r>
            <a:r>
              <a:rPr lang="en-US" dirty="0"/>
              <a:t> between the circuit and Arduino</a:t>
            </a:r>
          </a:p>
          <a:p>
            <a:pPr marL="914400" lvl="1" indent="-457200">
              <a:buFont typeface="+mj-lt"/>
              <a:buAutoNum type="arabicPeriod"/>
            </a:pPr>
            <a:r>
              <a:rPr lang="en-US" dirty="0"/>
              <a:t>Write a </a:t>
            </a:r>
            <a:r>
              <a:rPr lang="en-US" u="sng" dirty="0"/>
              <a:t>software interface</a:t>
            </a:r>
            <a:r>
              <a:rPr lang="en-US" dirty="0"/>
              <a:t> (Arduino code) to measure and send data to the Serial Monitor</a:t>
            </a:r>
          </a:p>
          <a:p>
            <a:pPr marL="914400" lvl="1" indent="-457200">
              <a:buFont typeface="+mj-lt"/>
              <a:buAutoNum type="arabicPeriod"/>
            </a:pPr>
            <a:r>
              <a:rPr lang="en-US" dirty="0"/>
              <a:t>Copy/paste data into </a:t>
            </a:r>
            <a:r>
              <a:rPr lang="en-US" dirty="0" err="1"/>
              <a:t>Matlab</a:t>
            </a:r>
            <a:r>
              <a:rPr lang="en-US" dirty="0"/>
              <a:t> </a:t>
            </a:r>
          </a:p>
          <a:p>
            <a:pPr marL="914400" lvl="1" indent="-457200">
              <a:buFont typeface="+mj-lt"/>
              <a:buAutoNum type="arabicPeriod"/>
            </a:pPr>
            <a:r>
              <a:rPr lang="en-US" dirty="0"/>
              <a:t>Write a </a:t>
            </a:r>
            <a:r>
              <a:rPr lang="en-US" u="sng" dirty="0"/>
              <a:t>data interface</a:t>
            </a:r>
            <a:r>
              <a:rPr lang="en-US" dirty="0"/>
              <a:t> (</a:t>
            </a:r>
            <a:r>
              <a:rPr lang="en-US" dirty="0" err="1"/>
              <a:t>Matlab</a:t>
            </a:r>
            <a:r>
              <a:rPr lang="en-US" dirty="0"/>
              <a:t> code) to process the data into results and figures</a:t>
            </a:r>
          </a:p>
          <a:p>
            <a:pPr marL="914400" lvl="1" indent="-457200">
              <a:buFont typeface="+mj-lt"/>
              <a:buAutoNum type="arabicPeriod"/>
            </a:pPr>
            <a:r>
              <a:rPr lang="en-US" dirty="0"/>
              <a:t>Copy/paste results and figures into Word (or Latex, …) </a:t>
            </a:r>
          </a:p>
          <a:p>
            <a:pPr marL="914400" lvl="1" indent="-457200">
              <a:buFont typeface="+mj-lt"/>
              <a:buAutoNum type="arabicPeriod"/>
            </a:pPr>
            <a:r>
              <a:rPr lang="en-US" dirty="0"/>
              <a:t>Write a lab report</a:t>
            </a:r>
          </a:p>
          <a:p>
            <a:r>
              <a:rPr lang="en-US" dirty="0"/>
              <a:t>What did we leave out? </a:t>
            </a:r>
          </a:p>
          <a:p>
            <a:r>
              <a:rPr lang="en-US" dirty="0"/>
              <a:t>What additional steps can we automate?</a:t>
            </a:r>
          </a:p>
          <a:p>
            <a:pPr lvl="1"/>
            <a:r>
              <a:rPr lang="en-US" dirty="0"/>
              <a:t>What </a:t>
            </a:r>
            <a:r>
              <a:rPr lang="en-US" i="1" dirty="0"/>
              <a:t>criteria</a:t>
            </a:r>
            <a:r>
              <a:rPr lang="en-US" dirty="0"/>
              <a:t> should we use to decide what’s worth automating?</a:t>
            </a:r>
          </a:p>
          <a:p>
            <a:pPr lvl="1"/>
            <a:r>
              <a:rPr lang="en-US" dirty="0">
                <a:hlinkClick r:id="rId3"/>
              </a:rPr>
              <a:t>https://www.youtube.com/watch?v</a:t>
            </a:r>
            <a:r>
              <a:rPr lang="en-US">
                <a:hlinkClick r:id="rId3"/>
              </a:rPr>
              <a:t>=FN2RM-CHkuI</a:t>
            </a:r>
            <a:r>
              <a:rPr lang="en-US"/>
              <a:t>  </a:t>
            </a:r>
            <a:endParaRPr lang="en-US" dirty="0"/>
          </a:p>
          <a:p>
            <a:endParaRPr lang="en-US" dirty="0"/>
          </a:p>
        </p:txBody>
      </p:sp>
    </p:spTree>
    <p:extLst>
      <p:ext uri="{BB962C8B-B14F-4D97-AF65-F5344CB8AC3E}">
        <p14:creationId xmlns:p14="http://schemas.microsoft.com/office/powerpoint/2010/main" val="3574100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EB7A9-1B94-6F49-9867-ED5F2B183717}"/>
              </a:ext>
            </a:extLst>
          </p:cNvPr>
          <p:cNvSpPr>
            <a:spLocks noGrp="1"/>
          </p:cNvSpPr>
          <p:nvPr>
            <p:ph type="title"/>
          </p:nvPr>
        </p:nvSpPr>
        <p:spPr>
          <a:xfrm>
            <a:off x="304800" y="304800"/>
            <a:ext cx="8534400" cy="1143000"/>
          </a:xfrm>
        </p:spPr>
        <p:txBody>
          <a:bodyPr/>
          <a:lstStyle/>
          <a:p>
            <a:r>
              <a:rPr lang="en-US" dirty="0" err="1"/>
              <a:t>Matlab</a:t>
            </a:r>
            <a:r>
              <a:rPr lang="en-US" dirty="0"/>
              <a:t> </a:t>
            </a:r>
            <a:r>
              <a:rPr lang="en-US" dirty="0" err="1"/>
              <a:t>LiveScripts</a:t>
            </a:r>
            <a:r>
              <a:rPr lang="en-US" dirty="0"/>
              <a:t> – automating lab reports</a:t>
            </a:r>
          </a:p>
        </p:txBody>
      </p:sp>
      <p:sp>
        <p:nvSpPr>
          <p:cNvPr id="3" name="Content Placeholder 2">
            <a:extLst>
              <a:ext uri="{FF2B5EF4-FFF2-40B4-BE49-F238E27FC236}">
                <a16:creationId xmlns:a16="http://schemas.microsoft.com/office/drawing/2014/main" id="{24F2A991-B8A8-2E44-8EAC-5124E643DA71}"/>
              </a:ext>
            </a:extLst>
          </p:cNvPr>
          <p:cNvSpPr>
            <a:spLocks noGrp="1"/>
          </p:cNvSpPr>
          <p:nvPr>
            <p:ph idx="1"/>
          </p:nvPr>
        </p:nvSpPr>
        <p:spPr/>
        <p:txBody>
          <a:bodyPr/>
          <a:lstStyle/>
          <a:p>
            <a:r>
              <a:rPr lang="en-US" dirty="0" err="1"/>
              <a:t>TransistorGain.mlx</a:t>
            </a:r>
            <a:r>
              <a:rPr lang="en-US" dirty="0"/>
              <a:t> generates (export to Word) a word doc that you should edit and proofread</a:t>
            </a:r>
          </a:p>
          <a:p>
            <a:endParaRPr lang="en-US" dirty="0"/>
          </a:p>
        </p:txBody>
      </p:sp>
    </p:spTree>
    <p:extLst>
      <p:ext uri="{BB962C8B-B14F-4D97-AF65-F5344CB8AC3E}">
        <p14:creationId xmlns:p14="http://schemas.microsoft.com/office/powerpoint/2010/main" val="6201338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90954</TotalTime>
  <Words>1575</Words>
  <Application>Microsoft Macintosh PowerPoint</Application>
  <PresentationFormat>On-screen Show (4:3)</PresentationFormat>
  <Paragraphs>144</Paragraphs>
  <Slides>18</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ＭＳ Ｐゴシック</vt:lpstr>
      <vt:lpstr>Arial</vt:lpstr>
      <vt:lpstr>Calibri</vt:lpstr>
      <vt:lpstr>Courier New</vt:lpstr>
      <vt:lpstr>Symbol</vt:lpstr>
      <vt:lpstr>Times New Roman</vt:lpstr>
      <vt:lpstr>Wingdings</vt:lpstr>
      <vt:lpstr>Office Theme</vt:lpstr>
      <vt:lpstr>Transistors</vt:lpstr>
      <vt:lpstr>Why is this class so hard?</vt:lpstr>
      <vt:lpstr>Floyd’s textbook</vt:lpstr>
      <vt:lpstr>http://en.wikipedia.org/wiki/Transistor</vt:lpstr>
      <vt:lpstr>Key points</vt:lpstr>
      <vt:lpstr>Multiple regimes of operation</vt:lpstr>
      <vt:lpstr>Recommended strategy</vt:lpstr>
      <vt:lpstr>Water analogies</vt:lpstr>
      <vt:lpstr>Transistor as a valve</vt:lpstr>
      <vt:lpstr>Some (minor) issues with the book</vt:lpstr>
      <vt:lpstr>BJT Golden Rules      </vt:lpstr>
      <vt:lpstr>PowerPoint Presentation</vt:lpstr>
      <vt:lpstr>Saturation</vt:lpstr>
      <vt:lpstr>Saturation</vt:lpstr>
      <vt:lpstr>What happens in saturation?</vt:lpstr>
      <vt:lpstr>What do you think?</vt:lpstr>
      <vt:lpstr>Automating labs …</vt:lpstr>
      <vt:lpstr>Matlab LiveScripts – automating lab reports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Transistors</dc:title>
  <dc:creator>brian rasnow</dc:creator>
  <cp:lastModifiedBy>Rasnow, Brian K.</cp:lastModifiedBy>
  <cp:revision>170</cp:revision>
  <cp:lastPrinted>2011-03-09T16:45:41Z</cp:lastPrinted>
  <dcterms:created xsi:type="dcterms:W3CDTF">2012-03-12T15:57:44Z</dcterms:created>
  <dcterms:modified xsi:type="dcterms:W3CDTF">2024-09-30T18:30:27Z</dcterms:modified>
</cp:coreProperties>
</file>