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9"/>
  </p:notesMasterIdLst>
  <p:sldIdLst>
    <p:sldId id="256" r:id="rId2"/>
    <p:sldId id="351" r:id="rId3"/>
    <p:sldId id="343" r:id="rId4"/>
    <p:sldId id="316" r:id="rId5"/>
    <p:sldId id="328" r:id="rId6"/>
    <p:sldId id="329" r:id="rId7"/>
    <p:sldId id="345" r:id="rId8"/>
  </p:sldIdLst>
  <p:sldSz cx="9144000" cy="6858000" type="screen4x3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5pPr>
    <a:lvl6pPr marL="22860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6pPr>
    <a:lvl7pPr marL="27432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7pPr>
    <a:lvl8pPr marL="32004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8pPr>
    <a:lvl9pPr marL="3657600" algn="l" defTabSz="457200" rtl="0" eaLnBrk="1" latinLnBrk="0" hangingPunct="1">
      <a:defRPr kern="1200">
        <a:solidFill>
          <a:schemeClr val="tx1"/>
        </a:solidFill>
        <a:latin typeface="Arial" pitchFamily="-1" charset="0"/>
        <a:ea typeface="ＭＳ Ｐゴシック" pitchFamily="-1" charset="-128"/>
        <a:cs typeface="ＭＳ Ｐゴシック" pitchFamily="-1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5392"/>
    <p:restoredTop sz="93469"/>
  </p:normalViewPr>
  <p:slideViewPr>
    <p:cSldViewPr snapToObjects="1">
      <p:cViewPr varScale="1">
        <p:scale>
          <a:sx n="115" d="100"/>
          <a:sy n="115" d="100"/>
        </p:scale>
        <p:origin x="2656" y="19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fld id="{AB747A76-F69B-7B45-AA5B-79EB24FF57D0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 smtClean="0">
                <a:latin typeface="Calibri" charset="0"/>
                <a:ea typeface="ＭＳ Ｐゴシック" charset="-128"/>
                <a:cs typeface="ＭＳ Ｐゴシック" charset="-128"/>
              </a:defRPr>
            </a:lvl1pPr>
          </a:lstStyle>
          <a:p>
            <a:pPr>
              <a:defRPr/>
            </a:pPr>
            <a:fld id="{D9EBC51A-0460-9A44-84DF-95A9F86DA60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866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ＭＳ Ｐゴシック" charset="-128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D9EBC51A-0460-9A44-84DF-95A9F86DA60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897128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1669D3D-5CEF-5642-A26F-D6DB24C8F82C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78982D2-B512-2842-80BC-2066A276EAD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7B93243-C3EC-394A-9CEB-369DF87E8479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57293C-B6ED-D842-B1BE-7DD65E3A564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4353983-124B-0549-8646-E9E2FF57AEE6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0A2E221-1FDB-7044-B4A2-983905506A1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E380308-566A-2F48-A5C9-10C58F65987F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DFFD8A4-061E-C549-8BAA-63327A71580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A42417F-779A-4F4C-8597-CD431786AD7C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B322FEA-DBE2-0A42-AFB7-A31639669B6F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C0937FF-BB76-434E-84FC-555E46483C8B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55EB3BD-5003-D548-93BD-2032745180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002979D5-0272-B043-9607-2FC95C8862C4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7F99814-D899-1B4E-8A0C-A2A7C2E6DF33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F0D67F4-BB52-B34F-AA7D-4764A7BC91D6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BC6A0CD-B03F-8843-ACD5-245CF55EA46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FC6363-18A5-7244-AD01-6A5CE13EA742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87A85C-7800-034F-91E8-1232FBF3508E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90D5429-A429-3047-B848-400B652C0E86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CA9F10E-386B-CA44-96A7-035FBD6FF940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A5F8780-E643-D249-AD89-290352CBC665}" type="datetime1">
              <a:rPr lang="en-US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40937EB-CAE6-104D-9E51-83863E7897E7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 smtClean="0">
                <a:solidFill>
                  <a:srgbClr val="898989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8B688789-C5D4-2840-9EE2-24F88285C175}" type="datetime1">
              <a:rPr lang="en-US" smtClean="0"/>
              <a:pPr>
                <a:defRPr/>
              </a:pPr>
              <a:t>1/2/23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 smtClean="0">
                <a:solidFill>
                  <a:srgbClr val="898989"/>
                </a:solidFill>
                <a:latin typeface="Times New Roman" panose="02020603050405020304" pitchFamily="18" charset="0"/>
                <a:ea typeface="ＭＳ Ｐゴシック" charset="-128"/>
                <a:cs typeface="Times New Roman" panose="02020603050405020304" pitchFamily="18" charset="0"/>
              </a:defRPr>
            </a:lvl1pPr>
          </a:lstStyle>
          <a:p>
            <a:pPr>
              <a:defRPr/>
            </a:pPr>
            <a:fld id="{C201AC95-3EAB-5B4A-8433-F69E6326B730}" type="slidenum">
              <a:rPr lang="en-US" smtClean="0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charset="0"/>
          <a:ea typeface="ＭＳ Ｐゴシック" charset="-128"/>
          <a:cs typeface="ＭＳ Ｐゴシック" charset="-128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-1" charset="0"/>
        <a:buChar char="•"/>
        <a:defRPr sz="32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-1" charset="0"/>
        <a:buChar char="–"/>
        <a:defRPr sz="28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" charset="0"/>
        <a:buChar char="•"/>
        <a:defRPr sz="24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" charset="0"/>
        <a:buChar char="–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-1" charset="0"/>
        <a:buChar char="»"/>
        <a:defRPr sz="2000" kern="1200">
          <a:solidFill>
            <a:schemeClr val="tx1"/>
          </a:solidFill>
          <a:latin typeface="Times New Roman" panose="02020603050405020304" pitchFamily="18" charset="0"/>
          <a:ea typeface="ＭＳ Ｐゴシック" charset="-128"/>
          <a:cs typeface="Times New Roman" panose="02020603050405020304" pitchFamily="18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twitter.com/ycstrikeLA" TargetMode="External"/><Relationship Id="rId2" Type="http://schemas.openxmlformats.org/officeDocument/2006/relationships/hyperlink" Target="https://fridaysforfutureusa.org/sept-23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youtube.com/watch?v=wW6hoiyYiUI" TargetMode="Externa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hyperlink" Target="https://en.wikipedia.org/wiki/Photoresistor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338" name="Picture 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1397000" y="254000"/>
            <a:ext cx="6350000" cy="6350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339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470025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ea typeface="ＭＳ Ｐゴシック" pitchFamily="-1" charset="-128"/>
                <a:cs typeface="ＭＳ Ｐゴシック" pitchFamily="-1" charset="-128"/>
              </a:rPr>
              <a:t>Transistors</a:t>
            </a:r>
          </a:p>
        </p:txBody>
      </p:sp>
      <p:sp>
        <p:nvSpPr>
          <p:cNvPr id="14340" name="Subtitle 2"/>
          <p:cNvSpPr>
            <a:spLocks noGrp="1"/>
          </p:cNvSpPr>
          <p:nvPr>
            <p:ph type="subTitle" idx="1"/>
          </p:nvPr>
        </p:nvSpPr>
        <p:spPr>
          <a:xfrm>
            <a:off x="1397000" y="5486400"/>
            <a:ext cx="6400800" cy="1752600"/>
          </a:xfrm>
        </p:spPr>
        <p:txBody>
          <a:bodyPr/>
          <a:lstStyle/>
          <a:p>
            <a:pPr eaLnBrk="1" hangingPunct="1"/>
            <a:r>
              <a:rPr lang="en-US" dirty="0">
                <a:solidFill>
                  <a:srgbClr val="FF0000"/>
                </a:solidFill>
                <a:ea typeface="ＭＳ Ｐゴシック" pitchFamily="-1" charset="-128"/>
                <a:cs typeface="ＭＳ Ｐゴシック" pitchFamily="-1" charset="-128"/>
              </a:rPr>
              <a:t>5-2</a:t>
            </a:r>
          </a:p>
        </p:txBody>
      </p:sp>
      <p:sp>
        <p:nvSpPr>
          <p:cNvPr id="14341" name="TextBox 4"/>
          <p:cNvSpPr txBox="1">
            <a:spLocks noChangeArrowheads="1"/>
          </p:cNvSpPr>
          <p:nvPr/>
        </p:nvSpPr>
        <p:spPr bwMode="auto">
          <a:xfrm>
            <a:off x="228600" y="4267200"/>
            <a:ext cx="2057400" cy="646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prstTxWarp prst="textNoShape">
              <a:avLst/>
            </a:prstTxWarp>
            <a:spAutoFit/>
          </a:bodyPr>
          <a:lstStyle/>
          <a:p>
            <a:r>
              <a:rPr lang="en-US">
                <a:latin typeface="Calibri" pitchFamily="-1" charset="0"/>
              </a:rPr>
              <a:t>First transistor, 1947, Bell Labs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8E8F166A-94D1-D443-BA6C-B3AA3E1D1ECA}"/>
              </a:ext>
            </a:extLst>
          </p:cNvPr>
          <p:cNvSpPr txBox="1">
            <a:spLocks/>
          </p:cNvSpPr>
          <p:nvPr/>
        </p:nvSpPr>
        <p:spPr bwMode="auto">
          <a:xfrm>
            <a:off x="2858844" y="865094"/>
            <a:ext cx="7772400" cy="1470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 kern="1200">
                <a:solidFill>
                  <a:schemeClr val="tx1"/>
                </a:solidFill>
                <a:latin typeface="+mj-lt"/>
                <a:ea typeface="ＭＳ Ｐゴシック" charset="-128"/>
                <a:cs typeface="ＭＳ Ｐゴシック" charset="-128"/>
              </a:defRPr>
            </a:lvl1pPr>
            <a:lvl2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2pPr>
            <a:lvl3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3pPr>
            <a:lvl4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4pPr>
            <a:lvl5pPr algn="ctr" defTabSz="457200" rtl="0" eaLnBrk="0" fontAlgn="base" hangingPunct="0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5pPr>
            <a:lvl6pPr marL="4572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6pPr>
            <a:lvl7pPr marL="9144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7pPr>
            <a:lvl8pPr marL="13716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8pPr>
            <a:lvl9pPr marL="1828800" algn="ctr" defTabSz="457200" rtl="0" fontAlgn="base">
              <a:spcBef>
                <a:spcPct val="0"/>
              </a:spcBef>
              <a:spcAft>
                <a:spcPct val="0"/>
              </a:spcAft>
              <a:defRPr sz="4400">
                <a:solidFill>
                  <a:schemeClr val="tx1"/>
                </a:solidFill>
                <a:latin typeface="Calibri" charset="0"/>
                <a:ea typeface="ＭＳ Ｐゴシック" charset="-128"/>
                <a:cs typeface="ＭＳ Ｐゴシック" charset="-128"/>
              </a:defRPr>
            </a:lvl9pPr>
          </a:lstStyle>
          <a:p>
            <a:pPr eaLnBrk="1" hangingPunct="1"/>
            <a:r>
              <a:rPr lang="en-US" sz="2800" dirty="0">
                <a:solidFill>
                  <a:srgbClr val="FF0000"/>
                </a:solidFill>
                <a:ea typeface="ＭＳ Ｐゴシック" pitchFamily="-1" charset="-128"/>
                <a:cs typeface="ＭＳ Ｐゴシック" pitchFamily="-1" charset="-128"/>
              </a:rPr>
              <a:t>Week 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4B5CA-DA9C-9E35-BEA3-5B4E12E441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Sierra 2111 schedule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864CA4-7706-0BED-4E27-F9B9FE0A535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Sierra 2111 is available </a:t>
            </a:r>
            <a:r>
              <a:rPr lang="en-US" dirty="0" err="1"/>
              <a:t>TTh</a:t>
            </a:r>
            <a:r>
              <a:rPr lang="en-US" dirty="0"/>
              <a:t> 1:30-4:30pm, and you’re welcome to attend the class there</a:t>
            </a:r>
          </a:p>
          <a:p>
            <a:r>
              <a:rPr lang="en-US" dirty="0"/>
              <a:t>Other current events: </a:t>
            </a:r>
          </a:p>
          <a:p>
            <a:pPr lvl="1"/>
            <a:r>
              <a:rPr lang="en-US" dirty="0"/>
              <a:t>Global climate strike </a:t>
            </a:r>
            <a:r>
              <a:rPr lang="en-US" dirty="0">
                <a:hlinkClick r:id="rId2"/>
              </a:rPr>
              <a:t>https://fridaysforfutureusa.org/sept-23/</a:t>
            </a:r>
            <a:r>
              <a:rPr lang="en-US" dirty="0"/>
              <a:t>, </a:t>
            </a:r>
            <a:r>
              <a:rPr lang="en-US" dirty="0">
                <a:hlinkClick r:id="rId3"/>
              </a:rPr>
              <a:t>https://twitter.com/ycstrikeLA</a:t>
            </a:r>
            <a:endParaRPr lang="en-US" dirty="0"/>
          </a:p>
          <a:p>
            <a:pPr lvl="1"/>
            <a:r>
              <a:rPr lang="en-US" dirty="0"/>
              <a:t>Amanda Gorman opens UN General Assembly</a:t>
            </a:r>
          </a:p>
          <a:p>
            <a:pPr lvl="2"/>
            <a:r>
              <a:rPr lang="en-US" dirty="0">
                <a:hlinkClick r:id="rId4"/>
              </a:rPr>
              <a:t>https://www.youtube.com/watch?v=wW6hoiyYiUI</a:t>
            </a:r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3886776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EF3A372-5376-BD27-952A-C21EC8C9CA9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43400" y="2362200"/>
            <a:ext cx="4343400" cy="2565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0431726-7040-A152-2DBF-3B1FFE6F94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Transistor switch circuit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9D31A0-87C5-A5F5-CB38-66466516A8D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BJT transistor switches on when </a:t>
            </a:r>
            <a:r>
              <a:rPr lang="en-US" dirty="0" err="1"/>
              <a:t>Vbe</a:t>
            </a:r>
            <a:r>
              <a:rPr lang="en-US" dirty="0"/>
              <a:t> &gt; ~0.6-.7V so we need to reduce the voltage of our LM317 power supply </a:t>
            </a:r>
            <a:br>
              <a:rPr lang="en-US" dirty="0"/>
            </a:br>
            <a:r>
              <a:rPr lang="en-US" dirty="0">
                <a:sym typeface="Wingdings" pitchFamily="2" charset="2"/>
              </a:rPr>
              <a:t> voltage divider</a:t>
            </a:r>
          </a:p>
          <a:p>
            <a:r>
              <a:rPr lang="en-US" dirty="0">
                <a:sym typeface="Wingdings" pitchFamily="2" charset="2"/>
              </a:rPr>
              <a:t>The collector is powered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from the Arduino’s 5V,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so only the base voltage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(and current) are independent</a:t>
            </a:r>
            <a:br>
              <a:rPr lang="en-US" dirty="0">
                <a:sym typeface="Wingdings" pitchFamily="2" charset="2"/>
              </a:rPr>
            </a:br>
            <a:r>
              <a:rPr lang="en-US" dirty="0">
                <a:sym typeface="Wingdings" pitchFamily="2" charset="2"/>
              </a:rPr>
              <a:t>variables</a:t>
            </a:r>
          </a:p>
          <a:p>
            <a:r>
              <a:rPr lang="en-US" dirty="0">
                <a:sym typeface="Wingdings" pitchFamily="2" charset="2"/>
              </a:rPr>
              <a:t>Base current = (A2-A1)/10k</a:t>
            </a:r>
            <a:r>
              <a:rPr lang="en-US" dirty="0">
                <a:latin typeface="Symbol" pitchFamily="2" charset="2"/>
                <a:sym typeface="Wingdings" pitchFamily="2" charset="2"/>
              </a:rPr>
              <a:t>W</a:t>
            </a:r>
          </a:p>
          <a:p>
            <a:r>
              <a:rPr lang="en-US" dirty="0">
                <a:sym typeface="Wingdings" pitchFamily="2" charset="2"/>
              </a:rPr>
              <a:t>A0 measures collector voltage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85303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154" name="Picture 2" descr="measure the value of transistor - My electronic">
            <a:extLst>
              <a:ext uri="{FF2B5EF4-FFF2-40B4-BE49-F238E27FC236}">
                <a16:creationId xmlns:a16="http://schemas.microsoft.com/office/drawing/2014/main" id="{7D2F2C8C-09EC-4F45-8F93-056D080AC3E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6503504" y="533400"/>
            <a:ext cx="2667000" cy="2667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44ECB15-C02A-BF47-8542-53387B3F2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BJT Golden Rules     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103E9E0-72F1-6E4A-8CDF-88ABEBFFE53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25963"/>
          </a:xfrm>
        </p:spPr>
        <p:txBody>
          <a:bodyPr/>
          <a:lstStyle/>
          <a:p>
            <a:pPr marL="457200" indent="-457200">
              <a:buFont typeface="+mj-lt"/>
              <a:buAutoNum type="arabicPeriod"/>
            </a:pPr>
            <a:r>
              <a:rPr lang="en-US" dirty="0"/>
              <a:t>There are no golden rules … there are many </a:t>
            </a:r>
            <a:br>
              <a:rPr lang="en-US" dirty="0"/>
            </a:br>
            <a:r>
              <a:rPr lang="en-US" dirty="0"/>
              <a:t>configurations and possibilities with BJTs…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base-emitter often acts like a diode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/>
              <a:t>If </a:t>
            </a:r>
            <a:r>
              <a:rPr lang="en-US" dirty="0" err="1"/>
              <a:t>V</a:t>
            </a:r>
            <a:r>
              <a:rPr lang="en-US" baseline="-25000" dirty="0" err="1"/>
              <a:t>be</a:t>
            </a:r>
            <a:r>
              <a:rPr lang="en-US" baseline="-25000" dirty="0"/>
              <a:t> </a:t>
            </a:r>
            <a:r>
              <a:rPr lang="en-US" dirty="0"/>
              <a:t>&lt; ~0.6V then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 ~ 0 and the transistor is “off”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/>
              <a:t>If V</a:t>
            </a:r>
            <a:r>
              <a:rPr lang="en-US" baseline="-25000" dirty="0"/>
              <a:t>be</a:t>
            </a:r>
            <a:r>
              <a:rPr lang="en-US" dirty="0"/>
              <a:t>~0.6-0.7V (forward biased diode), the collector-emitter conducts</a:t>
            </a:r>
          </a:p>
          <a:p>
            <a:pPr marL="857250" lvl="1" indent="-457200">
              <a:buFont typeface="+mj-lt"/>
              <a:buAutoNum type="alphaLcParenR"/>
            </a:pPr>
            <a:r>
              <a:rPr lang="en-US" dirty="0"/>
              <a:t>Making </a:t>
            </a:r>
            <a:r>
              <a:rPr lang="en-US" dirty="0" err="1"/>
              <a:t>V</a:t>
            </a:r>
            <a:r>
              <a:rPr lang="en-US" baseline="-25000" dirty="0" err="1"/>
              <a:t>be</a:t>
            </a:r>
            <a:r>
              <a:rPr lang="en-US" dirty="0"/>
              <a:t>&gt;0.7V will likely destroy the device quickly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If not </a:t>
            </a:r>
            <a:r>
              <a:rPr lang="en-US" i="1" dirty="0"/>
              <a:t>saturated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 = </a:t>
            </a:r>
            <a:r>
              <a:rPr lang="en-US" dirty="0" err="1"/>
              <a:t>h</a:t>
            </a:r>
            <a:r>
              <a:rPr lang="en-US" baseline="-25000" dirty="0" err="1"/>
              <a:t>fe</a:t>
            </a:r>
            <a:r>
              <a:rPr lang="en-US" dirty="0"/>
              <a:t> * 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The transistor will lower its collector-emitter voltage in order to satisfy (3.) But it can’t go below </a:t>
            </a:r>
            <a:r>
              <a:rPr lang="en-US" dirty="0" err="1"/>
              <a:t>V</a:t>
            </a:r>
            <a:r>
              <a:rPr lang="en-US" baseline="-25000" dirty="0" err="1"/>
              <a:t>ce</a:t>
            </a:r>
            <a:r>
              <a:rPr lang="en-US" dirty="0"/>
              <a:t>~ 0.01-0.3V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Like diodes (e.g., LEDs), external components are generally needed to limit base and collector currents at safe (for the device) values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/>
              <a:t>… </a:t>
            </a:r>
          </a:p>
          <a:p>
            <a:pPr marL="457200" indent="-457200">
              <a:buFont typeface="+mj-lt"/>
              <a:buAutoNum type="arabicPeriod"/>
            </a:pPr>
            <a:endParaRPr lang="en-US" dirty="0"/>
          </a:p>
        </p:txBody>
      </p:sp>
      <p:pic>
        <p:nvPicPr>
          <p:cNvPr id="4100" name="Picture 4">
            <a:extLst>
              <a:ext uri="{FF2B5EF4-FFF2-40B4-BE49-F238E27FC236}">
                <a16:creationId xmlns:a16="http://schemas.microsoft.com/office/drawing/2014/main" id="{F4FDDAEE-A2AC-094A-BF8A-D790BEFB4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2800" y="3467183"/>
            <a:ext cx="4572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1238946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67C9B26-30EA-544A-97BD-9EEFF50E43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91000" y="1485900"/>
            <a:ext cx="5181600" cy="38862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E5F3996A-21FF-2142-B89E-D3CF5FE8DE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Saturation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02CB99-9A00-BA4D-9B52-A767C86DFE1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5105400" cy="4876800"/>
          </a:xfrm>
        </p:spPr>
        <p:txBody>
          <a:bodyPr/>
          <a:lstStyle/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&lt; .006;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p =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polyfit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ib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), 1)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331.0971    0.0037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mean(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ic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(~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indx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))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2.2285 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&gt;&gt; (</a:t>
            </a: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Vref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-min(data1(:,3)))/2</a:t>
            </a:r>
          </a:p>
          <a:p>
            <a:pPr marL="0" indent="0">
              <a:buNone/>
            </a:pPr>
            <a:r>
              <a:rPr lang="en-US" sz="14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ans</a:t>
            </a: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=</a:t>
            </a:r>
          </a:p>
          <a:p>
            <a:pPr marL="0" indent="0">
              <a:buNone/>
            </a:pPr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2.2550</a:t>
            </a:r>
          </a:p>
          <a:p>
            <a:r>
              <a:rPr lang="en-US" sz="2000" dirty="0" err="1"/>
              <a:t>R</a:t>
            </a:r>
            <a:r>
              <a:rPr lang="en-US" sz="2000" baseline="-25000" dirty="0" err="1"/>
              <a:t>c</a:t>
            </a:r>
            <a:r>
              <a:rPr lang="en-US" sz="2000" baseline="-25000" dirty="0"/>
              <a:t> </a:t>
            </a:r>
            <a:r>
              <a:rPr lang="en-US" sz="2000" dirty="0"/>
              <a:t>= 2k</a:t>
            </a:r>
            <a:r>
              <a:rPr lang="en-US" sz="2000" dirty="0">
                <a:latin typeface="Symbol" pitchFamily="2" charset="2"/>
              </a:rPr>
              <a:t>W</a:t>
            </a:r>
            <a:r>
              <a:rPr lang="en-US" sz="2000" dirty="0"/>
              <a:t> saturated </a:t>
            </a:r>
            <a:r>
              <a:rPr lang="en-US" sz="2000" dirty="0" err="1"/>
              <a:t>i</a:t>
            </a:r>
            <a:r>
              <a:rPr lang="en-US" sz="2000" baseline="-25000" dirty="0" err="1"/>
              <a:t>c</a:t>
            </a:r>
            <a:r>
              <a:rPr lang="en-US" sz="2000" dirty="0"/>
              <a:t> at  2.23mA, </a:t>
            </a:r>
            <a:br>
              <a:rPr lang="en-US" sz="2000" dirty="0"/>
            </a:br>
            <a:r>
              <a:rPr lang="en-US" sz="2000" dirty="0"/>
              <a:t>with V</a:t>
            </a:r>
            <a:r>
              <a:rPr lang="en-US" sz="2000" baseline="-25000" dirty="0"/>
              <a:t>CE</a:t>
            </a:r>
            <a:r>
              <a:rPr lang="en-US" sz="2000" dirty="0"/>
              <a:t> = 0.23V – the transistor</a:t>
            </a:r>
            <a:br>
              <a:rPr lang="en-US" sz="2000" dirty="0"/>
            </a:br>
            <a:r>
              <a:rPr lang="en-US" sz="2000" dirty="0"/>
              <a:t>couldn’t go lower</a:t>
            </a:r>
          </a:p>
          <a:p>
            <a:pPr marL="0" indent="0">
              <a:buNone/>
            </a:pPr>
            <a:endParaRPr lang="en-US" sz="12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469021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9AD21C-69E7-904B-A85E-6461EC3E08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happens in saturation?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17EA3A-5599-C64A-9C06-AF1EB386FD1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600200"/>
            <a:ext cx="4191000" cy="4525963"/>
          </a:xfrm>
        </p:spPr>
        <p:txBody>
          <a:bodyPr/>
          <a:lstStyle/>
          <a:p>
            <a:r>
              <a:rPr lang="en-US" dirty="0"/>
              <a:t>“Transistor man” adjusts a variable resistor that’s a voltage divider with </a:t>
            </a:r>
            <a:r>
              <a:rPr lang="en-US" dirty="0" err="1"/>
              <a:t>R</a:t>
            </a:r>
            <a:r>
              <a:rPr lang="en-US" baseline="-25000" dirty="0" err="1"/>
              <a:t>c</a:t>
            </a:r>
            <a:r>
              <a:rPr lang="en-US" dirty="0"/>
              <a:t>. Once set to its minimum value (R=</a:t>
            </a:r>
            <a:r>
              <a:rPr lang="en-US" dirty="0" err="1"/>
              <a:t>V</a:t>
            </a:r>
            <a:r>
              <a:rPr lang="en-US" baseline="-25000" dirty="0" err="1"/>
              <a:t>ce</a:t>
            </a:r>
            <a:r>
              <a:rPr lang="en-US" dirty="0"/>
              <a:t>/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), it can’t go any lower</a:t>
            </a:r>
          </a:p>
          <a:p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 is now saturated at (</a:t>
            </a:r>
            <a:r>
              <a:rPr lang="en-US" dirty="0" err="1"/>
              <a:t>V</a:t>
            </a:r>
            <a:r>
              <a:rPr lang="en-US" baseline="-25000" dirty="0" err="1"/>
              <a:t>cc</a:t>
            </a:r>
            <a:r>
              <a:rPr lang="en-US" dirty="0" err="1"/>
              <a:t>-V</a:t>
            </a:r>
            <a:r>
              <a:rPr lang="en-US" baseline="-25000" dirty="0" err="1"/>
              <a:t>ce</a:t>
            </a:r>
            <a:r>
              <a:rPr lang="en-US" dirty="0"/>
              <a:t>)/</a:t>
            </a:r>
            <a:r>
              <a:rPr lang="en-US" dirty="0" err="1"/>
              <a:t>R</a:t>
            </a:r>
            <a:r>
              <a:rPr lang="en-US" baseline="-25000" dirty="0" err="1"/>
              <a:t>c</a:t>
            </a:r>
            <a:r>
              <a:rPr lang="en-US" dirty="0"/>
              <a:t>, additional increase in 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 cannot increase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endParaRPr lang="en-US" dirty="0"/>
          </a:p>
          <a:p>
            <a:r>
              <a:rPr lang="en-US" dirty="0"/>
              <a:t>In saturation, the external collector circuitry (</a:t>
            </a:r>
            <a:r>
              <a:rPr lang="en-US" dirty="0" err="1"/>
              <a:t>R</a:t>
            </a:r>
            <a:r>
              <a:rPr lang="en-US" baseline="-25000" dirty="0" err="1"/>
              <a:t>c</a:t>
            </a:r>
            <a:r>
              <a:rPr lang="en-US" dirty="0"/>
              <a:t>) determines </a:t>
            </a:r>
            <a:r>
              <a:rPr lang="en-US" dirty="0" err="1"/>
              <a:t>i</a:t>
            </a:r>
            <a:r>
              <a:rPr lang="en-US" baseline="-25000" dirty="0" err="1"/>
              <a:t>c</a:t>
            </a:r>
            <a:r>
              <a:rPr lang="en-US" dirty="0"/>
              <a:t>, not </a:t>
            </a:r>
            <a:r>
              <a:rPr lang="en-US" dirty="0" err="1"/>
              <a:t>h</a:t>
            </a:r>
            <a:r>
              <a:rPr lang="en-US" baseline="-25000" dirty="0" err="1"/>
              <a:t>fe</a:t>
            </a:r>
            <a:r>
              <a:rPr lang="en-US" dirty="0" err="1"/>
              <a:t>i</a:t>
            </a:r>
            <a:r>
              <a:rPr lang="en-US" baseline="-25000" dirty="0" err="1"/>
              <a:t>b</a:t>
            </a:r>
            <a:r>
              <a:rPr lang="en-US" dirty="0"/>
              <a:t>.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10A544D-49CC-D135-FB4C-856CFD98FF66}"/>
              </a:ext>
            </a:extLst>
          </p:cNvPr>
          <p:cNvGrpSpPr/>
          <p:nvPr/>
        </p:nvGrpSpPr>
        <p:grpSpPr>
          <a:xfrm>
            <a:off x="4724400" y="381001"/>
            <a:ext cx="4084638" cy="5867399"/>
            <a:chOff x="4724400" y="381001"/>
            <a:chExt cx="4084638" cy="5867399"/>
          </a:xfrm>
        </p:grpSpPr>
        <p:pic>
          <p:nvPicPr>
            <p:cNvPr id="4" name="Picture 5">
              <a:extLst>
                <a:ext uri="{FF2B5EF4-FFF2-40B4-BE49-F238E27FC236}">
                  <a16:creationId xmlns:a16="http://schemas.microsoft.com/office/drawing/2014/main" id="{CCB7C9F6-BB47-DD4F-8691-CA4CF4D056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724400" y="1371600"/>
              <a:ext cx="4084638" cy="48768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=""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26" name="Picture 2" descr="What is a resisitor.types,its uses,defintion,symbols.">
              <a:extLst>
                <a:ext uri="{FF2B5EF4-FFF2-40B4-BE49-F238E27FC236}">
                  <a16:creationId xmlns:a16="http://schemas.microsoft.com/office/drawing/2014/main" id="{55041721-F844-5440-8188-30621A123227}"/>
                </a:ext>
              </a:extLst>
            </p:cNvPr>
            <p:cNvPicPr>
              <a:picLocks noChangeAspect="1" noChangeArrowheads="1"/>
            </p:cNvPicPr>
            <p:nvPr/>
          </p:nvPicPr>
          <p:blipFill rotWithShape="1">
            <a:blip r:embed="rId3" cstate="print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 bwMode="auto">
            <a:xfrm rot="5400000">
              <a:off x="7229593" y="1000008"/>
              <a:ext cx="1600200" cy="3621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5658B6D-5123-E245-A8E2-6E4F040B925A}"/>
                </a:ext>
              </a:extLst>
            </p:cNvPr>
            <p:cNvCxnSpPr/>
            <p:nvPr/>
          </p:nvCxnSpPr>
          <p:spPr>
            <a:xfrm>
              <a:off x="7848600" y="1905000"/>
              <a:ext cx="362186" cy="0"/>
            </a:xfrm>
            <a:prstGeom prst="line">
              <a:avLst/>
            </a:prstGeom>
          </p:spPr>
          <p:style>
            <a:lnRef idx="2">
              <a:schemeClr val="dk1"/>
            </a:lnRef>
            <a:fillRef idx="0">
              <a:schemeClr val="dk1"/>
            </a:fillRef>
            <a:effectRef idx="1">
              <a:schemeClr val="dk1"/>
            </a:effectRef>
            <a:fontRef idx="minor">
              <a:schemeClr val="tx1"/>
            </a:fontRef>
          </p:style>
        </p:cxn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13FD2481-B97A-8E4B-B80C-18CDA3E04251}"/>
                </a:ext>
              </a:extLst>
            </p:cNvPr>
            <p:cNvSpPr txBox="1"/>
            <p:nvPr/>
          </p:nvSpPr>
          <p:spPr>
            <a:xfrm>
              <a:off x="8205407" y="926068"/>
              <a:ext cx="42832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R</a:t>
              </a:r>
              <a:r>
                <a:rPr lang="en-US" baseline="-25000" dirty="0" err="1"/>
                <a:t>c</a:t>
              </a:r>
              <a:endParaRPr lang="en-US" baseline="-25000" dirty="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75E7982A-B1A3-A443-9CC0-3CAFDB7B4BFF}"/>
              </a:ext>
            </a:extLst>
          </p:cNvPr>
          <p:cNvSpPr txBox="1"/>
          <p:nvPr/>
        </p:nvSpPr>
        <p:spPr>
          <a:xfrm>
            <a:off x="7807374" y="33183"/>
            <a:ext cx="49244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V</a:t>
            </a:r>
            <a:r>
              <a:rPr lang="en-US" baseline="-25000" dirty="0" err="1"/>
              <a:t>cc</a:t>
            </a:r>
            <a:endParaRPr lang="en-US" baseline="-25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4A627D0-F089-7743-88EE-94BB83A59C55}"/>
              </a:ext>
            </a:extLst>
          </p:cNvPr>
          <p:cNvSpPr txBox="1"/>
          <p:nvPr/>
        </p:nvSpPr>
        <p:spPr>
          <a:xfrm>
            <a:off x="762000" y="6324600"/>
            <a:ext cx="67818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How do you </a:t>
            </a:r>
            <a:r>
              <a:rPr lang="en-US" sz="2400" i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feel</a:t>
            </a:r>
            <a:r>
              <a:rPr lang="en-US" sz="24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about this model? </a:t>
            </a:r>
          </a:p>
        </p:txBody>
      </p:sp>
    </p:spTree>
    <p:extLst>
      <p:ext uri="{BB962C8B-B14F-4D97-AF65-F5344CB8AC3E}">
        <p14:creationId xmlns:p14="http://schemas.microsoft.com/office/powerpoint/2010/main" val="179881399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055" name="Rectangle 2054">
            <a:extLst>
              <a:ext uri="{FF2B5EF4-FFF2-40B4-BE49-F238E27FC236}">
                <a16:creationId xmlns:a16="http://schemas.microsoft.com/office/drawing/2014/main" id="{45D37F4E-DDB4-456B-97E0-9937730A03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DC4FA9E-C597-D548-6370-5DAE176641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9369" y="238539"/>
            <a:ext cx="8263890" cy="1434415"/>
          </a:xfrm>
        </p:spPr>
        <p:txBody>
          <a:bodyPr anchor="b">
            <a:normAutofit/>
          </a:bodyPr>
          <a:lstStyle/>
          <a:p>
            <a:r>
              <a:rPr lang="en-US" sz="4700"/>
              <a:t>Design Challenge</a:t>
            </a:r>
          </a:p>
        </p:txBody>
      </p:sp>
      <p:sp>
        <p:nvSpPr>
          <p:cNvPr id="2057" name="sketchy line">
            <a:extLst>
              <a:ext uri="{FF2B5EF4-FFF2-40B4-BE49-F238E27FC236}">
                <a16:creationId xmlns:a16="http://schemas.microsoft.com/office/drawing/2014/main" id="{B2DD41CD-8F47-4F56-AD12-4E2FF76969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29369" y="1681544"/>
            <a:ext cx="8229600" cy="18288"/>
          </a:xfrm>
          <a:custGeom>
            <a:avLst/>
            <a:gdLst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1371600 w 8229600"/>
              <a:gd name="connsiteY2" fmla="*/ 0 h 18288"/>
              <a:gd name="connsiteX3" fmla="*/ 2221992 w 8229600"/>
              <a:gd name="connsiteY3" fmla="*/ 0 h 18288"/>
              <a:gd name="connsiteX4" fmla="*/ 3072384 w 8229600"/>
              <a:gd name="connsiteY4" fmla="*/ 0 h 18288"/>
              <a:gd name="connsiteX5" fmla="*/ 3511296 w 8229600"/>
              <a:gd name="connsiteY5" fmla="*/ 0 h 18288"/>
              <a:gd name="connsiteX6" fmla="*/ 4114800 w 8229600"/>
              <a:gd name="connsiteY6" fmla="*/ 0 h 18288"/>
              <a:gd name="connsiteX7" fmla="*/ 4553712 w 8229600"/>
              <a:gd name="connsiteY7" fmla="*/ 0 h 18288"/>
              <a:gd name="connsiteX8" fmla="*/ 5239512 w 8229600"/>
              <a:gd name="connsiteY8" fmla="*/ 0 h 18288"/>
              <a:gd name="connsiteX9" fmla="*/ 5843016 w 8229600"/>
              <a:gd name="connsiteY9" fmla="*/ 0 h 18288"/>
              <a:gd name="connsiteX10" fmla="*/ 6611112 w 8229600"/>
              <a:gd name="connsiteY10" fmla="*/ 0 h 18288"/>
              <a:gd name="connsiteX11" fmla="*/ 7461504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461504 w 8229600"/>
              <a:gd name="connsiteY14" fmla="*/ 18288 h 18288"/>
              <a:gd name="connsiteX15" fmla="*/ 6940296 w 8229600"/>
              <a:gd name="connsiteY15" fmla="*/ 18288 h 18288"/>
              <a:gd name="connsiteX16" fmla="*/ 6419088 w 8229600"/>
              <a:gd name="connsiteY16" fmla="*/ 18288 h 18288"/>
              <a:gd name="connsiteX17" fmla="*/ 5650992 w 8229600"/>
              <a:gd name="connsiteY17" fmla="*/ 18288 h 18288"/>
              <a:gd name="connsiteX18" fmla="*/ 5129784 w 8229600"/>
              <a:gd name="connsiteY18" fmla="*/ 18288 h 18288"/>
              <a:gd name="connsiteX19" fmla="*/ 4690872 w 8229600"/>
              <a:gd name="connsiteY19" fmla="*/ 18288 h 18288"/>
              <a:gd name="connsiteX20" fmla="*/ 4087368 w 8229600"/>
              <a:gd name="connsiteY20" fmla="*/ 18288 h 18288"/>
              <a:gd name="connsiteX21" fmla="*/ 3401568 w 8229600"/>
              <a:gd name="connsiteY21" fmla="*/ 18288 h 18288"/>
              <a:gd name="connsiteX22" fmla="*/ 2798064 w 8229600"/>
              <a:gd name="connsiteY22" fmla="*/ 18288 h 18288"/>
              <a:gd name="connsiteX23" fmla="*/ 2276856 w 8229600"/>
              <a:gd name="connsiteY23" fmla="*/ 18288 h 18288"/>
              <a:gd name="connsiteX24" fmla="*/ 1426464 w 8229600"/>
              <a:gd name="connsiteY24" fmla="*/ 18288 h 18288"/>
              <a:gd name="connsiteX25" fmla="*/ 740664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  <a:gd name="connsiteX0" fmla="*/ 0 w 8229600"/>
              <a:gd name="connsiteY0" fmla="*/ 0 h 18288"/>
              <a:gd name="connsiteX1" fmla="*/ 521208 w 8229600"/>
              <a:gd name="connsiteY1" fmla="*/ 0 h 18288"/>
              <a:gd name="connsiteX2" fmla="*/ 960120 w 8229600"/>
              <a:gd name="connsiteY2" fmla="*/ 0 h 18288"/>
              <a:gd name="connsiteX3" fmla="*/ 1481328 w 8229600"/>
              <a:gd name="connsiteY3" fmla="*/ 0 h 18288"/>
              <a:gd name="connsiteX4" fmla="*/ 2167128 w 8229600"/>
              <a:gd name="connsiteY4" fmla="*/ 0 h 18288"/>
              <a:gd name="connsiteX5" fmla="*/ 2935224 w 8229600"/>
              <a:gd name="connsiteY5" fmla="*/ 0 h 18288"/>
              <a:gd name="connsiteX6" fmla="*/ 3785616 w 8229600"/>
              <a:gd name="connsiteY6" fmla="*/ 0 h 18288"/>
              <a:gd name="connsiteX7" fmla="*/ 4636008 w 8229600"/>
              <a:gd name="connsiteY7" fmla="*/ 0 h 18288"/>
              <a:gd name="connsiteX8" fmla="*/ 5239512 w 8229600"/>
              <a:gd name="connsiteY8" fmla="*/ 0 h 18288"/>
              <a:gd name="connsiteX9" fmla="*/ 6007608 w 8229600"/>
              <a:gd name="connsiteY9" fmla="*/ 0 h 18288"/>
              <a:gd name="connsiteX10" fmla="*/ 6693408 w 8229600"/>
              <a:gd name="connsiteY10" fmla="*/ 0 h 18288"/>
              <a:gd name="connsiteX11" fmla="*/ 7296912 w 8229600"/>
              <a:gd name="connsiteY11" fmla="*/ 0 h 18288"/>
              <a:gd name="connsiteX12" fmla="*/ 8229600 w 8229600"/>
              <a:gd name="connsiteY12" fmla="*/ 0 h 18288"/>
              <a:gd name="connsiteX13" fmla="*/ 8229600 w 8229600"/>
              <a:gd name="connsiteY13" fmla="*/ 18288 h 18288"/>
              <a:gd name="connsiteX14" fmla="*/ 7626096 w 8229600"/>
              <a:gd name="connsiteY14" fmla="*/ 18288 h 18288"/>
              <a:gd name="connsiteX15" fmla="*/ 7022592 w 8229600"/>
              <a:gd name="connsiteY15" fmla="*/ 18288 h 18288"/>
              <a:gd name="connsiteX16" fmla="*/ 6172200 w 8229600"/>
              <a:gd name="connsiteY16" fmla="*/ 18288 h 18288"/>
              <a:gd name="connsiteX17" fmla="*/ 5650992 w 8229600"/>
              <a:gd name="connsiteY17" fmla="*/ 18288 h 18288"/>
              <a:gd name="connsiteX18" fmla="*/ 4882896 w 8229600"/>
              <a:gd name="connsiteY18" fmla="*/ 18288 h 18288"/>
              <a:gd name="connsiteX19" fmla="*/ 4443984 w 8229600"/>
              <a:gd name="connsiteY19" fmla="*/ 18288 h 18288"/>
              <a:gd name="connsiteX20" fmla="*/ 3758184 w 8229600"/>
              <a:gd name="connsiteY20" fmla="*/ 18288 h 18288"/>
              <a:gd name="connsiteX21" fmla="*/ 3236976 w 8229600"/>
              <a:gd name="connsiteY21" fmla="*/ 18288 h 18288"/>
              <a:gd name="connsiteX22" fmla="*/ 2386584 w 8229600"/>
              <a:gd name="connsiteY22" fmla="*/ 18288 h 18288"/>
              <a:gd name="connsiteX23" fmla="*/ 1947672 w 8229600"/>
              <a:gd name="connsiteY23" fmla="*/ 18288 h 18288"/>
              <a:gd name="connsiteX24" fmla="*/ 1261872 w 8229600"/>
              <a:gd name="connsiteY24" fmla="*/ 18288 h 18288"/>
              <a:gd name="connsiteX25" fmla="*/ 822960 w 8229600"/>
              <a:gd name="connsiteY25" fmla="*/ 18288 h 18288"/>
              <a:gd name="connsiteX26" fmla="*/ 0 w 8229600"/>
              <a:gd name="connsiteY26" fmla="*/ 18288 h 18288"/>
              <a:gd name="connsiteX27" fmla="*/ 0 w 8229600"/>
              <a:gd name="connsiteY27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8229600" h="18288" fill="none" extrusionOk="0">
                <a:moveTo>
                  <a:pt x="0" y="0"/>
                </a:moveTo>
                <a:cubicBezTo>
                  <a:pt x="215278" y="6969"/>
                  <a:pt x="340572" y="21894"/>
                  <a:pt x="521208" y="0"/>
                </a:cubicBezTo>
                <a:cubicBezTo>
                  <a:pt x="745939" y="29643"/>
                  <a:pt x="1127486" y="-40512"/>
                  <a:pt x="1371600" y="0"/>
                </a:cubicBezTo>
                <a:cubicBezTo>
                  <a:pt x="1567490" y="28416"/>
                  <a:pt x="1945702" y="13075"/>
                  <a:pt x="2221992" y="0"/>
                </a:cubicBezTo>
                <a:cubicBezTo>
                  <a:pt x="2446218" y="-17340"/>
                  <a:pt x="2853686" y="-7924"/>
                  <a:pt x="3072384" y="0"/>
                </a:cubicBezTo>
                <a:cubicBezTo>
                  <a:pt x="3286960" y="20656"/>
                  <a:pt x="3324417" y="20174"/>
                  <a:pt x="3511296" y="0"/>
                </a:cubicBezTo>
                <a:cubicBezTo>
                  <a:pt x="3710690" y="-39182"/>
                  <a:pt x="3945457" y="-64074"/>
                  <a:pt x="4114800" y="0"/>
                </a:cubicBezTo>
                <a:cubicBezTo>
                  <a:pt x="4336079" y="28138"/>
                  <a:pt x="4420759" y="12117"/>
                  <a:pt x="4553712" y="0"/>
                </a:cubicBezTo>
                <a:cubicBezTo>
                  <a:pt x="4688252" y="-2224"/>
                  <a:pt x="5047430" y="19664"/>
                  <a:pt x="5239512" y="0"/>
                </a:cubicBezTo>
                <a:cubicBezTo>
                  <a:pt x="5424392" y="-49610"/>
                  <a:pt x="5708717" y="13540"/>
                  <a:pt x="5843016" y="0"/>
                </a:cubicBezTo>
                <a:cubicBezTo>
                  <a:pt x="6005788" y="32949"/>
                  <a:pt x="6198255" y="37080"/>
                  <a:pt x="6611112" y="0"/>
                </a:cubicBezTo>
                <a:cubicBezTo>
                  <a:pt x="6954152" y="635"/>
                  <a:pt x="7244390" y="18057"/>
                  <a:pt x="7461504" y="0"/>
                </a:cubicBezTo>
                <a:cubicBezTo>
                  <a:pt x="7693790" y="9882"/>
                  <a:pt x="7984486" y="17646"/>
                  <a:pt x="8229600" y="0"/>
                </a:cubicBezTo>
                <a:cubicBezTo>
                  <a:pt x="8228428" y="6016"/>
                  <a:pt x="8229853" y="9684"/>
                  <a:pt x="8229600" y="18288"/>
                </a:cubicBezTo>
                <a:cubicBezTo>
                  <a:pt x="7945777" y="19945"/>
                  <a:pt x="7812308" y="-8511"/>
                  <a:pt x="7461504" y="18288"/>
                </a:cubicBezTo>
                <a:cubicBezTo>
                  <a:pt x="7129391" y="53185"/>
                  <a:pt x="7087333" y="41906"/>
                  <a:pt x="6940296" y="18288"/>
                </a:cubicBezTo>
                <a:cubicBezTo>
                  <a:pt x="6810862" y="-23020"/>
                  <a:pt x="6701312" y="19361"/>
                  <a:pt x="6419088" y="18288"/>
                </a:cubicBezTo>
                <a:cubicBezTo>
                  <a:pt x="6152777" y="18855"/>
                  <a:pt x="5868611" y="48802"/>
                  <a:pt x="5650992" y="18288"/>
                </a:cubicBezTo>
                <a:cubicBezTo>
                  <a:pt x="5439747" y="15250"/>
                  <a:pt x="5334901" y="-1044"/>
                  <a:pt x="5129784" y="18288"/>
                </a:cubicBezTo>
                <a:cubicBezTo>
                  <a:pt x="4955906" y="40458"/>
                  <a:pt x="4793216" y="33888"/>
                  <a:pt x="4690872" y="18288"/>
                </a:cubicBezTo>
                <a:cubicBezTo>
                  <a:pt x="4552374" y="31087"/>
                  <a:pt x="4318742" y="6248"/>
                  <a:pt x="4087368" y="18288"/>
                </a:cubicBezTo>
                <a:cubicBezTo>
                  <a:pt x="3849418" y="32625"/>
                  <a:pt x="3751577" y="29688"/>
                  <a:pt x="3401568" y="18288"/>
                </a:cubicBezTo>
                <a:cubicBezTo>
                  <a:pt x="3067953" y="20409"/>
                  <a:pt x="3012425" y="26879"/>
                  <a:pt x="2798064" y="18288"/>
                </a:cubicBezTo>
                <a:cubicBezTo>
                  <a:pt x="2565154" y="16520"/>
                  <a:pt x="2426719" y="-31794"/>
                  <a:pt x="2276856" y="18288"/>
                </a:cubicBezTo>
                <a:cubicBezTo>
                  <a:pt x="2090980" y="4382"/>
                  <a:pt x="1702030" y="-8180"/>
                  <a:pt x="1426464" y="18288"/>
                </a:cubicBezTo>
                <a:cubicBezTo>
                  <a:pt x="1104481" y="69643"/>
                  <a:pt x="985013" y="-7690"/>
                  <a:pt x="740664" y="18288"/>
                </a:cubicBezTo>
                <a:cubicBezTo>
                  <a:pt x="507391" y="41643"/>
                  <a:pt x="191740" y="-11654"/>
                  <a:pt x="0" y="18288"/>
                </a:cubicBezTo>
                <a:cubicBezTo>
                  <a:pt x="714" y="9707"/>
                  <a:pt x="1025" y="3120"/>
                  <a:pt x="0" y="0"/>
                </a:cubicBezTo>
                <a:close/>
              </a:path>
              <a:path w="8229600" h="18288" stroke="0" extrusionOk="0">
                <a:moveTo>
                  <a:pt x="0" y="0"/>
                </a:moveTo>
                <a:cubicBezTo>
                  <a:pt x="270709" y="-27213"/>
                  <a:pt x="397128" y="23656"/>
                  <a:pt x="521208" y="0"/>
                </a:cubicBezTo>
                <a:cubicBezTo>
                  <a:pt x="631319" y="-5947"/>
                  <a:pt x="842157" y="28261"/>
                  <a:pt x="960120" y="0"/>
                </a:cubicBezTo>
                <a:cubicBezTo>
                  <a:pt x="1077930" y="6549"/>
                  <a:pt x="1318669" y="-15893"/>
                  <a:pt x="1481328" y="0"/>
                </a:cubicBezTo>
                <a:cubicBezTo>
                  <a:pt x="1659104" y="-21090"/>
                  <a:pt x="1870243" y="69945"/>
                  <a:pt x="2167128" y="0"/>
                </a:cubicBezTo>
                <a:cubicBezTo>
                  <a:pt x="2460684" y="-5519"/>
                  <a:pt x="2753885" y="-62993"/>
                  <a:pt x="2935224" y="0"/>
                </a:cubicBezTo>
                <a:cubicBezTo>
                  <a:pt x="3115119" y="56580"/>
                  <a:pt x="3535280" y="40687"/>
                  <a:pt x="3785616" y="0"/>
                </a:cubicBezTo>
                <a:cubicBezTo>
                  <a:pt x="4057881" y="25645"/>
                  <a:pt x="4308335" y="-2666"/>
                  <a:pt x="4636008" y="0"/>
                </a:cubicBezTo>
                <a:cubicBezTo>
                  <a:pt x="4987152" y="19805"/>
                  <a:pt x="5025979" y="14149"/>
                  <a:pt x="5239512" y="0"/>
                </a:cubicBezTo>
                <a:cubicBezTo>
                  <a:pt x="5437586" y="211"/>
                  <a:pt x="5752721" y="5618"/>
                  <a:pt x="6007608" y="0"/>
                </a:cubicBezTo>
                <a:cubicBezTo>
                  <a:pt x="6280137" y="-5132"/>
                  <a:pt x="6386079" y="-21510"/>
                  <a:pt x="6693408" y="0"/>
                </a:cubicBezTo>
                <a:cubicBezTo>
                  <a:pt x="6986580" y="4991"/>
                  <a:pt x="7015252" y="-18088"/>
                  <a:pt x="7296912" y="0"/>
                </a:cubicBezTo>
                <a:cubicBezTo>
                  <a:pt x="7569796" y="10390"/>
                  <a:pt x="7895472" y="71473"/>
                  <a:pt x="8229600" y="0"/>
                </a:cubicBezTo>
                <a:cubicBezTo>
                  <a:pt x="8230227" y="7450"/>
                  <a:pt x="8228885" y="11999"/>
                  <a:pt x="8229600" y="18288"/>
                </a:cubicBezTo>
                <a:cubicBezTo>
                  <a:pt x="8094333" y="-5252"/>
                  <a:pt x="7850928" y="37448"/>
                  <a:pt x="7626096" y="18288"/>
                </a:cubicBezTo>
                <a:cubicBezTo>
                  <a:pt x="7448378" y="-569"/>
                  <a:pt x="7315174" y="-1844"/>
                  <a:pt x="7022592" y="18288"/>
                </a:cubicBezTo>
                <a:cubicBezTo>
                  <a:pt x="6686163" y="50499"/>
                  <a:pt x="6352629" y="23510"/>
                  <a:pt x="6172200" y="18288"/>
                </a:cubicBezTo>
                <a:cubicBezTo>
                  <a:pt x="6015590" y="42345"/>
                  <a:pt x="5770309" y="21278"/>
                  <a:pt x="5650992" y="18288"/>
                </a:cubicBezTo>
                <a:cubicBezTo>
                  <a:pt x="5483975" y="12092"/>
                  <a:pt x="5165324" y="68948"/>
                  <a:pt x="4882896" y="18288"/>
                </a:cubicBezTo>
                <a:cubicBezTo>
                  <a:pt x="4568934" y="7053"/>
                  <a:pt x="4556334" y="27676"/>
                  <a:pt x="4443984" y="18288"/>
                </a:cubicBezTo>
                <a:cubicBezTo>
                  <a:pt x="4320775" y="10576"/>
                  <a:pt x="4034988" y="-3490"/>
                  <a:pt x="3758184" y="18288"/>
                </a:cubicBezTo>
                <a:cubicBezTo>
                  <a:pt x="3445155" y="-998"/>
                  <a:pt x="3367892" y="13824"/>
                  <a:pt x="3236976" y="18288"/>
                </a:cubicBezTo>
                <a:cubicBezTo>
                  <a:pt x="3093796" y="26408"/>
                  <a:pt x="2635824" y="24132"/>
                  <a:pt x="2386584" y="18288"/>
                </a:cubicBezTo>
                <a:cubicBezTo>
                  <a:pt x="2139815" y="-3297"/>
                  <a:pt x="2105958" y="25945"/>
                  <a:pt x="1947672" y="18288"/>
                </a:cubicBezTo>
                <a:cubicBezTo>
                  <a:pt x="1801011" y="-19911"/>
                  <a:pt x="1533636" y="14646"/>
                  <a:pt x="1261872" y="18288"/>
                </a:cubicBezTo>
                <a:cubicBezTo>
                  <a:pt x="989528" y="32227"/>
                  <a:pt x="1025848" y="14685"/>
                  <a:pt x="822960" y="18288"/>
                </a:cubicBezTo>
                <a:cubicBezTo>
                  <a:pt x="653456" y="20956"/>
                  <a:pt x="304027" y="8001"/>
                  <a:pt x="0" y="18288"/>
                </a:cubicBezTo>
                <a:cubicBezTo>
                  <a:pt x="-27" y="11611"/>
                  <a:pt x="-1713" y="5475"/>
                  <a:pt x="0" y="0"/>
                </a:cubicBezTo>
                <a:close/>
              </a:path>
              <a:path w="8229600" h="18288" fill="none" stroke="0" extrusionOk="0">
                <a:moveTo>
                  <a:pt x="0" y="0"/>
                </a:moveTo>
                <a:cubicBezTo>
                  <a:pt x="205130" y="6064"/>
                  <a:pt x="324007" y="6684"/>
                  <a:pt x="521208" y="0"/>
                </a:cubicBezTo>
                <a:cubicBezTo>
                  <a:pt x="695888" y="-14632"/>
                  <a:pt x="1101879" y="6017"/>
                  <a:pt x="1371600" y="0"/>
                </a:cubicBezTo>
                <a:cubicBezTo>
                  <a:pt x="1622968" y="4691"/>
                  <a:pt x="1936552" y="-7433"/>
                  <a:pt x="2221992" y="0"/>
                </a:cubicBezTo>
                <a:cubicBezTo>
                  <a:pt x="2498663" y="51226"/>
                  <a:pt x="2885875" y="-8757"/>
                  <a:pt x="3072384" y="0"/>
                </a:cubicBezTo>
                <a:cubicBezTo>
                  <a:pt x="3288944" y="24235"/>
                  <a:pt x="3331110" y="5443"/>
                  <a:pt x="3511296" y="0"/>
                </a:cubicBezTo>
                <a:cubicBezTo>
                  <a:pt x="3687973" y="-19690"/>
                  <a:pt x="3901025" y="-20092"/>
                  <a:pt x="4114800" y="0"/>
                </a:cubicBezTo>
                <a:cubicBezTo>
                  <a:pt x="4336102" y="32988"/>
                  <a:pt x="4416982" y="-5831"/>
                  <a:pt x="4553712" y="0"/>
                </a:cubicBezTo>
                <a:cubicBezTo>
                  <a:pt x="4674310" y="-5056"/>
                  <a:pt x="5080160" y="-12181"/>
                  <a:pt x="5239512" y="0"/>
                </a:cubicBezTo>
                <a:cubicBezTo>
                  <a:pt x="5419031" y="-38513"/>
                  <a:pt x="5691629" y="2226"/>
                  <a:pt x="5843016" y="0"/>
                </a:cubicBezTo>
                <a:cubicBezTo>
                  <a:pt x="5978317" y="-40553"/>
                  <a:pt x="6314754" y="9782"/>
                  <a:pt x="6611112" y="0"/>
                </a:cubicBezTo>
                <a:cubicBezTo>
                  <a:pt x="6973004" y="-17646"/>
                  <a:pt x="7175490" y="18489"/>
                  <a:pt x="7461504" y="0"/>
                </a:cubicBezTo>
                <a:cubicBezTo>
                  <a:pt x="7746737" y="-34159"/>
                  <a:pt x="7962178" y="39853"/>
                  <a:pt x="8229600" y="0"/>
                </a:cubicBezTo>
                <a:cubicBezTo>
                  <a:pt x="8228796" y="5852"/>
                  <a:pt x="8229698" y="10429"/>
                  <a:pt x="8229600" y="18288"/>
                </a:cubicBezTo>
                <a:cubicBezTo>
                  <a:pt x="7944174" y="-29104"/>
                  <a:pt x="7795646" y="-34405"/>
                  <a:pt x="7461504" y="18288"/>
                </a:cubicBezTo>
                <a:cubicBezTo>
                  <a:pt x="7129776" y="51087"/>
                  <a:pt x="7082769" y="31446"/>
                  <a:pt x="6940296" y="18288"/>
                </a:cubicBezTo>
                <a:cubicBezTo>
                  <a:pt x="6799665" y="-15875"/>
                  <a:pt x="6652769" y="31783"/>
                  <a:pt x="6419088" y="18288"/>
                </a:cubicBezTo>
                <a:cubicBezTo>
                  <a:pt x="6143970" y="52275"/>
                  <a:pt x="5863165" y="-16531"/>
                  <a:pt x="5650992" y="18288"/>
                </a:cubicBezTo>
                <a:cubicBezTo>
                  <a:pt x="5419172" y="40606"/>
                  <a:pt x="5309448" y="-405"/>
                  <a:pt x="5129784" y="18288"/>
                </a:cubicBezTo>
                <a:cubicBezTo>
                  <a:pt x="4947928" y="26023"/>
                  <a:pt x="4795021" y="5860"/>
                  <a:pt x="4690872" y="18288"/>
                </a:cubicBezTo>
                <a:cubicBezTo>
                  <a:pt x="4564358" y="-9579"/>
                  <a:pt x="4295485" y="-25280"/>
                  <a:pt x="4087368" y="18288"/>
                </a:cubicBezTo>
                <a:cubicBezTo>
                  <a:pt x="3871704" y="40406"/>
                  <a:pt x="3732927" y="-10898"/>
                  <a:pt x="3401568" y="18288"/>
                </a:cubicBezTo>
                <a:cubicBezTo>
                  <a:pt x="3075889" y="19660"/>
                  <a:pt x="3025898" y="44400"/>
                  <a:pt x="2798064" y="18288"/>
                </a:cubicBezTo>
                <a:cubicBezTo>
                  <a:pt x="2581856" y="-20869"/>
                  <a:pt x="2428311" y="-4900"/>
                  <a:pt x="2276856" y="18288"/>
                </a:cubicBezTo>
                <a:cubicBezTo>
                  <a:pt x="2098246" y="53283"/>
                  <a:pt x="1737531" y="55959"/>
                  <a:pt x="1426464" y="18288"/>
                </a:cubicBezTo>
                <a:cubicBezTo>
                  <a:pt x="1104708" y="26489"/>
                  <a:pt x="1006595" y="15928"/>
                  <a:pt x="740664" y="18288"/>
                </a:cubicBezTo>
                <a:cubicBezTo>
                  <a:pt x="480378" y="33084"/>
                  <a:pt x="202592" y="-12357"/>
                  <a:pt x="0" y="18288"/>
                </a:cubicBezTo>
                <a:cubicBezTo>
                  <a:pt x="888" y="9601"/>
                  <a:pt x="860" y="4150"/>
                  <a:pt x="0" y="0"/>
                </a:cubicBezTo>
                <a:close/>
              </a:path>
            </a:pathLst>
          </a:custGeom>
          <a:solidFill>
            <a:schemeClr val="accent2">
              <a:alpha val="75000"/>
            </a:schemeClr>
          </a:solidFill>
          <a:ln w="44450" cap="rnd">
            <a:solidFill>
              <a:schemeClr val="accent2">
                <a:alpha val="75000"/>
              </a:schemeClr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custGeom>
                    <a:avLst/>
                    <a:gdLst>
                      <a:gd name="connsiteX0" fmla="*/ 0 w 8229600"/>
                      <a:gd name="connsiteY0" fmla="*/ 0 h 18288"/>
                      <a:gd name="connsiteX1" fmla="*/ 521208 w 8229600"/>
                      <a:gd name="connsiteY1" fmla="*/ 0 h 18288"/>
                      <a:gd name="connsiteX2" fmla="*/ 1371600 w 8229600"/>
                      <a:gd name="connsiteY2" fmla="*/ 0 h 18288"/>
                      <a:gd name="connsiteX3" fmla="*/ 2221992 w 8229600"/>
                      <a:gd name="connsiteY3" fmla="*/ 0 h 18288"/>
                      <a:gd name="connsiteX4" fmla="*/ 3072384 w 8229600"/>
                      <a:gd name="connsiteY4" fmla="*/ 0 h 18288"/>
                      <a:gd name="connsiteX5" fmla="*/ 3511296 w 8229600"/>
                      <a:gd name="connsiteY5" fmla="*/ 0 h 18288"/>
                      <a:gd name="connsiteX6" fmla="*/ 4114800 w 8229600"/>
                      <a:gd name="connsiteY6" fmla="*/ 0 h 18288"/>
                      <a:gd name="connsiteX7" fmla="*/ 4553712 w 8229600"/>
                      <a:gd name="connsiteY7" fmla="*/ 0 h 18288"/>
                      <a:gd name="connsiteX8" fmla="*/ 5239512 w 8229600"/>
                      <a:gd name="connsiteY8" fmla="*/ 0 h 18288"/>
                      <a:gd name="connsiteX9" fmla="*/ 5843016 w 8229600"/>
                      <a:gd name="connsiteY9" fmla="*/ 0 h 18288"/>
                      <a:gd name="connsiteX10" fmla="*/ 6611112 w 8229600"/>
                      <a:gd name="connsiteY10" fmla="*/ 0 h 18288"/>
                      <a:gd name="connsiteX11" fmla="*/ 7461504 w 8229600"/>
                      <a:gd name="connsiteY11" fmla="*/ 0 h 18288"/>
                      <a:gd name="connsiteX12" fmla="*/ 8229600 w 8229600"/>
                      <a:gd name="connsiteY12" fmla="*/ 0 h 18288"/>
                      <a:gd name="connsiteX13" fmla="*/ 8229600 w 8229600"/>
                      <a:gd name="connsiteY13" fmla="*/ 18288 h 18288"/>
                      <a:gd name="connsiteX14" fmla="*/ 7461504 w 8229600"/>
                      <a:gd name="connsiteY14" fmla="*/ 18288 h 18288"/>
                      <a:gd name="connsiteX15" fmla="*/ 6940296 w 8229600"/>
                      <a:gd name="connsiteY15" fmla="*/ 18288 h 18288"/>
                      <a:gd name="connsiteX16" fmla="*/ 6419088 w 8229600"/>
                      <a:gd name="connsiteY16" fmla="*/ 18288 h 18288"/>
                      <a:gd name="connsiteX17" fmla="*/ 5650992 w 8229600"/>
                      <a:gd name="connsiteY17" fmla="*/ 18288 h 18288"/>
                      <a:gd name="connsiteX18" fmla="*/ 5129784 w 8229600"/>
                      <a:gd name="connsiteY18" fmla="*/ 18288 h 18288"/>
                      <a:gd name="connsiteX19" fmla="*/ 4690872 w 8229600"/>
                      <a:gd name="connsiteY19" fmla="*/ 18288 h 18288"/>
                      <a:gd name="connsiteX20" fmla="*/ 4087368 w 8229600"/>
                      <a:gd name="connsiteY20" fmla="*/ 18288 h 18288"/>
                      <a:gd name="connsiteX21" fmla="*/ 3401568 w 8229600"/>
                      <a:gd name="connsiteY21" fmla="*/ 18288 h 18288"/>
                      <a:gd name="connsiteX22" fmla="*/ 2798064 w 8229600"/>
                      <a:gd name="connsiteY22" fmla="*/ 18288 h 18288"/>
                      <a:gd name="connsiteX23" fmla="*/ 2276856 w 8229600"/>
                      <a:gd name="connsiteY23" fmla="*/ 18288 h 18288"/>
                      <a:gd name="connsiteX24" fmla="*/ 1426464 w 8229600"/>
                      <a:gd name="connsiteY24" fmla="*/ 18288 h 18288"/>
                      <a:gd name="connsiteX25" fmla="*/ 740664 w 8229600"/>
                      <a:gd name="connsiteY25" fmla="*/ 18288 h 18288"/>
                      <a:gd name="connsiteX26" fmla="*/ 0 w 8229600"/>
                      <a:gd name="connsiteY26" fmla="*/ 18288 h 18288"/>
                      <a:gd name="connsiteX27" fmla="*/ 0 w 8229600"/>
                      <a:gd name="connsiteY27" fmla="*/ 0 h 18288"/>
                    </a:gdLst>
                    <a:ahLst/>
                    <a:cxnLst>
                      <a:cxn ang="0">
                        <a:pos x="connsiteX0" y="connsiteY0"/>
                      </a:cxn>
                      <a:cxn ang="0">
                        <a:pos x="connsiteX1" y="connsiteY1"/>
                      </a:cxn>
                      <a:cxn ang="0">
                        <a:pos x="connsiteX2" y="connsiteY2"/>
                      </a:cxn>
                      <a:cxn ang="0">
                        <a:pos x="connsiteX3" y="connsiteY3"/>
                      </a:cxn>
                      <a:cxn ang="0">
                        <a:pos x="connsiteX4" y="connsiteY4"/>
                      </a:cxn>
                      <a:cxn ang="0">
                        <a:pos x="connsiteX5" y="connsiteY5"/>
                      </a:cxn>
                      <a:cxn ang="0">
                        <a:pos x="connsiteX6" y="connsiteY6"/>
                      </a:cxn>
                      <a:cxn ang="0">
                        <a:pos x="connsiteX7" y="connsiteY7"/>
                      </a:cxn>
                      <a:cxn ang="0">
                        <a:pos x="connsiteX8" y="connsiteY8"/>
                      </a:cxn>
                      <a:cxn ang="0">
                        <a:pos x="connsiteX9" y="connsiteY9"/>
                      </a:cxn>
                      <a:cxn ang="0">
                        <a:pos x="connsiteX10" y="connsiteY10"/>
                      </a:cxn>
                      <a:cxn ang="0">
                        <a:pos x="connsiteX11" y="connsiteY11"/>
                      </a:cxn>
                      <a:cxn ang="0">
                        <a:pos x="connsiteX12" y="connsiteY12"/>
                      </a:cxn>
                      <a:cxn ang="0">
                        <a:pos x="connsiteX13" y="connsiteY13"/>
                      </a:cxn>
                      <a:cxn ang="0">
                        <a:pos x="connsiteX14" y="connsiteY14"/>
                      </a:cxn>
                      <a:cxn ang="0">
                        <a:pos x="connsiteX15" y="connsiteY15"/>
                      </a:cxn>
                      <a:cxn ang="0">
                        <a:pos x="connsiteX16" y="connsiteY16"/>
                      </a:cxn>
                      <a:cxn ang="0">
                        <a:pos x="connsiteX17" y="connsiteY17"/>
                      </a:cxn>
                      <a:cxn ang="0">
                        <a:pos x="connsiteX18" y="connsiteY18"/>
                      </a:cxn>
                      <a:cxn ang="0">
                        <a:pos x="connsiteX19" y="connsiteY19"/>
                      </a:cxn>
                      <a:cxn ang="0">
                        <a:pos x="connsiteX20" y="connsiteY20"/>
                      </a:cxn>
                      <a:cxn ang="0">
                        <a:pos x="connsiteX21" y="connsiteY21"/>
                      </a:cxn>
                      <a:cxn ang="0">
                        <a:pos x="connsiteX22" y="connsiteY22"/>
                      </a:cxn>
                      <a:cxn ang="0">
                        <a:pos x="connsiteX23" y="connsiteY23"/>
                      </a:cxn>
                      <a:cxn ang="0">
                        <a:pos x="connsiteX24" y="connsiteY24"/>
                      </a:cxn>
                      <a:cxn ang="0">
                        <a:pos x="connsiteX25" y="connsiteY25"/>
                      </a:cxn>
                      <a:cxn ang="0">
                        <a:pos x="connsiteX26" y="connsiteY26"/>
                      </a:cxn>
                      <a:cxn ang="0">
                        <a:pos x="connsiteX27" y="connsiteY27"/>
                      </a:cxn>
                    </a:cxnLst>
                    <a:rect l="l" t="t" r="r" b="b"/>
                    <a:pathLst>
                      <a:path w="8229600" h="18288" fill="none" extrusionOk="0">
                        <a:moveTo>
                          <a:pt x="0" y="0"/>
                        </a:moveTo>
                        <a:cubicBezTo>
                          <a:pt x="227594" y="-4267"/>
                          <a:pt x="329693" y="13251"/>
                          <a:pt x="521208" y="0"/>
                        </a:cubicBezTo>
                        <a:cubicBezTo>
                          <a:pt x="712723" y="-13251"/>
                          <a:pt x="1137373" y="-13618"/>
                          <a:pt x="1371600" y="0"/>
                        </a:cubicBezTo>
                        <a:cubicBezTo>
                          <a:pt x="1605827" y="13618"/>
                          <a:pt x="1975382" y="-27374"/>
                          <a:pt x="2221992" y="0"/>
                        </a:cubicBezTo>
                        <a:cubicBezTo>
                          <a:pt x="2468602" y="27374"/>
                          <a:pt x="2863316" y="-20517"/>
                          <a:pt x="3072384" y="0"/>
                        </a:cubicBezTo>
                        <a:cubicBezTo>
                          <a:pt x="3281452" y="20517"/>
                          <a:pt x="3331438" y="10793"/>
                          <a:pt x="3511296" y="0"/>
                        </a:cubicBezTo>
                        <a:cubicBezTo>
                          <a:pt x="3691154" y="-10793"/>
                          <a:pt x="3906405" y="-29737"/>
                          <a:pt x="4114800" y="0"/>
                        </a:cubicBezTo>
                        <a:cubicBezTo>
                          <a:pt x="4323195" y="29737"/>
                          <a:pt x="4428852" y="-2234"/>
                          <a:pt x="4553712" y="0"/>
                        </a:cubicBezTo>
                        <a:cubicBezTo>
                          <a:pt x="4678572" y="2234"/>
                          <a:pt x="5065629" y="29368"/>
                          <a:pt x="5239512" y="0"/>
                        </a:cubicBezTo>
                        <a:cubicBezTo>
                          <a:pt x="5413395" y="-29368"/>
                          <a:pt x="5703888" y="11839"/>
                          <a:pt x="5843016" y="0"/>
                        </a:cubicBezTo>
                        <a:cubicBezTo>
                          <a:pt x="5982144" y="-11839"/>
                          <a:pt x="6260765" y="24719"/>
                          <a:pt x="6611112" y="0"/>
                        </a:cubicBezTo>
                        <a:cubicBezTo>
                          <a:pt x="6961459" y="-24719"/>
                          <a:pt x="7228293" y="32959"/>
                          <a:pt x="7461504" y="0"/>
                        </a:cubicBezTo>
                        <a:cubicBezTo>
                          <a:pt x="7694715" y="-32959"/>
                          <a:pt x="7990029" y="-3422"/>
                          <a:pt x="8229600" y="0"/>
                        </a:cubicBezTo>
                        <a:cubicBezTo>
                          <a:pt x="8228940" y="5812"/>
                          <a:pt x="8229447" y="9773"/>
                          <a:pt x="8229600" y="18288"/>
                        </a:cubicBezTo>
                        <a:cubicBezTo>
                          <a:pt x="7940706" y="-9293"/>
                          <a:pt x="7792584" y="-16009"/>
                          <a:pt x="7461504" y="18288"/>
                        </a:cubicBezTo>
                        <a:cubicBezTo>
                          <a:pt x="7130424" y="52585"/>
                          <a:pt x="7080072" y="43845"/>
                          <a:pt x="6940296" y="18288"/>
                        </a:cubicBezTo>
                        <a:cubicBezTo>
                          <a:pt x="6800520" y="-7269"/>
                          <a:pt x="6672872" y="26671"/>
                          <a:pt x="6419088" y="18288"/>
                        </a:cubicBezTo>
                        <a:cubicBezTo>
                          <a:pt x="6165304" y="9905"/>
                          <a:pt x="5869721" y="4987"/>
                          <a:pt x="5650992" y="18288"/>
                        </a:cubicBezTo>
                        <a:cubicBezTo>
                          <a:pt x="5432263" y="31589"/>
                          <a:pt x="5308310" y="3023"/>
                          <a:pt x="5129784" y="18288"/>
                        </a:cubicBezTo>
                        <a:cubicBezTo>
                          <a:pt x="4951258" y="33553"/>
                          <a:pt x="4799696" y="15357"/>
                          <a:pt x="4690872" y="18288"/>
                        </a:cubicBezTo>
                        <a:cubicBezTo>
                          <a:pt x="4582048" y="21219"/>
                          <a:pt x="4311124" y="-7836"/>
                          <a:pt x="4087368" y="18288"/>
                        </a:cubicBezTo>
                        <a:cubicBezTo>
                          <a:pt x="3863612" y="44412"/>
                          <a:pt x="3730288" y="13374"/>
                          <a:pt x="3401568" y="18288"/>
                        </a:cubicBezTo>
                        <a:cubicBezTo>
                          <a:pt x="3072848" y="23202"/>
                          <a:pt x="3020684" y="32425"/>
                          <a:pt x="2798064" y="18288"/>
                        </a:cubicBezTo>
                        <a:cubicBezTo>
                          <a:pt x="2575444" y="4151"/>
                          <a:pt x="2440915" y="-7352"/>
                          <a:pt x="2276856" y="18288"/>
                        </a:cubicBezTo>
                        <a:cubicBezTo>
                          <a:pt x="2112797" y="43928"/>
                          <a:pt x="1726502" y="-9560"/>
                          <a:pt x="1426464" y="18288"/>
                        </a:cubicBezTo>
                        <a:cubicBezTo>
                          <a:pt x="1126426" y="46136"/>
                          <a:pt x="992925" y="21016"/>
                          <a:pt x="740664" y="18288"/>
                        </a:cubicBezTo>
                        <a:cubicBezTo>
                          <a:pt x="488403" y="15560"/>
                          <a:pt x="195650" y="-16061"/>
                          <a:pt x="0" y="18288"/>
                        </a:cubicBezTo>
                        <a:cubicBezTo>
                          <a:pt x="348" y="9455"/>
                          <a:pt x="654" y="3983"/>
                          <a:pt x="0" y="0"/>
                        </a:cubicBezTo>
                        <a:close/>
                      </a:path>
                      <a:path w="8229600" h="18288" stroke="0" extrusionOk="0">
                        <a:moveTo>
                          <a:pt x="0" y="0"/>
                        </a:moveTo>
                        <a:cubicBezTo>
                          <a:pt x="259263" y="-9445"/>
                          <a:pt x="404731" y="4427"/>
                          <a:pt x="521208" y="0"/>
                        </a:cubicBezTo>
                        <a:cubicBezTo>
                          <a:pt x="637685" y="-4427"/>
                          <a:pt x="839187" y="564"/>
                          <a:pt x="960120" y="0"/>
                        </a:cubicBezTo>
                        <a:cubicBezTo>
                          <a:pt x="1081053" y="-564"/>
                          <a:pt x="1313469" y="-16481"/>
                          <a:pt x="1481328" y="0"/>
                        </a:cubicBezTo>
                        <a:cubicBezTo>
                          <a:pt x="1649187" y="16481"/>
                          <a:pt x="1885247" y="26161"/>
                          <a:pt x="2167128" y="0"/>
                        </a:cubicBezTo>
                        <a:cubicBezTo>
                          <a:pt x="2449009" y="-26161"/>
                          <a:pt x="2761875" y="-22202"/>
                          <a:pt x="2935224" y="0"/>
                        </a:cubicBezTo>
                        <a:cubicBezTo>
                          <a:pt x="3108573" y="22202"/>
                          <a:pt x="3540687" y="-2863"/>
                          <a:pt x="3785616" y="0"/>
                        </a:cubicBezTo>
                        <a:cubicBezTo>
                          <a:pt x="4030545" y="2863"/>
                          <a:pt x="4280774" y="-12442"/>
                          <a:pt x="4636008" y="0"/>
                        </a:cubicBezTo>
                        <a:cubicBezTo>
                          <a:pt x="4991242" y="12442"/>
                          <a:pt x="5025483" y="16914"/>
                          <a:pt x="5239512" y="0"/>
                        </a:cubicBezTo>
                        <a:cubicBezTo>
                          <a:pt x="5453541" y="-16914"/>
                          <a:pt x="5754008" y="16592"/>
                          <a:pt x="6007608" y="0"/>
                        </a:cubicBezTo>
                        <a:cubicBezTo>
                          <a:pt x="6261208" y="-16592"/>
                          <a:pt x="6407957" y="-11909"/>
                          <a:pt x="6693408" y="0"/>
                        </a:cubicBezTo>
                        <a:cubicBezTo>
                          <a:pt x="6978859" y="11909"/>
                          <a:pt x="7015437" y="-20890"/>
                          <a:pt x="7296912" y="0"/>
                        </a:cubicBezTo>
                        <a:cubicBezTo>
                          <a:pt x="7578387" y="20890"/>
                          <a:pt x="7859622" y="46406"/>
                          <a:pt x="8229600" y="0"/>
                        </a:cubicBezTo>
                        <a:cubicBezTo>
                          <a:pt x="8230508" y="6337"/>
                          <a:pt x="8228722" y="11778"/>
                          <a:pt x="8229600" y="18288"/>
                        </a:cubicBezTo>
                        <a:cubicBezTo>
                          <a:pt x="8075287" y="35054"/>
                          <a:pt x="7821366" y="21850"/>
                          <a:pt x="7626096" y="18288"/>
                        </a:cubicBezTo>
                        <a:cubicBezTo>
                          <a:pt x="7430826" y="14726"/>
                          <a:pt x="7320004" y="-9669"/>
                          <a:pt x="7022592" y="18288"/>
                        </a:cubicBezTo>
                        <a:cubicBezTo>
                          <a:pt x="6725180" y="46245"/>
                          <a:pt x="6348804" y="-14025"/>
                          <a:pt x="6172200" y="18288"/>
                        </a:cubicBezTo>
                        <a:cubicBezTo>
                          <a:pt x="5995596" y="50601"/>
                          <a:pt x="5788102" y="22890"/>
                          <a:pt x="5650992" y="18288"/>
                        </a:cubicBezTo>
                        <a:cubicBezTo>
                          <a:pt x="5513882" y="13686"/>
                          <a:pt x="5198399" y="29121"/>
                          <a:pt x="4882896" y="18288"/>
                        </a:cubicBezTo>
                        <a:cubicBezTo>
                          <a:pt x="4567393" y="7455"/>
                          <a:pt x="4557008" y="26965"/>
                          <a:pt x="4443984" y="18288"/>
                        </a:cubicBezTo>
                        <a:cubicBezTo>
                          <a:pt x="4330960" y="9611"/>
                          <a:pt x="4061674" y="28891"/>
                          <a:pt x="3758184" y="18288"/>
                        </a:cubicBezTo>
                        <a:cubicBezTo>
                          <a:pt x="3454694" y="7685"/>
                          <a:pt x="3380392" y="19119"/>
                          <a:pt x="3236976" y="18288"/>
                        </a:cubicBezTo>
                        <a:cubicBezTo>
                          <a:pt x="3093560" y="17457"/>
                          <a:pt x="2632116" y="37607"/>
                          <a:pt x="2386584" y="18288"/>
                        </a:cubicBezTo>
                        <a:cubicBezTo>
                          <a:pt x="2141052" y="-1031"/>
                          <a:pt x="2110884" y="28777"/>
                          <a:pt x="1947672" y="18288"/>
                        </a:cubicBezTo>
                        <a:cubicBezTo>
                          <a:pt x="1784460" y="7799"/>
                          <a:pt x="1535467" y="461"/>
                          <a:pt x="1261872" y="18288"/>
                        </a:cubicBezTo>
                        <a:cubicBezTo>
                          <a:pt x="988277" y="36115"/>
                          <a:pt x="1021096" y="10375"/>
                          <a:pt x="822960" y="18288"/>
                        </a:cubicBezTo>
                        <a:cubicBezTo>
                          <a:pt x="624824" y="26201"/>
                          <a:pt x="298309" y="1283"/>
                          <a:pt x="0" y="18288"/>
                        </a:cubicBezTo>
                        <a:cubicBezTo>
                          <a:pt x="-633" y="12278"/>
                          <a:pt x="-757" y="5867"/>
                          <a:pt x="0" y="0"/>
                        </a:cubicBezTo>
                        <a:close/>
                      </a:path>
                    </a:pathLst>
                  </a:cu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68D88B-9393-2980-08CB-A71FEC929FF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9369" y="2071316"/>
            <a:ext cx="6479782" cy="4119172"/>
          </a:xfrm>
        </p:spPr>
        <p:txBody>
          <a:bodyPr anchor="t">
            <a:normAutofit/>
          </a:bodyPr>
          <a:lstStyle/>
          <a:p>
            <a:r>
              <a:rPr lang="en-US" sz="1900" dirty="0"/>
              <a:t>Objective: Make an LED night light that automatically turns on in dark, and turns off in light</a:t>
            </a:r>
          </a:p>
          <a:p>
            <a:r>
              <a:rPr lang="en-US" sz="1900" dirty="0"/>
              <a:t>Methods: </a:t>
            </a:r>
          </a:p>
          <a:p>
            <a:pPr lvl="1"/>
            <a:r>
              <a:rPr lang="en-US" sz="1800" dirty="0"/>
              <a:t>Characterize a </a:t>
            </a:r>
            <a:r>
              <a:rPr lang="en-US" sz="1800" dirty="0" err="1"/>
              <a:t>CdS</a:t>
            </a:r>
            <a:r>
              <a:rPr lang="en-US" sz="1800" dirty="0"/>
              <a:t> photoresistor (</a:t>
            </a:r>
            <a:r>
              <a:rPr lang="en-US" sz="1800" dirty="0">
                <a:hlinkClick r:id="rId2"/>
              </a:rPr>
              <a:t>https://en.wikipedia.org/wiki/Photoresistor</a:t>
            </a:r>
            <a:r>
              <a:rPr lang="en-US" sz="1800" dirty="0"/>
              <a:t>) </a:t>
            </a:r>
          </a:p>
          <a:p>
            <a:pPr lvl="2"/>
            <a:r>
              <a:rPr lang="en-US" sz="1600" dirty="0"/>
              <a:t>Use your ohmmeter to measure its resistance under light and dark conditions</a:t>
            </a:r>
          </a:p>
          <a:p>
            <a:pPr lvl="1"/>
            <a:r>
              <a:rPr lang="en-US" sz="1800" dirty="0"/>
              <a:t>Design a transistor switch to turn on/off an LED based, controlled by the </a:t>
            </a:r>
            <a:r>
              <a:rPr lang="en-US" sz="1800" dirty="0" err="1"/>
              <a:t>CdS</a:t>
            </a:r>
            <a:r>
              <a:rPr lang="en-US" sz="1800" dirty="0"/>
              <a:t> photoresistor</a:t>
            </a:r>
          </a:p>
          <a:p>
            <a:pPr lvl="1"/>
            <a:r>
              <a:rPr lang="en-US" sz="1800" dirty="0"/>
              <a:t>Prototype and test (and iterate) – remember, that design is more of a circular or spiral process than a linear one</a:t>
            </a:r>
          </a:p>
          <a:p>
            <a:pPr lvl="1"/>
            <a:endParaRPr lang="en-US" sz="1500" dirty="0"/>
          </a:p>
        </p:txBody>
      </p:sp>
      <p:pic>
        <p:nvPicPr>
          <p:cNvPr id="2050" name="Picture 2">
            <a:extLst>
              <a:ext uri="{FF2B5EF4-FFF2-40B4-BE49-F238E27FC236}">
                <a16:creationId xmlns:a16="http://schemas.microsoft.com/office/drawing/2014/main" id="{D6F84370-8DE6-418D-7B07-A8DA9425E5E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3179" r="14669" b="2"/>
          <a:stretch/>
        </p:blipFill>
        <p:spPr bwMode="auto">
          <a:xfrm>
            <a:off x="6909151" y="2093976"/>
            <a:ext cx="1803389" cy="24993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1221529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122408</TotalTime>
  <Words>510</Words>
  <Application>Microsoft Macintosh PowerPoint</Application>
  <PresentationFormat>On-screen Show (4:3)</PresentationFormat>
  <Paragraphs>52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Calibri</vt:lpstr>
      <vt:lpstr>Courier New</vt:lpstr>
      <vt:lpstr>Symbol</vt:lpstr>
      <vt:lpstr>Times New Roman</vt:lpstr>
      <vt:lpstr>Office Theme</vt:lpstr>
      <vt:lpstr>Transistors</vt:lpstr>
      <vt:lpstr>Sierra 2111 schedule</vt:lpstr>
      <vt:lpstr>Transistor switch circuit</vt:lpstr>
      <vt:lpstr>BJT Golden Rules      </vt:lpstr>
      <vt:lpstr>Saturation</vt:lpstr>
      <vt:lpstr>What happens in saturation?</vt:lpstr>
      <vt:lpstr>Design Challenge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Transistors</dc:title>
  <dc:creator>brian rasnow</dc:creator>
  <cp:lastModifiedBy>Rasnow, Brian K.</cp:lastModifiedBy>
  <cp:revision>174</cp:revision>
  <cp:lastPrinted>2011-03-09T16:45:41Z</cp:lastPrinted>
  <dcterms:created xsi:type="dcterms:W3CDTF">2012-03-12T15:57:44Z</dcterms:created>
  <dcterms:modified xsi:type="dcterms:W3CDTF">2023-01-02T19:12:18Z</dcterms:modified>
</cp:coreProperties>
</file>