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435" r:id="rId2"/>
    <p:sldId id="437" r:id="rId3"/>
    <p:sldId id="438" r:id="rId4"/>
    <p:sldId id="414" r:id="rId5"/>
    <p:sldId id="439" r:id="rId6"/>
    <p:sldId id="440" r:id="rId7"/>
    <p:sldId id="415" r:id="rId8"/>
    <p:sldId id="441" r:id="rId9"/>
    <p:sldId id="312" r:id="rId10"/>
    <p:sldId id="313" r:id="rId11"/>
    <p:sldId id="314" r:id="rId12"/>
    <p:sldId id="315" r:id="rId13"/>
    <p:sldId id="432" r:id="rId14"/>
    <p:sldId id="433" r:id="rId15"/>
    <p:sldId id="442" r:id="rId16"/>
    <p:sldId id="443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3"/>
    <p:restoredTop sz="94739"/>
  </p:normalViewPr>
  <p:slideViewPr>
    <p:cSldViewPr>
      <p:cViewPr varScale="1">
        <p:scale>
          <a:sx n="173" d="100"/>
          <a:sy n="173" d="100"/>
        </p:scale>
        <p:origin x="174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EB7D814-8C25-6844-B4F5-31711A5073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186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B7D814-8C25-6844-B4F5-31711A50738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25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4D8892-0CCD-DD4A-889A-CC4F75FC80AE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49671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2716902B-3118-A146-9697-38AA2A874BE2}" type="slidenum">
              <a:rPr lang="en-US" smtClean="0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613399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94DB8F-5AFF-C04A-9A86-DED66021CFDC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548966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82504-F411-144B-95D8-B761D9E9B4EF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55925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9F4921-F826-4847-9514-18B141A502E5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78976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83EBB9-89DE-B54D-9A4A-AC43905CACA6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35679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857EBF-FBB0-3A47-B7CA-B80B266F71B2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19330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E2EC9-DE0A-E64B-A700-DB97FA4FE774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21024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C430EA-DAB4-8F4F-9258-96B4AC5A36FB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1787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E7554-3A44-324C-B2D2-05B3841B23D3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50861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76200"/>
            <a:ext cx="196215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73405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A5181-E801-2840-9DBD-F7342242ECA0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250094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8200" y="65532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/>
            </a:lvl1pPr>
          </a:lstStyle>
          <a:p>
            <a:pPr>
              <a:defRPr/>
            </a:pPr>
            <a:fld id="{D730983A-0103-BC41-ACA5-CC52A0013799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02XtneCHnDA?t=1427" TargetMode="External"/><Relationship Id="rId4" Type="http://schemas.openxmlformats.org/officeDocument/2006/relationships/hyperlink" Target="https://chinese-electronics-products-tested.blogspot.com/p/geekcreit-xr2206-function-generator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arkfun.com/datasheets/Kits/XR2206_104_020808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99389-0D69-734B-9B07-7A63F5393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67000"/>
            <a:ext cx="7772400" cy="1143000"/>
          </a:xfrm>
        </p:spPr>
        <p:txBody>
          <a:bodyPr/>
          <a:lstStyle/>
          <a:p>
            <a:r>
              <a:rPr lang="en-US" dirty="0"/>
              <a:t>Function Generator</a:t>
            </a:r>
            <a:br>
              <a:rPr lang="en-US" dirty="0"/>
            </a:br>
            <a:r>
              <a:rPr lang="en-US" sz="1600"/>
              <a:t>Week 13a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729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674E-199A-E0F4-F2B8-9C6BF5D80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goals 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84DAE-A031-50B3-F212-A2AB4384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We’ve been moving towards building/validating apparatus to measure a Bode plot, i.e., measure amplitude and phase shifts of sine waves over a range of frequencies</a:t>
            </a:r>
          </a:p>
          <a:p>
            <a:r>
              <a:rPr lang="en-US" dirty="0"/>
              <a:t>The “classical” way one would do this in an electronics class is to manually vary the frequency, measure, record, repeat … </a:t>
            </a:r>
          </a:p>
          <a:p>
            <a:r>
              <a:rPr lang="en-US" dirty="0"/>
              <a:t>I’m sure you already know we won’t be doing that … </a:t>
            </a:r>
          </a:p>
          <a:p>
            <a:r>
              <a:rPr lang="en-US" dirty="0"/>
              <a:t>We’ve already automated measurements of amplitudes and phase shifts, today we’ll explore how the Arduino might control the function generator frequency</a:t>
            </a:r>
          </a:p>
          <a:p>
            <a:r>
              <a:rPr lang="en-US" dirty="0"/>
              <a:t>To do this, we’ll have to “pop open the hood” and explore what’s inside it, and its XR2206 integrated circuit “heart” (or brain?)</a:t>
            </a:r>
          </a:p>
        </p:txBody>
      </p:sp>
    </p:spTree>
    <p:extLst>
      <p:ext uri="{BB962C8B-B14F-4D97-AF65-F5344CB8AC3E}">
        <p14:creationId xmlns:p14="http://schemas.microsoft.com/office/powerpoint/2010/main" val="3701266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674E-199A-E0F4-F2B8-9C6BF5D80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84DAE-A031-50B3-F212-A2AB4384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There’s no way to complete this if …</a:t>
            </a:r>
          </a:p>
          <a:p>
            <a:pPr lvl="1"/>
            <a:r>
              <a:rPr lang="en-US" dirty="0"/>
              <a:t>Your function generator doesn’t work, i.e.,</a:t>
            </a:r>
          </a:p>
          <a:p>
            <a:pPr lvl="2"/>
            <a:r>
              <a:rPr lang="en-US" dirty="0"/>
              <a:t>Produces low-distortion sine waves at various frequencies (we’ll be working from ~30Hz – 4kHz, requiring 2 ranges of the frequency jumper)</a:t>
            </a:r>
          </a:p>
          <a:p>
            <a:pPr lvl="3"/>
            <a:r>
              <a:rPr lang="en-US" dirty="0"/>
              <a:t>Validate this with your </a:t>
            </a:r>
            <a:r>
              <a:rPr lang="en-US" dirty="0" err="1"/>
              <a:t>oscope</a:t>
            </a:r>
            <a:r>
              <a:rPr lang="en-US" dirty="0"/>
              <a:t> program(s)</a:t>
            </a:r>
          </a:p>
          <a:p>
            <a:pPr lvl="1"/>
            <a:r>
              <a:rPr lang="en-US" dirty="0"/>
              <a:t>Your Arduino doesn’t work</a:t>
            </a:r>
          </a:p>
          <a:p>
            <a:pPr lvl="2"/>
            <a:r>
              <a:rPr lang="en-US" dirty="0"/>
              <a:t>Validate with </a:t>
            </a:r>
            <a:r>
              <a:rPr lang="en-US" dirty="0" err="1"/>
              <a:t>oscope</a:t>
            </a:r>
            <a:endParaRPr lang="en-US" dirty="0"/>
          </a:p>
          <a:p>
            <a:pPr lvl="1"/>
            <a:r>
              <a:rPr lang="en-US" dirty="0"/>
              <a:t>Your PWM controller doesn’t work</a:t>
            </a:r>
          </a:p>
          <a:p>
            <a:pPr lvl="2"/>
            <a:r>
              <a:rPr lang="en-US" dirty="0"/>
              <a:t>Validate that </a:t>
            </a:r>
            <a:r>
              <a:rPr lang="en-US" dirty="0" err="1"/>
              <a:t>writeline</a:t>
            </a:r>
            <a:r>
              <a:rPr lang="en-US" dirty="0"/>
              <a:t>(</a:t>
            </a:r>
            <a:r>
              <a:rPr lang="en-US" dirty="0" err="1"/>
              <a:t>ard</a:t>
            </a:r>
            <a:r>
              <a:rPr lang="en-US" dirty="0"/>
              <a:t>, ‘p &lt;value&gt;’) or volts2pwm(&lt;volts&gt;, </a:t>
            </a:r>
            <a:r>
              <a:rPr lang="en-US" dirty="0" err="1"/>
              <a:t>ard</a:t>
            </a:r>
            <a:r>
              <a:rPr lang="en-US" dirty="0"/>
              <a:t>) changes the voltage of your LM317</a:t>
            </a:r>
          </a:p>
          <a:p>
            <a:pPr lvl="2"/>
            <a:endParaRPr lang="en-US" dirty="0"/>
          </a:p>
          <a:p>
            <a:r>
              <a:rPr lang="en-US" dirty="0"/>
              <a:t>You can see how we’re using prior circuits and concepts to construct higher complexity and capabilities</a:t>
            </a:r>
          </a:p>
          <a:p>
            <a:pPr lvl="1"/>
            <a:r>
              <a:rPr lang="en-US" dirty="0"/>
              <a:t>If any of those don’t work … then seek help as needed to fix them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673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904DCDEA-60EE-4FBF-B515-F83D82F96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Geekcreit-XR2206-function-generator-04 (© 2019 Jos Verstraten)">
            <a:extLst>
              <a:ext uri="{FF2B5EF4-FFF2-40B4-BE49-F238E27FC236}">
                <a16:creationId xmlns:a16="http://schemas.microsoft.com/office/drawing/2014/main" id="{A06BC71C-6689-1946-A06D-A6AB05FE6F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6" r="2" b="1363"/>
          <a:stretch/>
        </p:blipFill>
        <p:spPr bwMode="auto">
          <a:xfrm>
            <a:off x="3520274" y="3435544"/>
            <a:ext cx="5738024" cy="3422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XR2206 DIY Function/Signal Generator Kit Sine/Square/Triangular wave 1Hz to 1MHz - ELECTROBIST">
            <a:extLst>
              <a:ext uri="{FF2B5EF4-FFF2-40B4-BE49-F238E27FC236}">
                <a16:creationId xmlns:a16="http://schemas.microsoft.com/office/drawing/2014/main" id="{4F30ABDE-E221-E444-A748-A5563732D3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4"/>
          <a:stretch/>
        </p:blipFill>
        <p:spPr bwMode="auto">
          <a:xfrm>
            <a:off x="3340387" y="-3"/>
            <a:ext cx="5803612" cy="3422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34D94F3A-BF39-47F6-9AAA-3C61AF7E0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3628557" cy="6858000"/>
          </a:xfrm>
          <a:custGeom>
            <a:avLst/>
            <a:gdLst>
              <a:gd name="connsiteX0" fmla="*/ 4838076 w 4838076"/>
              <a:gd name="connsiteY0" fmla="*/ 0 h 6858000"/>
              <a:gd name="connsiteX1" fmla="*/ 4417162 w 4838076"/>
              <a:gd name="connsiteY1" fmla="*/ 0 h 6858000"/>
              <a:gd name="connsiteX2" fmla="*/ 3459219 w 4838076"/>
              <a:gd name="connsiteY2" fmla="*/ 0 h 6858000"/>
              <a:gd name="connsiteX3" fmla="*/ 334174 w 4838076"/>
              <a:gd name="connsiteY3" fmla="*/ 0 h 6858000"/>
              <a:gd name="connsiteX4" fmla="*/ 334173 w 4838076"/>
              <a:gd name="connsiteY4" fmla="*/ 0 h 6858000"/>
              <a:gd name="connsiteX5" fmla="*/ 189795 w 4838076"/>
              <a:gd name="connsiteY5" fmla="*/ 0 h 6858000"/>
              <a:gd name="connsiteX6" fmla="*/ 184756 w 4838076"/>
              <a:gd name="connsiteY6" fmla="*/ 66675 h 6858000"/>
              <a:gd name="connsiteX7" fmla="*/ 176358 w 4838076"/>
              <a:gd name="connsiteY7" fmla="*/ 122237 h 6858000"/>
              <a:gd name="connsiteX8" fmla="*/ 166281 w 4838076"/>
              <a:gd name="connsiteY8" fmla="*/ 174625 h 6858000"/>
              <a:gd name="connsiteX9" fmla="*/ 149485 w 4838076"/>
              <a:gd name="connsiteY9" fmla="*/ 217487 h 6858000"/>
              <a:gd name="connsiteX10" fmla="*/ 132689 w 4838076"/>
              <a:gd name="connsiteY10" fmla="*/ 260350 h 6858000"/>
              <a:gd name="connsiteX11" fmla="*/ 112534 w 4838076"/>
              <a:gd name="connsiteY11" fmla="*/ 296862 h 6858000"/>
              <a:gd name="connsiteX12" fmla="*/ 92379 w 4838076"/>
              <a:gd name="connsiteY12" fmla="*/ 334962 h 6858000"/>
              <a:gd name="connsiteX13" fmla="*/ 73903 w 4838076"/>
              <a:gd name="connsiteY13" fmla="*/ 369887 h 6858000"/>
              <a:gd name="connsiteX14" fmla="*/ 55427 w 4838076"/>
              <a:gd name="connsiteY14" fmla="*/ 409575 h 6858000"/>
              <a:gd name="connsiteX15" fmla="*/ 38632 w 4838076"/>
              <a:gd name="connsiteY15" fmla="*/ 450850 h 6858000"/>
              <a:gd name="connsiteX16" fmla="*/ 23515 w 4838076"/>
              <a:gd name="connsiteY16" fmla="*/ 496887 h 6858000"/>
              <a:gd name="connsiteX17" fmla="*/ 11758 w 4838076"/>
              <a:gd name="connsiteY17" fmla="*/ 546100 h 6858000"/>
              <a:gd name="connsiteX18" fmla="*/ 3359 w 4838076"/>
              <a:gd name="connsiteY18" fmla="*/ 606425 h 6858000"/>
              <a:gd name="connsiteX19" fmla="*/ 0 w 4838076"/>
              <a:gd name="connsiteY19" fmla="*/ 673100 h 6858000"/>
              <a:gd name="connsiteX20" fmla="*/ 3359 w 4838076"/>
              <a:gd name="connsiteY20" fmla="*/ 744537 h 6858000"/>
              <a:gd name="connsiteX21" fmla="*/ 11758 w 4838076"/>
              <a:gd name="connsiteY21" fmla="*/ 801687 h 6858000"/>
              <a:gd name="connsiteX22" fmla="*/ 23515 w 4838076"/>
              <a:gd name="connsiteY22" fmla="*/ 854075 h 6858000"/>
              <a:gd name="connsiteX23" fmla="*/ 38632 w 4838076"/>
              <a:gd name="connsiteY23" fmla="*/ 901700 h 6858000"/>
              <a:gd name="connsiteX24" fmla="*/ 55427 w 4838076"/>
              <a:gd name="connsiteY24" fmla="*/ 942975 h 6858000"/>
              <a:gd name="connsiteX25" fmla="*/ 75583 w 4838076"/>
              <a:gd name="connsiteY25" fmla="*/ 981075 h 6858000"/>
              <a:gd name="connsiteX26" fmla="*/ 95738 w 4838076"/>
              <a:gd name="connsiteY26" fmla="*/ 1017587 h 6858000"/>
              <a:gd name="connsiteX27" fmla="*/ 115893 w 4838076"/>
              <a:gd name="connsiteY27" fmla="*/ 1055687 h 6858000"/>
              <a:gd name="connsiteX28" fmla="*/ 134368 w 4838076"/>
              <a:gd name="connsiteY28" fmla="*/ 1095375 h 6858000"/>
              <a:gd name="connsiteX29" fmla="*/ 152844 w 4838076"/>
              <a:gd name="connsiteY29" fmla="*/ 1136650 h 6858000"/>
              <a:gd name="connsiteX30" fmla="*/ 167960 w 4838076"/>
              <a:gd name="connsiteY30" fmla="*/ 1182687 h 6858000"/>
              <a:gd name="connsiteX31" fmla="*/ 178038 w 4838076"/>
              <a:gd name="connsiteY31" fmla="*/ 1235075 h 6858000"/>
              <a:gd name="connsiteX32" fmla="*/ 188115 w 4838076"/>
              <a:gd name="connsiteY32" fmla="*/ 1295400 h 6858000"/>
              <a:gd name="connsiteX33" fmla="*/ 189795 w 4838076"/>
              <a:gd name="connsiteY33" fmla="*/ 1363662 h 6858000"/>
              <a:gd name="connsiteX34" fmla="*/ 188115 w 4838076"/>
              <a:gd name="connsiteY34" fmla="*/ 1431925 h 6858000"/>
              <a:gd name="connsiteX35" fmla="*/ 178038 w 4838076"/>
              <a:gd name="connsiteY35" fmla="*/ 1492250 h 6858000"/>
              <a:gd name="connsiteX36" fmla="*/ 167960 w 4838076"/>
              <a:gd name="connsiteY36" fmla="*/ 1544637 h 6858000"/>
              <a:gd name="connsiteX37" fmla="*/ 152844 w 4838076"/>
              <a:gd name="connsiteY37" fmla="*/ 1589087 h 6858000"/>
              <a:gd name="connsiteX38" fmla="*/ 134368 w 4838076"/>
              <a:gd name="connsiteY38" fmla="*/ 1631950 h 6858000"/>
              <a:gd name="connsiteX39" fmla="*/ 115893 w 4838076"/>
              <a:gd name="connsiteY39" fmla="*/ 1671637 h 6858000"/>
              <a:gd name="connsiteX40" fmla="*/ 95738 w 4838076"/>
              <a:gd name="connsiteY40" fmla="*/ 1708150 h 6858000"/>
              <a:gd name="connsiteX41" fmla="*/ 75583 w 4838076"/>
              <a:gd name="connsiteY41" fmla="*/ 1743075 h 6858000"/>
              <a:gd name="connsiteX42" fmla="*/ 55427 w 4838076"/>
              <a:gd name="connsiteY42" fmla="*/ 1782762 h 6858000"/>
              <a:gd name="connsiteX43" fmla="*/ 38632 w 4838076"/>
              <a:gd name="connsiteY43" fmla="*/ 1824037 h 6858000"/>
              <a:gd name="connsiteX44" fmla="*/ 23515 w 4838076"/>
              <a:gd name="connsiteY44" fmla="*/ 1870075 h 6858000"/>
              <a:gd name="connsiteX45" fmla="*/ 11758 w 4838076"/>
              <a:gd name="connsiteY45" fmla="*/ 1922462 h 6858000"/>
              <a:gd name="connsiteX46" fmla="*/ 3359 w 4838076"/>
              <a:gd name="connsiteY46" fmla="*/ 1982787 h 6858000"/>
              <a:gd name="connsiteX47" fmla="*/ 0 w 4838076"/>
              <a:gd name="connsiteY47" fmla="*/ 2051050 h 6858000"/>
              <a:gd name="connsiteX48" fmla="*/ 3359 w 4838076"/>
              <a:gd name="connsiteY48" fmla="*/ 2119312 h 6858000"/>
              <a:gd name="connsiteX49" fmla="*/ 11758 w 4838076"/>
              <a:gd name="connsiteY49" fmla="*/ 2179637 h 6858000"/>
              <a:gd name="connsiteX50" fmla="*/ 23515 w 4838076"/>
              <a:gd name="connsiteY50" fmla="*/ 2232025 h 6858000"/>
              <a:gd name="connsiteX51" fmla="*/ 38632 w 4838076"/>
              <a:gd name="connsiteY51" fmla="*/ 2278062 h 6858000"/>
              <a:gd name="connsiteX52" fmla="*/ 55427 w 4838076"/>
              <a:gd name="connsiteY52" fmla="*/ 2319337 h 6858000"/>
              <a:gd name="connsiteX53" fmla="*/ 75583 w 4838076"/>
              <a:gd name="connsiteY53" fmla="*/ 2359025 h 6858000"/>
              <a:gd name="connsiteX54" fmla="*/ 95738 w 4838076"/>
              <a:gd name="connsiteY54" fmla="*/ 2395537 h 6858000"/>
              <a:gd name="connsiteX55" fmla="*/ 115893 w 4838076"/>
              <a:gd name="connsiteY55" fmla="*/ 2433637 h 6858000"/>
              <a:gd name="connsiteX56" fmla="*/ 134368 w 4838076"/>
              <a:gd name="connsiteY56" fmla="*/ 2471737 h 6858000"/>
              <a:gd name="connsiteX57" fmla="*/ 152844 w 4838076"/>
              <a:gd name="connsiteY57" fmla="*/ 2513012 h 6858000"/>
              <a:gd name="connsiteX58" fmla="*/ 167960 w 4838076"/>
              <a:gd name="connsiteY58" fmla="*/ 2560637 h 6858000"/>
              <a:gd name="connsiteX59" fmla="*/ 178038 w 4838076"/>
              <a:gd name="connsiteY59" fmla="*/ 2613025 h 6858000"/>
              <a:gd name="connsiteX60" fmla="*/ 188115 w 4838076"/>
              <a:gd name="connsiteY60" fmla="*/ 2671762 h 6858000"/>
              <a:gd name="connsiteX61" fmla="*/ 189795 w 4838076"/>
              <a:gd name="connsiteY61" fmla="*/ 2741612 h 6858000"/>
              <a:gd name="connsiteX62" fmla="*/ 188115 w 4838076"/>
              <a:gd name="connsiteY62" fmla="*/ 2809875 h 6858000"/>
              <a:gd name="connsiteX63" fmla="*/ 178038 w 4838076"/>
              <a:gd name="connsiteY63" fmla="*/ 2868612 h 6858000"/>
              <a:gd name="connsiteX64" fmla="*/ 167960 w 4838076"/>
              <a:gd name="connsiteY64" fmla="*/ 2922587 h 6858000"/>
              <a:gd name="connsiteX65" fmla="*/ 152844 w 4838076"/>
              <a:gd name="connsiteY65" fmla="*/ 2967037 h 6858000"/>
              <a:gd name="connsiteX66" fmla="*/ 134368 w 4838076"/>
              <a:gd name="connsiteY66" fmla="*/ 3009900 h 6858000"/>
              <a:gd name="connsiteX67" fmla="*/ 115893 w 4838076"/>
              <a:gd name="connsiteY67" fmla="*/ 3046412 h 6858000"/>
              <a:gd name="connsiteX68" fmla="*/ 95738 w 4838076"/>
              <a:gd name="connsiteY68" fmla="*/ 3084512 h 6858000"/>
              <a:gd name="connsiteX69" fmla="*/ 75583 w 4838076"/>
              <a:gd name="connsiteY69" fmla="*/ 3121025 h 6858000"/>
              <a:gd name="connsiteX70" fmla="*/ 55427 w 4838076"/>
              <a:gd name="connsiteY70" fmla="*/ 3160712 h 6858000"/>
              <a:gd name="connsiteX71" fmla="*/ 38632 w 4838076"/>
              <a:gd name="connsiteY71" fmla="*/ 3201987 h 6858000"/>
              <a:gd name="connsiteX72" fmla="*/ 23515 w 4838076"/>
              <a:gd name="connsiteY72" fmla="*/ 3248025 h 6858000"/>
              <a:gd name="connsiteX73" fmla="*/ 11758 w 4838076"/>
              <a:gd name="connsiteY73" fmla="*/ 3300412 h 6858000"/>
              <a:gd name="connsiteX74" fmla="*/ 3359 w 4838076"/>
              <a:gd name="connsiteY74" fmla="*/ 3360737 h 6858000"/>
              <a:gd name="connsiteX75" fmla="*/ 0 w 4838076"/>
              <a:gd name="connsiteY75" fmla="*/ 3427412 h 6858000"/>
              <a:gd name="connsiteX76" fmla="*/ 3359 w 4838076"/>
              <a:gd name="connsiteY76" fmla="*/ 3497262 h 6858000"/>
              <a:gd name="connsiteX77" fmla="*/ 11758 w 4838076"/>
              <a:gd name="connsiteY77" fmla="*/ 3557587 h 6858000"/>
              <a:gd name="connsiteX78" fmla="*/ 23515 w 4838076"/>
              <a:gd name="connsiteY78" fmla="*/ 3609975 h 6858000"/>
              <a:gd name="connsiteX79" fmla="*/ 38632 w 4838076"/>
              <a:gd name="connsiteY79" fmla="*/ 3656012 h 6858000"/>
              <a:gd name="connsiteX80" fmla="*/ 55427 w 4838076"/>
              <a:gd name="connsiteY80" fmla="*/ 3697287 h 6858000"/>
              <a:gd name="connsiteX81" fmla="*/ 75583 w 4838076"/>
              <a:gd name="connsiteY81" fmla="*/ 3736975 h 6858000"/>
              <a:gd name="connsiteX82" fmla="*/ 115893 w 4838076"/>
              <a:gd name="connsiteY82" fmla="*/ 3811587 h 6858000"/>
              <a:gd name="connsiteX83" fmla="*/ 134368 w 4838076"/>
              <a:gd name="connsiteY83" fmla="*/ 3848100 h 6858000"/>
              <a:gd name="connsiteX84" fmla="*/ 152844 w 4838076"/>
              <a:gd name="connsiteY84" fmla="*/ 3890962 h 6858000"/>
              <a:gd name="connsiteX85" fmla="*/ 167960 w 4838076"/>
              <a:gd name="connsiteY85" fmla="*/ 3935412 h 6858000"/>
              <a:gd name="connsiteX86" fmla="*/ 178038 w 4838076"/>
              <a:gd name="connsiteY86" fmla="*/ 3987800 h 6858000"/>
              <a:gd name="connsiteX87" fmla="*/ 188115 w 4838076"/>
              <a:gd name="connsiteY87" fmla="*/ 4048125 h 6858000"/>
              <a:gd name="connsiteX88" fmla="*/ 189795 w 4838076"/>
              <a:gd name="connsiteY88" fmla="*/ 4116387 h 6858000"/>
              <a:gd name="connsiteX89" fmla="*/ 188115 w 4838076"/>
              <a:gd name="connsiteY89" fmla="*/ 4186237 h 6858000"/>
              <a:gd name="connsiteX90" fmla="*/ 178038 w 4838076"/>
              <a:gd name="connsiteY90" fmla="*/ 4244975 h 6858000"/>
              <a:gd name="connsiteX91" fmla="*/ 167960 w 4838076"/>
              <a:gd name="connsiteY91" fmla="*/ 4297362 h 6858000"/>
              <a:gd name="connsiteX92" fmla="*/ 152844 w 4838076"/>
              <a:gd name="connsiteY92" fmla="*/ 4343400 h 6858000"/>
              <a:gd name="connsiteX93" fmla="*/ 134368 w 4838076"/>
              <a:gd name="connsiteY93" fmla="*/ 4386262 h 6858000"/>
              <a:gd name="connsiteX94" fmla="*/ 115893 w 4838076"/>
              <a:gd name="connsiteY94" fmla="*/ 4424362 h 6858000"/>
              <a:gd name="connsiteX95" fmla="*/ 75583 w 4838076"/>
              <a:gd name="connsiteY95" fmla="*/ 4498975 h 6858000"/>
              <a:gd name="connsiteX96" fmla="*/ 55427 w 4838076"/>
              <a:gd name="connsiteY96" fmla="*/ 4537075 h 6858000"/>
              <a:gd name="connsiteX97" fmla="*/ 38632 w 4838076"/>
              <a:gd name="connsiteY97" fmla="*/ 4579937 h 6858000"/>
              <a:gd name="connsiteX98" fmla="*/ 23515 w 4838076"/>
              <a:gd name="connsiteY98" fmla="*/ 4625975 h 6858000"/>
              <a:gd name="connsiteX99" fmla="*/ 11758 w 4838076"/>
              <a:gd name="connsiteY99" fmla="*/ 4678362 h 6858000"/>
              <a:gd name="connsiteX100" fmla="*/ 3359 w 4838076"/>
              <a:gd name="connsiteY100" fmla="*/ 4738687 h 6858000"/>
              <a:gd name="connsiteX101" fmla="*/ 0 w 4838076"/>
              <a:gd name="connsiteY101" fmla="*/ 4806950 h 6858000"/>
              <a:gd name="connsiteX102" fmla="*/ 3359 w 4838076"/>
              <a:gd name="connsiteY102" fmla="*/ 4875212 h 6858000"/>
              <a:gd name="connsiteX103" fmla="*/ 11758 w 4838076"/>
              <a:gd name="connsiteY103" fmla="*/ 4935537 h 6858000"/>
              <a:gd name="connsiteX104" fmla="*/ 23515 w 4838076"/>
              <a:gd name="connsiteY104" fmla="*/ 4987925 h 6858000"/>
              <a:gd name="connsiteX105" fmla="*/ 38632 w 4838076"/>
              <a:gd name="connsiteY105" fmla="*/ 5033962 h 6858000"/>
              <a:gd name="connsiteX106" fmla="*/ 55427 w 4838076"/>
              <a:gd name="connsiteY106" fmla="*/ 5075237 h 6858000"/>
              <a:gd name="connsiteX107" fmla="*/ 75583 w 4838076"/>
              <a:gd name="connsiteY107" fmla="*/ 5114925 h 6858000"/>
              <a:gd name="connsiteX108" fmla="*/ 95738 w 4838076"/>
              <a:gd name="connsiteY108" fmla="*/ 5149850 h 6858000"/>
              <a:gd name="connsiteX109" fmla="*/ 115893 w 4838076"/>
              <a:gd name="connsiteY109" fmla="*/ 5186362 h 6858000"/>
              <a:gd name="connsiteX110" fmla="*/ 134368 w 4838076"/>
              <a:gd name="connsiteY110" fmla="*/ 5226050 h 6858000"/>
              <a:gd name="connsiteX111" fmla="*/ 152844 w 4838076"/>
              <a:gd name="connsiteY111" fmla="*/ 5268912 h 6858000"/>
              <a:gd name="connsiteX112" fmla="*/ 167960 w 4838076"/>
              <a:gd name="connsiteY112" fmla="*/ 5313362 h 6858000"/>
              <a:gd name="connsiteX113" fmla="*/ 178038 w 4838076"/>
              <a:gd name="connsiteY113" fmla="*/ 5365750 h 6858000"/>
              <a:gd name="connsiteX114" fmla="*/ 188115 w 4838076"/>
              <a:gd name="connsiteY114" fmla="*/ 5426075 h 6858000"/>
              <a:gd name="connsiteX115" fmla="*/ 189795 w 4838076"/>
              <a:gd name="connsiteY115" fmla="*/ 5494337 h 6858000"/>
              <a:gd name="connsiteX116" fmla="*/ 188115 w 4838076"/>
              <a:gd name="connsiteY116" fmla="*/ 5562600 h 6858000"/>
              <a:gd name="connsiteX117" fmla="*/ 178038 w 4838076"/>
              <a:gd name="connsiteY117" fmla="*/ 5622925 h 6858000"/>
              <a:gd name="connsiteX118" fmla="*/ 167960 w 4838076"/>
              <a:gd name="connsiteY118" fmla="*/ 5675312 h 6858000"/>
              <a:gd name="connsiteX119" fmla="*/ 152844 w 4838076"/>
              <a:gd name="connsiteY119" fmla="*/ 5721350 h 6858000"/>
              <a:gd name="connsiteX120" fmla="*/ 134368 w 4838076"/>
              <a:gd name="connsiteY120" fmla="*/ 5762625 h 6858000"/>
              <a:gd name="connsiteX121" fmla="*/ 115893 w 4838076"/>
              <a:gd name="connsiteY121" fmla="*/ 5802312 h 6858000"/>
              <a:gd name="connsiteX122" fmla="*/ 95738 w 4838076"/>
              <a:gd name="connsiteY122" fmla="*/ 5840412 h 6858000"/>
              <a:gd name="connsiteX123" fmla="*/ 75583 w 4838076"/>
              <a:gd name="connsiteY123" fmla="*/ 5876925 h 6858000"/>
              <a:gd name="connsiteX124" fmla="*/ 55427 w 4838076"/>
              <a:gd name="connsiteY124" fmla="*/ 5915025 h 6858000"/>
              <a:gd name="connsiteX125" fmla="*/ 38632 w 4838076"/>
              <a:gd name="connsiteY125" fmla="*/ 5956300 h 6858000"/>
              <a:gd name="connsiteX126" fmla="*/ 23515 w 4838076"/>
              <a:gd name="connsiteY126" fmla="*/ 6003925 h 6858000"/>
              <a:gd name="connsiteX127" fmla="*/ 11758 w 4838076"/>
              <a:gd name="connsiteY127" fmla="*/ 6056312 h 6858000"/>
              <a:gd name="connsiteX128" fmla="*/ 3359 w 4838076"/>
              <a:gd name="connsiteY128" fmla="*/ 6113462 h 6858000"/>
              <a:gd name="connsiteX129" fmla="*/ 0 w 4838076"/>
              <a:gd name="connsiteY129" fmla="*/ 6183312 h 6858000"/>
              <a:gd name="connsiteX130" fmla="*/ 3359 w 4838076"/>
              <a:gd name="connsiteY130" fmla="*/ 6251575 h 6858000"/>
              <a:gd name="connsiteX131" fmla="*/ 11758 w 4838076"/>
              <a:gd name="connsiteY131" fmla="*/ 6311900 h 6858000"/>
              <a:gd name="connsiteX132" fmla="*/ 23515 w 4838076"/>
              <a:gd name="connsiteY132" fmla="*/ 6361112 h 6858000"/>
              <a:gd name="connsiteX133" fmla="*/ 38632 w 4838076"/>
              <a:gd name="connsiteY133" fmla="*/ 6407150 h 6858000"/>
              <a:gd name="connsiteX134" fmla="*/ 55427 w 4838076"/>
              <a:gd name="connsiteY134" fmla="*/ 6448425 h 6858000"/>
              <a:gd name="connsiteX135" fmla="*/ 73903 w 4838076"/>
              <a:gd name="connsiteY135" fmla="*/ 6488112 h 6858000"/>
              <a:gd name="connsiteX136" fmla="*/ 92379 w 4838076"/>
              <a:gd name="connsiteY136" fmla="*/ 6523037 h 6858000"/>
              <a:gd name="connsiteX137" fmla="*/ 112534 w 4838076"/>
              <a:gd name="connsiteY137" fmla="*/ 6561137 h 6858000"/>
              <a:gd name="connsiteX138" fmla="*/ 132689 w 4838076"/>
              <a:gd name="connsiteY138" fmla="*/ 6597650 h 6858000"/>
              <a:gd name="connsiteX139" fmla="*/ 149485 w 4838076"/>
              <a:gd name="connsiteY139" fmla="*/ 6640512 h 6858000"/>
              <a:gd name="connsiteX140" fmla="*/ 166281 w 4838076"/>
              <a:gd name="connsiteY140" fmla="*/ 6683375 h 6858000"/>
              <a:gd name="connsiteX141" fmla="*/ 176358 w 4838076"/>
              <a:gd name="connsiteY141" fmla="*/ 6735762 h 6858000"/>
              <a:gd name="connsiteX142" fmla="*/ 184756 w 4838076"/>
              <a:gd name="connsiteY142" fmla="*/ 6791325 h 6858000"/>
              <a:gd name="connsiteX143" fmla="*/ 189795 w 4838076"/>
              <a:gd name="connsiteY143" fmla="*/ 6858000 h 6858000"/>
              <a:gd name="connsiteX144" fmla="*/ 334173 w 4838076"/>
              <a:gd name="connsiteY144" fmla="*/ 6858000 h 6858000"/>
              <a:gd name="connsiteX145" fmla="*/ 334174 w 4838076"/>
              <a:gd name="connsiteY145" fmla="*/ 6858000 h 6858000"/>
              <a:gd name="connsiteX146" fmla="*/ 3459219 w 4838076"/>
              <a:gd name="connsiteY146" fmla="*/ 6858000 h 6858000"/>
              <a:gd name="connsiteX147" fmla="*/ 4417162 w 4838076"/>
              <a:gd name="connsiteY147" fmla="*/ 6858000 h 6858000"/>
              <a:gd name="connsiteX148" fmla="*/ 4838076 w 4838076"/>
              <a:gd name="connsiteY14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</a:cxnLst>
            <a:rect l="l" t="t" r="r" b="b"/>
            <a:pathLst>
              <a:path w="4838076" h="6858000">
                <a:moveTo>
                  <a:pt x="4838076" y="0"/>
                </a:moveTo>
                <a:lnTo>
                  <a:pt x="4417162" y="0"/>
                </a:lnTo>
                <a:lnTo>
                  <a:pt x="3459219" y="0"/>
                </a:lnTo>
                <a:lnTo>
                  <a:pt x="334174" y="0"/>
                </a:lnTo>
                <a:lnTo>
                  <a:pt x="334173" y="0"/>
                </a:lnTo>
                <a:lnTo>
                  <a:pt x="189795" y="0"/>
                </a:lnTo>
                <a:lnTo>
                  <a:pt x="184756" y="66675"/>
                </a:lnTo>
                <a:lnTo>
                  <a:pt x="176358" y="122237"/>
                </a:lnTo>
                <a:lnTo>
                  <a:pt x="166281" y="174625"/>
                </a:lnTo>
                <a:lnTo>
                  <a:pt x="149485" y="217487"/>
                </a:lnTo>
                <a:lnTo>
                  <a:pt x="132689" y="260350"/>
                </a:lnTo>
                <a:lnTo>
                  <a:pt x="112534" y="296862"/>
                </a:lnTo>
                <a:lnTo>
                  <a:pt x="92379" y="334962"/>
                </a:lnTo>
                <a:lnTo>
                  <a:pt x="73903" y="369887"/>
                </a:lnTo>
                <a:lnTo>
                  <a:pt x="55427" y="409575"/>
                </a:lnTo>
                <a:lnTo>
                  <a:pt x="38632" y="450850"/>
                </a:lnTo>
                <a:lnTo>
                  <a:pt x="23515" y="496887"/>
                </a:lnTo>
                <a:lnTo>
                  <a:pt x="11758" y="546100"/>
                </a:lnTo>
                <a:lnTo>
                  <a:pt x="3359" y="606425"/>
                </a:lnTo>
                <a:lnTo>
                  <a:pt x="0" y="673100"/>
                </a:lnTo>
                <a:lnTo>
                  <a:pt x="3359" y="744537"/>
                </a:lnTo>
                <a:lnTo>
                  <a:pt x="11758" y="801687"/>
                </a:lnTo>
                <a:lnTo>
                  <a:pt x="23515" y="854075"/>
                </a:lnTo>
                <a:lnTo>
                  <a:pt x="38632" y="901700"/>
                </a:lnTo>
                <a:lnTo>
                  <a:pt x="55427" y="942975"/>
                </a:lnTo>
                <a:lnTo>
                  <a:pt x="75583" y="981075"/>
                </a:lnTo>
                <a:lnTo>
                  <a:pt x="95738" y="1017587"/>
                </a:lnTo>
                <a:lnTo>
                  <a:pt x="115893" y="1055687"/>
                </a:lnTo>
                <a:lnTo>
                  <a:pt x="134368" y="1095375"/>
                </a:lnTo>
                <a:lnTo>
                  <a:pt x="152844" y="1136650"/>
                </a:lnTo>
                <a:lnTo>
                  <a:pt x="167960" y="1182687"/>
                </a:lnTo>
                <a:lnTo>
                  <a:pt x="178038" y="1235075"/>
                </a:lnTo>
                <a:lnTo>
                  <a:pt x="188115" y="1295400"/>
                </a:lnTo>
                <a:lnTo>
                  <a:pt x="189795" y="1363662"/>
                </a:lnTo>
                <a:lnTo>
                  <a:pt x="188115" y="1431925"/>
                </a:lnTo>
                <a:lnTo>
                  <a:pt x="178038" y="1492250"/>
                </a:lnTo>
                <a:lnTo>
                  <a:pt x="167960" y="1544637"/>
                </a:lnTo>
                <a:lnTo>
                  <a:pt x="152844" y="1589087"/>
                </a:lnTo>
                <a:lnTo>
                  <a:pt x="134368" y="1631950"/>
                </a:lnTo>
                <a:lnTo>
                  <a:pt x="115893" y="1671637"/>
                </a:lnTo>
                <a:lnTo>
                  <a:pt x="95738" y="1708150"/>
                </a:lnTo>
                <a:lnTo>
                  <a:pt x="75583" y="1743075"/>
                </a:lnTo>
                <a:lnTo>
                  <a:pt x="55427" y="1782762"/>
                </a:lnTo>
                <a:lnTo>
                  <a:pt x="38632" y="1824037"/>
                </a:lnTo>
                <a:lnTo>
                  <a:pt x="23515" y="1870075"/>
                </a:lnTo>
                <a:lnTo>
                  <a:pt x="11758" y="1922462"/>
                </a:lnTo>
                <a:lnTo>
                  <a:pt x="3359" y="1982787"/>
                </a:lnTo>
                <a:lnTo>
                  <a:pt x="0" y="2051050"/>
                </a:lnTo>
                <a:lnTo>
                  <a:pt x="3359" y="2119312"/>
                </a:lnTo>
                <a:lnTo>
                  <a:pt x="11758" y="2179637"/>
                </a:lnTo>
                <a:lnTo>
                  <a:pt x="23515" y="2232025"/>
                </a:lnTo>
                <a:lnTo>
                  <a:pt x="38632" y="2278062"/>
                </a:lnTo>
                <a:lnTo>
                  <a:pt x="55427" y="2319337"/>
                </a:lnTo>
                <a:lnTo>
                  <a:pt x="75583" y="2359025"/>
                </a:lnTo>
                <a:lnTo>
                  <a:pt x="95738" y="2395537"/>
                </a:lnTo>
                <a:lnTo>
                  <a:pt x="115893" y="2433637"/>
                </a:lnTo>
                <a:lnTo>
                  <a:pt x="134368" y="2471737"/>
                </a:lnTo>
                <a:lnTo>
                  <a:pt x="152844" y="2513012"/>
                </a:lnTo>
                <a:lnTo>
                  <a:pt x="167960" y="2560637"/>
                </a:lnTo>
                <a:lnTo>
                  <a:pt x="178038" y="2613025"/>
                </a:lnTo>
                <a:lnTo>
                  <a:pt x="188115" y="2671762"/>
                </a:lnTo>
                <a:lnTo>
                  <a:pt x="189795" y="2741612"/>
                </a:lnTo>
                <a:lnTo>
                  <a:pt x="188115" y="2809875"/>
                </a:lnTo>
                <a:lnTo>
                  <a:pt x="178038" y="2868612"/>
                </a:lnTo>
                <a:lnTo>
                  <a:pt x="167960" y="2922587"/>
                </a:lnTo>
                <a:lnTo>
                  <a:pt x="152844" y="2967037"/>
                </a:lnTo>
                <a:lnTo>
                  <a:pt x="134368" y="3009900"/>
                </a:lnTo>
                <a:lnTo>
                  <a:pt x="115893" y="3046412"/>
                </a:lnTo>
                <a:lnTo>
                  <a:pt x="95738" y="3084512"/>
                </a:lnTo>
                <a:lnTo>
                  <a:pt x="75583" y="3121025"/>
                </a:lnTo>
                <a:lnTo>
                  <a:pt x="55427" y="3160712"/>
                </a:lnTo>
                <a:lnTo>
                  <a:pt x="38632" y="3201987"/>
                </a:lnTo>
                <a:lnTo>
                  <a:pt x="23515" y="3248025"/>
                </a:lnTo>
                <a:lnTo>
                  <a:pt x="11758" y="3300412"/>
                </a:lnTo>
                <a:lnTo>
                  <a:pt x="3359" y="3360737"/>
                </a:lnTo>
                <a:lnTo>
                  <a:pt x="0" y="3427412"/>
                </a:lnTo>
                <a:lnTo>
                  <a:pt x="3359" y="3497262"/>
                </a:lnTo>
                <a:lnTo>
                  <a:pt x="11758" y="3557587"/>
                </a:lnTo>
                <a:lnTo>
                  <a:pt x="23515" y="3609975"/>
                </a:lnTo>
                <a:lnTo>
                  <a:pt x="38632" y="3656012"/>
                </a:lnTo>
                <a:lnTo>
                  <a:pt x="55427" y="3697287"/>
                </a:lnTo>
                <a:lnTo>
                  <a:pt x="75583" y="3736975"/>
                </a:lnTo>
                <a:lnTo>
                  <a:pt x="115893" y="3811587"/>
                </a:lnTo>
                <a:lnTo>
                  <a:pt x="134368" y="3848100"/>
                </a:lnTo>
                <a:lnTo>
                  <a:pt x="152844" y="3890962"/>
                </a:lnTo>
                <a:lnTo>
                  <a:pt x="167960" y="3935412"/>
                </a:lnTo>
                <a:lnTo>
                  <a:pt x="178038" y="3987800"/>
                </a:lnTo>
                <a:lnTo>
                  <a:pt x="188115" y="4048125"/>
                </a:lnTo>
                <a:lnTo>
                  <a:pt x="189795" y="4116387"/>
                </a:lnTo>
                <a:lnTo>
                  <a:pt x="188115" y="4186237"/>
                </a:lnTo>
                <a:lnTo>
                  <a:pt x="178038" y="4244975"/>
                </a:lnTo>
                <a:lnTo>
                  <a:pt x="167960" y="4297362"/>
                </a:lnTo>
                <a:lnTo>
                  <a:pt x="152844" y="4343400"/>
                </a:lnTo>
                <a:lnTo>
                  <a:pt x="134368" y="4386262"/>
                </a:lnTo>
                <a:lnTo>
                  <a:pt x="115893" y="4424362"/>
                </a:lnTo>
                <a:lnTo>
                  <a:pt x="75583" y="4498975"/>
                </a:lnTo>
                <a:lnTo>
                  <a:pt x="55427" y="4537075"/>
                </a:lnTo>
                <a:lnTo>
                  <a:pt x="38632" y="4579937"/>
                </a:lnTo>
                <a:lnTo>
                  <a:pt x="23515" y="4625975"/>
                </a:lnTo>
                <a:lnTo>
                  <a:pt x="11758" y="4678362"/>
                </a:lnTo>
                <a:lnTo>
                  <a:pt x="3359" y="4738687"/>
                </a:lnTo>
                <a:lnTo>
                  <a:pt x="0" y="4806950"/>
                </a:lnTo>
                <a:lnTo>
                  <a:pt x="3359" y="4875212"/>
                </a:lnTo>
                <a:lnTo>
                  <a:pt x="11758" y="4935537"/>
                </a:lnTo>
                <a:lnTo>
                  <a:pt x="23515" y="4987925"/>
                </a:lnTo>
                <a:lnTo>
                  <a:pt x="38632" y="5033962"/>
                </a:lnTo>
                <a:lnTo>
                  <a:pt x="55427" y="5075237"/>
                </a:lnTo>
                <a:lnTo>
                  <a:pt x="75583" y="5114925"/>
                </a:lnTo>
                <a:lnTo>
                  <a:pt x="95738" y="5149850"/>
                </a:lnTo>
                <a:lnTo>
                  <a:pt x="115893" y="5186362"/>
                </a:lnTo>
                <a:lnTo>
                  <a:pt x="134368" y="5226050"/>
                </a:lnTo>
                <a:lnTo>
                  <a:pt x="152844" y="5268912"/>
                </a:lnTo>
                <a:lnTo>
                  <a:pt x="167960" y="5313362"/>
                </a:lnTo>
                <a:lnTo>
                  <a:pt x="178038" y="5365750"/>
                </a:lnTo>
                <a:lnTo>
                  <a:pt x="188115" y="5426075"/>
                </a:lnTo>
                <a:lnTo>
                  <a:pt x="189795" y="5494337"/>
                </a:lnTo>
                <a:lnTo>
                  <a:pt x="188115" y="5562600"/>
                </a:lnTo>
                <a:lnTo>
                  <a:pt x="178038" y="5622925"/>
                </a:lnTo>
                <a:lnTo>
                  <a:pt x="167960" y="5675312"/>
                </a:lnTo>
                <a:lnTo>
                  <a:pt x="152844" y="5721350"/>
                </a:lnTo>
                <a:lnTo>
                  <a:pt x="134368" y="5762625"/>
                </a:lnTo>
                <a:lnTo>
                  <a:pt x="115893" y="5802312"/>
                </a:lnTo>
                <a:lnTo>
                  <a:pt x="95738" y="5840412"/>
                </a:lnTo>
                <a:lnTo>
                  <a:pt x="75583" y="5876925"/>
                </a:lnTo>
                <a:lnTo>
                  <a:pt x="55427" y="5915025"/>
                </a:lnTo>
                <a:lnTo>
                  <a:pt x="38632" y="5956300"/>
                </a:lnTo>
                <a:lnTo>
                  <a:pt x="23515" y="6003925"/>
                </a:lnTo>
                <a:lnTo>
                  <a:pt x="11758" y="6056312"/>
                </a:lnTo>
                <a:lnTo>
                  <a:pt x="3359" y="6113462"/>
                </a:lnTo>
                <a:lnTo>
                  <a:pt x="0" y="6183312"/>
                </a:lnTo>
                <a:lnTo>
                  <a:pt x="3359" y="6251575"/>
                </a:lnTo>
                <a:lnTo>
                  <a:pt x="11758" y="6311900"/>
                </a:lnTo>
                <a:lnTo>
                  <a:pt x="23515" y="6361112"/>
                </a:lnTo>
                <a:lnTo>
                  <a:pt x="38632" y="6407150"/>
                </a:lnTo>
                <a:lnTo>
                  <a:pt x="55427" y="6448425"/>
                </a:lnTo>
                <a:lnTo>
                  <a:pt x="73903" y="6488112"/>
                </a:lnTo>
                <a:lnTo>
                  <a:pt x="92379" y="6523037"/>
                </a:lnTo>
                <a:lnTo>
                  <a:pt x="112534" y="6561137"/>
                </a:lnTo>
                <a:lnTo>
                  <a:pt x="132689" y="6597650"/>
                </a:lnTo>
                <a:lnTo>
                  <a:pt x="149485" y="6640512"/>
                </a:lnTo>
                <a:lnTo>
                  <a:pt x="166281" y="6683375"/>
                </a:lnTo>
                <a:lnTo>
                  <a:pt x="176358" y="6735762"/>
                </a:lnTo>
                <a:lnTo>
                  <a:pt x="184756" y="6791325"/>
                </a:lnTo>
                <a:lnTo>
                  <a:pt x="189795" y="6858000"/>
                </a:lnTo>
                <a:lnTo>
                  <a:pt x="334173" y="6858000"/>
                </a:lnTo>
                <a:lnTo>
                  <a:pt x="334174" y="6858000"/>
                </a:lnTo>
                <a:lnTo>
                  <a:pt x="3459219" y="6858000"/>
                </a:lnTo>
                <a:lnTo>
                  <a:pt x="4417162" y="6858000"/>
                </a:lnTo>
                <a:lnTo>
                  <a:pt x="4838076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11BAB570-FF10-4E96-8A3F-FA9804702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3520273" cy="6858000"/>
          </a:xfrm>
          <a:custGeom>
            <a:avLst/>
            <a:gdLst>
              <a:gd name="connsiteX0" fmla="*/ 0 w 4693698"/>
              <a:gd name="connsiteY0" fmla="*/ 0 h 6858000"/>
              <a:gd name="connsiteX1" fmla="*/ 420914 w 4693698"/>
              <a:gd name="connsiteY1" fmla="*/ 0 h 6858000"/>
              <a:gd name="connsiteX2" fmla="*/ 1582057 w 4693698"/>
              <a:gd name="connsiteY2" fmla="*/ 0 h 6858000"/>
              <a:gd name="connsiteX3" fmla="*/ 4503903 w 4693698"/>
              <a:gd name="connsiteY3" fmla="*/ 0 h 6858000"/>
              <a:gd name="connsiteX4" fmla="*/ 4508943 w 4693698"/>
              <a:gd name="connsiteY4" fmla="*/ 66675 h 6858000"/>
              <a:gd name="connsiteX5" fmla="*/ 4517340 w 4693698"/>
              <a:gd name="connsiteY5" fmla="*/ 122237 h 6858000"/>
              <a:gd name="connsiteX6" fmla="*/ 4527418 w 4693698"/>
              <a:gd name="connsiteY6" fmla="*/ 174625 h 6858000"/>
              <a:gd name="connsiteX7" fmla="*/ 4544214 w 4693698"/>
              <a:gd name="connsiteY7" fmla="*/ 217487 h 6858000"/>
              <a:gd name="connsiteX8" fmla="*/ 4561010 w 4693698"/>
              <a:gd name="connsiteY8" fmla="*/ 260350 h 6858000"/>
              <a:gd name="connsiteX9" fmla="*/ 4581165 w 4693698"/>
              <a:gd name="connsiteY9" fmla="*/ 296862 h 6858000"/>
              <a:gd name="connsiteX10" fmla="*/ 4601320 w 4693698"/>
              <a:gd name="connsiteY10" fmla="*/ 334962 h 6858000"/>
              <a:gd name="connsiteX11" fmla="*/ 4619796 w 4693698"/>
              <a:gd name="connsiteY11" fmla="*/ 369887 h 6858000"/>
              <a:gd name="connsiteX12" fmla="*/ 4638271 w 4693698"/>
              <a:gd name="connsiteY12" fmla="*/ 409575 h 6858000"/>
              <a:gd name="connsiteX13" fmla="*/ 4655067 w 4693698"/>
              <a:gd name="connsiteY13" fmla="*/ 450850 h 6858000"/>
              <a:gd name="connsiteX14" fmla="*/ 4670184 w 4693698"/>
              <a:gd name="connsiteY14" fmla="*/ 496887 h 6858000"/>
              <a:gd name="connsiteX15" fmla="*/ 4681941 w 4693698"/>
              <a:gd name="connsiteY15" fmla="*/ 546100 h 6858000"/>
              <a:gd name="connsiteX16" fmla="*/ 4690339 w 4693698"/>
              <a:gd name="connsiteY16" fmla="*/ 606425 h 6858000"/>
              <a:gd name="connsiteX17" fmla="*/ 4693698 w 4693698"/>
              <a:gd name="connsiteY17" fmla="*/ 673100 h 6858000"/>
              <a:gd name="connsiteX18" fmla="*/ 4690339 w 4693698"/>
              <a:gd name="connsiteY18" fmla="*/ 744537 h 6858000"/>
              <a:gd name="connsiteX19" fmla="*/ 4681941 w 4693698"/>
              <a:gd name="connsiteY19" fmla="*/ 801687 h 6858000"/>
              <a:gd name="connsiteX20" fmla="*/ 4670184 w 4693698"/>
              <a:gd name="connsiteY20" fmla="*/ 854075 h 6858000"/>
              <a:gd name="connsiteX21" fmla="*/ 4655067 w 4693698"/>
              <a:gd name="connsiteY21" fmla="*/ 901700 h 6858000"/>
              <a:gd name="connsiteX22" fmla="*/ 4638271 w 4693698"/>
              <a:gd name="connsiteY22" fmla="*/ 942975 h 6858000"/>
              <a:gd name="connsiteX23" fmla="*/ 4618116 w 4693698"/>
              <a:gd name="connsiteY23" fmla="*/ 981075 h 6858000"/>
              <a:gd name="connsiteX24" fmla="*/ 4597961 w 4693698"/>
              <a:gd name="connsiteY24" fmla="*/ 1017587 h 6858000"/>
              <a:gd name="connsiteX25" fmla="*/ 4577806 w 4693698"/>
              <a:gd name="connsiteY25" fmla="*/ 1055687 h 6858000"/>
              <a:gd name="connsiteX26" fmla="*/ 4559330 w 4693698"/>
              <a:gd name="connsiteY26" fmla="*/ 1095375 h 6858000"/>
              <a:gd name="connsiteX27" fmla="*/ 4540854 w 4693698"/>
              <a:gd name="connsiteY27" fmla="*/ 1136650 h 6858000"/>
              <a:gd name="connsiteX28" fmla="*/ 4525739 w 4693698"/>
              <a:gd name="connsiteY28" fmla="*/ 1182687 h 6858000"/>
              <a:gd name="connsiteX29" fmla="*/ 4515661 w 4693698"/>
              <a:gd name="connsiteY29" fmla="*/ 1235075 h 6858000"/>
              <a:gd name="connsiteX30" fmla="*/ 4505583 w 4693698"/>
              <a:gd name="connsiteY30" fmla="*/ 1295400 h 6858000"/>
              <a:gd name="connsiteX31" fmla="*/ 4503903 w 4693698"/>
              <a:gd name="connsiteY31" fmla="*/ 1363662 h 6858000"/>
              <a:gd name="connsiteX32" fmla="*/ 4505583 w 4693698"/>
              <a:gd name="connsiteY32" fmla="*/ 1431925 h 6858000"/>
              <a:gd name="connsiteX33" fmla="*/ 4515661 w 4693698"/>
              <a:gd name="connsiteY33" fmla="*/ 1492250 h 6858000"/>
              <a:gd name="connsiteX34" fmla="*/ 4525739 w 4693698"/>
              <a:gd name="connsiteY34" fmla="*/ 1544637 h 6858000"/>
              <a:gd name="connsiteX35" fmla="*/ 4540854 w 4693698"/>
              <a:gd name="connsiteY35" fmla="*/ 1589087 h 6858000"/>
              <a:gd name="connsiteX36" fmla="*/ 4559330 w 4693698"/>
              <a:gd name="connsiteY36" fmla="*/ 1631950 h 6858000"/>
              <a:gd name="connsiteX37" fmla="*/ 4577806 w 4693698"/>
              <a:gd name="connsiteY37" fmla="*/ 1671637 h 6858000"/>
              <a:gd name="connsiteX38" fmla="*/ 4597961 w 4693698"/>
              <a:gd name="connsiteY38" fmla="*/ 1708150 h 6858000"/>
              <a:gd name="connsiteX39" fmla="*/ 4618116 w 4693698"/>
              <a:gd name="connsiteY39" fmla="*/ 1743075 h 6858000"/>
              <a:gd name="connsiteX40" fmla="*/ 4638271 w 4693698"/>
              <a:gd name="connsiteY40" fmla="*/ 1782762 h 6858000"/>
              <a:gd name="connsiteX41" fmla="*/ 4655067 w 4693698"/>
              <a:gd name="connsiteY41" fmla="*/ 1824037 h 6858000"/>
              <a:gd name="connsiteX42" fmla="*/ 4670184 w 4693698"/>
              <a:gd name="connsiteY42" fmla="*/ 1870075 h 6858000"/>
              <a:gd name="connsiteX43" fmla="*/ 4681941 w 4693698"/>
              <a:gd name="connsiteY43" fmla="*/ 1922462 h 6858000"/>
              <a:gd name="connsiteX44" fmla="*/ 4690339 w 4693698"/>
              <a:gd name="connsiteY44" fmla="*/ 1982787 h 6858000"/>
              <a:gd name="connsiteX45" fmla="*/ 4693698 w 4693698"/>
              <a:gd name="connsiteY45" fmla="*/ 2051050 h 6858000"/>
              <a:gd name="connsiteX46" fmla="*/ 4690339 w 4693698"/>
              <a:gd name="connsiteY46" fmla="*/ 2119312 h 6858000"/>
              <a:gd name="connsiteX47" fmla="*/ 4681941 w 4693698"/>
              <a:gd name="connsiteY47" fmla="*/ 2179637 h 6858000"/>
              <a:gd name="connsiteX48" fmla="*/ 4670184 w 4693698"/>
              <a:gd name="connsiteY48" fmla="*/ 2232025 h 6858000"/>
              <a:gd name="connsiteX49" fmla="*/ 4655067 w 4693698"/>
              <a:gd name="connsiteY49" fmla="*/ 2278062 h 6858000"/>
              <a:gd name="connsiteX50" fmla="*/ 4638271 w 4693698"/>
              <a:gd name="connsiteY50" fmla="*/ 2319337 h 6858000"/>
              <a:gd name="connsiteX51" fmla="*/ 4618116 w 4693698"/>
              <a:gd name="connsiteY51" fmla="*/ 2359025 h 6858000"/>
              <a:gd name="connsiteX52" fmla="*/ 4597961 w 4693698"/>
              <a:gd name="connsiteY52" fmla="*/ 2395537 h 6858000"/>
              <a:gd name="connsiteX53" fmla="*/ 4577806 w 4693698"/>
              <a:gd name="connsiteY53" fmla="*/ 2433637 h 6858000"/>
              <a:gd name="connsiteX54" fmla="*/ 4559330 w 4693698"/>
              <a:gd name="connsiteY54" fmla="*/ 2471737 h 6858000"/>
              <a:gd name="connsiteX55" fmla="*/ 4540854 w 4693698"/>
              <a:gd name="connsiteY55" fmla="*/ 2513012 h 6858000"/>
              <a:gd name="connsiteX56" fmla="*/ 4525739 w 4693698"/>
              <a:gd name="connsiteY56" fmla="*/ 2560637 h 6858000"/>
              <a:gd name="connsiteX57" fmla="*/ 4515661 w 4693698"/>
              <a:gd name="connsiteY57" fmla="*/ 2613025 h 6858000"/>
              <a:gd name="connsiteX58" fmla="*/ 4505583 w 4693698"/>
              <a:gd name="connsiteY58" fmla="*/ 2671762 h 6858000"/>
              <a:gd name="connsiteX59" fmla="*/ 4503903 w 4693698"/>
              <a:gd name="connsiteY59" fmla="*/ 2741612 h 6858000"/>
              <a:gd name="connsiteX60" fmla="*/ 4505583 w 4693698"/>
              <a:gd name="connsiteY60" fmla="*/ 2809875 h 6858000"/>
              <a:gd name="connsiteX61" fmla="*/ 4515661 w 4693698"/>
              <a:gd name="connsiteY61" fmla="*/ 2868612 h 6858000"/>
              <a:gd name="connsiteX62" fmla="*/ 4525739 w 4693698"/>
              <a:gd name="connsiteY62" fmla="*/ 2922587 h 6858000"/>
              <a:gd name="connsiteX63" fmla="*/ 4540854 w 4693698"/>
              <a:gd name="connsiteY63" fmla="*/ 2967037 h 6858000"/>
              <a:gd name="connsiteX64" fmla="*/ 4559330 w 4693698"/>
              <a:gd name="connsiteY64" fmla="*/ 3009900 h 6858000"/>
              <a:gd name="connsiteX65" fmla="*/ 4577806 w 4693698"/>
              <a:gd name="connsiteY65" fmla="*/ 3046412 h 6858000"/>
              <a:gd name="connsiteX66" fmla="*/ 4597961 w 4693698"/>
              <a:gd name="connsiteY66" fmla="*/ 3084512 h 6858000"/>
              <a:gd name="connsiteX67" fmla="*/ 4618116 w 4693698"/>
              <a:gd name="connsiteY67" fmla="*/ 3121025 h 6858000"/>
              <a:gd name="connsiteX68" fmla="*/ 4638271 w 4693698"/>
              <a:gd name="connsiteY68" fmla="*/ 3160712 h 6858000"/>
              <a:gd name="connsiteX69" fmla="*/ 4655067 w 4693698"/>
              <a:gd name="connsiteY69" fmla="*/ 3201987 h 6858000"/>
              <a:gd name="connsiteX70" fmla="*/ 4670184 w 4693698"/>
              <a:gd name="connsiteY70" fmla="*/ 3248025 h 6858000"/>
              <a:gd name="connsiteX71" fmla="*/ 4681941 w 4693698"/>
              <a:gd name="connsiteY71" fmla="*/ 3300412 h 6858000"/>
              <a:gd name="connsiteX72" fmla="*/ 4690339 w 4693698"/>
              <a:gd name="connsiteY72" fmla="*/ 3360737 h 6858000"/>
              <a:gd name="connsiteX73" fmla="*/ 4693698 w 4693698"/>
              <a:gd name="connsiteY73" fmla="*/ 3427412 h 6858000"/>
              <a:gd name="connsiteX74" fmla="*/ 4690339 w 4693698"/>
              <a:gd name="connsiteY74" fmla="*/ 3497262 h 6858000"/>
              <a:gd name="connsiteX75" fmla="*/ 4681941 w 4693698"/>
              <a:gd name="connsiteY75" fmla="*/ 3557587 h 6858000"/>
              <a:gd name="connsiteX76" fmla="*/ 4670184 w 4693698"/>
              <a:gd name="connsiteY76" fmla="*/ 3609975 h 6858000"/>
              <a:gd name="connsiteX77" fmla="*/ 4655067 w 4693698"/>
              <a:gd name="connsiteY77" fmla="*/ 3656012 h 6858000"/>
              <a:gd name="connsiteX78" fmla="*/ 4638271 w 4693698"/>
              <a:gd name="connsiteY78" fmla="*/ 3697287 h 6858000"/>
              <a:gd name="connsiteX79" fmla="*/ 4618116 w 4693698"/>
              <a:gd name="connsiteY79" fmla="*/ 3736975 h 6858000"/>
              <a:gd name="connsiteX80" fmla="*/ 4577806 w 4693698"/>
              <a:gd name="connsiteY80" fmla="*/ 3811587 h 6858000"/>
              <a:gd name="connsiteX81" fmla="*/ 4559330 w 4693698"/>
              <a:gd name="connsiteY81" fmla="*/ 3848100 h 6858000"/>
              <a:gd name="connsiteX82" fmla="*/ 4540854 w 4693698"/>
              <a:gd name="connsiteY82" fmla="*/ 3890962 h 6858000"/>
              <a:gd name="connsiteX83" fmla="*/ 4525739 w 4693698"/>
              <a:gd name="connsiteY83" fmla="*/ 3935412 h 6858000"/>
              <a:gd name="connsiteX84" fmla="*/ 4515661 w 4693698"/>
              <a:gd name="connsiteY84" fmla="*/ 3987800 h 6858000"/>
              <a:gd name="connsiteX85" fmla="*/ 4505583 w 4693698"/>
              <a:gd name="connsiteY85" fmla="*/ 4048125 h 6858000"/>
              <a:gd name="connsiteX86" fmla="*/ 4503903 w 4693698"/>
              <a:gd name="connsiteY86" fmla="*/ 4116387 h 6858000"/>
              <a:gd name="connsiteX87" fmla="*/ 4505583 w 4693698"/>
              <a:gd name="connsiteY87" fmla="*/ 4186237 h 6858000"/>
              <a:gd name="connsiteX88" fmla="*/ 4515661 w 4693698"/>
              <a:gd name="connsiteY88" fmla="*/ 4244975 h 6858000"/>
              <a:gd name="connsiteX89" fmla="*/ 4525739 w 4693698"/>
              <a:gd name="connsiteY89" fmla="*/ 4297362 h 6858000"/>
              <a:gd name="connsiteX90" fmla="*/ 4540854 w 4693698"/>
              <a:gd name="connsiteY90" fmla="*/ 4343400 h 6858000"/>
              <a:gd name="connsiteX91" fmla="*/ 4559330 w 4693698"/>
              <a:gd name="connsiteY91" fmla="*/ 4386262 h 6858000"/>
              <a:gd name="connsiteX92" fmla="*/ 4577806 w 4693698"/>
              <a:gd name="connsiteY92" fmla="*/ 4424362 h 6858000"/>
              <a:gd name="connsiteX93" fmla="*/ 4618116 w 4693698"/>
              <a:gd name="connsiteY93" fmla="*/ 4498975 h 6858000"/>
              <a:gd name="connsiteX94" fmla="*/ 4638271 w 4693698"/>
              <a:gd name="connsiteY94" fmla="*/ 4537075 h 6858000"/>
              <a:gd name="connsiteX95" fmla="*/ 4655067 w 4693698"/>
              <a:gd name="connsiteY95" fmla="*/ 4579937 h 6858000"/>
              <a:gd name="connsiteX96" fmla="*/ 4670184 w 4693698"/>
              <a:gd name="connsiteY96" fmla="*/ 4625975 h 6858000"/>
              <a:gd name="connsiteX97" fmla="*/ 4681941 w 4693698"/>
              <a:gd name="connsiteY97" fmla="*/ 4678362 h 6858000"/>
              <a:gd name="connsiteX98" fmla="*/ 4690339 w 4693698"/>
              <a:gd name="connsiteY98" fmla="*/ 4738687 h 6858000"/>
              <a:gd name="connsiteX99" fmla="*/ 4693698 w 4693698"/>
              <a:gd name="connsiteY99" fmla="*/ 4806950 h 6858000"/>
              <a:gd name="connsiteX100" fmla="*/ 4690339 w 4693698"/>
              <a:gd name="connsiteY100" fmla="*/ 4875212 h 6858000"/>
              <a:gd name="connsiteX101" fmla="*/ 4681941 w 4693698"/>
              <a:gd name="connsiteY101" fmla="*/ 4935537 h 6858000"/>
              <a:gd name="connsiteX102" fmla="*/ 4670184 w 4693698"/>
              <a:gd name="connsiteY102" fmla="*/ 4987925 h 6858000"/>
              <a:gd name="connsiteX103" fmla="*/ 4655067 w 4693698"/>
              <a:gd name="connsiteY103" fmla="*/ 5033962 h 6858000"/>
              <a:gd name="connsiteX104" fmla="*/ 4638271 w 4693698"/>
              <a:gd name="connsiteY104" fmla="*/ 5075237 h 6858000"/>
              <a:gd name="connsiteX105" fmla="*/ 4618116 w 4693698"/>
              <a:gd name="connsiteY105" fmla="*/ 5114925 h 6858000"/>
              <a:gd name="connsiteX106" fmla="*/ 4597961 w 4693698"/>
              <a:gd name="connsiteY106" fmla="*/ 5149850 h 6858000"/>
              <a:gd name="connsiteX107" fmla="*/ 4577806 w 4693698"/>
              <a:gd name="connsiteY107" fmla="*/ 5186362 h 6858000"/>
              <a:gd name="connsiteX108" fmla="*/ 4559330 w 4693698"/>
              <a:gd name="connsiteY108" fmla="*/ 5226050 h 6858000"/>
              <a:gd name="connsiteX109" fmla="*/ 4540854 w 4693698"/>
              <a:gd name="connsiteY109" fmla="*/ 5268912 h 6858000"/>
              <a:gd name="connsiteX110" fmla="*/ 4525739 w 4693698"/>
              <a:gd name="connsiteY110" fmla="*/ 5313362 h 6858000"/>
              <a:gd name="connsiteX111" fmla="*/ 4515661 w 4693698"/>
              <a:gd name="connsiteY111" fmla="*/ 5365750 h 6858000"/>
              <a:gd name="connsiteX112" fmla="*/ 4505583 w 4693698"/>
              <a:gd name="connsiteY112" fmla="*/ 5426075 h 6858000"/>
              <a:gd name="connsiteX113" fmla="*/ 4503903 w 4693698"/>
              <a:gd name="connsiteY113" fmla="*/ 5494337 h 6858000"/>
              <a:gd name="connsiteX114" fmla="*/ 4505583 w 4693698"/>
              <a:gd name="connsiteY114" fmla="*/ 5562600 h 6858000"/>
              <a:gd name="connsiteX115" fmla="*/ 4515661 w 4693698"/>
              <a:gd name="connsiteY115" fmla="*/ 5622925 h 6858000"/>
              <a:gd name="connsiteX116" fmla="*/ 4525739 w 4693698"/>
              <a:gd name="connsiteY116" fmla="*/ 5675312 h 6858000"/>
              <a:gd name="connsiteX117" fmla="*/ 4540854 w 4693698"/>
              <a:gd name="connsiteY117" fmla="*/ 5721350 h 6858000"/>
              <a:gd name="connsiteX118" fmla="*/ 4559330 w 4693698"/>
              <a:gd name="connsiteY118" fmla="*/ 5762625 h 6858000"/>
              <a:gd name="connsiteX119" fmla="*/ 4577806 w 4693698"/>
              <a:gd name="connsiteY119" fmla="*/ 5802312 h 6858000"/>
              <a:gd name="connsiteX120" fmla="*/ 4597961 w 4693698"/>
              <a:gd name="connsiteY120" fmla="*/ 5840412 h 6858000"/>
              <a:gd name="connsiteX121" fmla="*/ 4618116 w 4693698"/>
              <a:gd name="connsiteY121" fmla="*/ 5876925 h 6858000"/>
              <a:gd name="connsiteX122" fmla="*/ 4638271 w 4693698"/>
              <a:gd name="connsiteY122" fmla="*/ 5915025 h 6858000"/>
              <a:gd name="connsiteX123" fmla="*/ 4655067 w 4693698"/>
              <a:gd name="connsiteY123" fmla="*/ 5956300 h 6858000"/>
              <a:gd name="connsiteX124" fmla="*/ 4670184 w 4693698"/>
              <a:gd name="connsiteY124" fmla="*/ 6003925 h 6858000"/>
              <a:gd name="connsiteX125" fmla="*/ 4681941 w 4693698"/>
              <a:gd name="connsiteY125" fmla="*/ 6056312 h 6858000"/>
              <a:gd name="connsiteX126" fmla="*/ 4690339 w 4693698"/>
              <a:gd name="connsiteY126" fmla="*/ 6113462 h 6858000"/>
              <a:gd name="connsiteX127" fmla="*/ 4693698 w 4693698"/>
              <a:gd name="connsiteY127" fmla="*/ 6183312 h 6858000"/>
              <a:gd name="connsiteX128" fmla="*/ 4690339 w 4693698"/>
              <a:gd name="connsiteY128" fmla="*/ 6251575 h 6858000"/>
              <a:gd name="connsiteX129" fmla="*/ 4681941 w 4693698"/>
              <a:gd name="connsiteY129" fmla="*/ 6311900 h 6858000"/>
              <a:gd name="connsiteX130" fmla="*/ 4670184 w 4693698"/>
              <a:gd name="connsiteY130" fmla="*/ 6361112 h 6858000"/>
              <a:gd name="connsiteX131" fmla="*/ 4655067 w 4693698"/>
              <a:gd name="connsiteY131" fmla="*/ 6407150 h 6858000"/>
              <a:gd name="connsiteX132" fmla="*/ 4638271 w 4693698"/>
              <a:gd name="connsiteY132" fmla="*/ 6448425 h 6858000"/>
              <a:gd name="connsiteX133" fmla="*/ 4619796 w 4693698"/>
              <a:gd name="connsiteY133" fmla="*/ 6488112 h 6858000"/>
              <a:gd name="connsiteX134" fmla="*/ 4601320 w 4693698"/>
              <a:gd name="connsiteY134" fmla="*/ 6523037 h 6858000"/>
              <a:gd name="connsiteX135" fmla="*/ 4581165 w 4693698"/>
              <a:gd name="connsiteY135" fmla="*/ 6561137 h 6858000"/>
              <a:gd name="connsiteX136" fmla="*/ 4561010 w 4693698"/>
              <a:gd name="connsiteY136" fmla="*/ 6597650 h 6858000"/>
              <a:gd name="connsiteX137" fmla="*/ 4544214 w 4693698"/>
              <a:gd name="connsiteY137" fmla="*/ 6640512 h 6858000"/>
              <a:gd name="connsiteX138" fmla="*/ 4527418 w 4693698"/>
              <a:gd name="connsiteY138" fmla="*/ 6683375 h 6858000"/>
              <a:gd name="connsiteX139" fmla="*/ 4517340 w 4693698"/>
              <a:gd name="connsiteY139" fmla="*/ 6735762 h 6858000"/>
              <a:gd name="connsiteX140" fmla="*/ 4508943 w 4693698"/>
              <a:gd name="connsiteY140" fmla="*/ 6791325 h 6858000"/>
              <a:gd name="connsiteX141" fmla="*/ 4503903 w 4693698"/>
              <a:gd name="connsiteY141" fmla="*/ 6858000 h 6858000"/>
              <a:gd name="connsiteX142" fmla="*/ 1582057 w 4693698"/>
              <a:gd name="connsiteY142" fmla="*/ 6858000 h 6858000"/>
              <a:gd name="connsiteX143" fmla="*/ 420914 w 4693698"/>
              <a:gd name="connsiteY143" fmla="*/ 6858000 h 6858000"/>
              <a:gd name="connsiteX144" fmla="*/ 0 w 4693698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693698" h="6858000">
                <a:moveTo>
                  <a:pt x="0" y="0"/>
                </a:moveTo>
                <a:lnTo>
                  <a:pt x="420914" y="0"/>
                </a:lnTo>
                <a:lnTo>
                  <a:pt x="1582057" y="0"/>
                </a:lnTo>
                <a:lnTo>
                  <a:pt x="4503903" y="0"/>
                </a:lnTo>
                <a:lnTo>
                  <a:pt x="4508943" y="66675"/>
                </a:lnTo>
                <a:lnTo>
                  <a:pt x="4517340" y="122237"/>
                </a:lnTo>
                <a:lnTo>
                  <a:pt x="4527418" y="174625"/>
                </a:lnTo>
                <a:lnTo>
                  <a:pt x="4544214" y="217487"/>
                </a:lnTo>
                <a:lnTo>
                  <a:pt x="4561010" y="260350"/>
                </a:lnTo>
                <a:lnTo>
                  <a:pt x="4581165" y="296862"/>
                </a:lnTo>
                <a:lnTo>
                  <a:pt x="4601320" y="334962"/>
                </a:lnTo>
                <a:lnTo>
                  <a:pt x="4619796" y="369887"/>
                </a:lnTo>
                <a:lnTo>
                  <a:pt x="4638271" y="409575"/>
                </a:lnTo>
                <a:lnTo>
                  <a:pt x="4655067" y="450850"/>
                </a:lnTo>
                <a:lnTo>
                  <a:pt x="4670184" y="496887"/>
                </a:lnTo>
                <a:lnTo>
                  <a:pt x="4681941" y="546100"/>
                </a:lnTo>
                <a:lnTo>
                  <a:pt x="4690339" y="606425"/>
                </a:lnTo>
                <a:lnTo>
                  <a:pt x="4693698" y="673100"/>
                </a:lnTo>
                <a:lnTo>
                  <a:pt x="4690339" y="744537"/>
                </a:lnTo>
                <a:lnTo>
                  <a:pt x="4681941" y="801687"/>
                </a:lnTo>
                <a:lnTo>
                  <a:pt x="4670184" y="854075"/>
                </a:lnTo>
                <a:lnTo>
                  <a:pt x="4655067" y="901700"/>
                </a:lnTo>
                <a:lnTo>
                  <a:pt x="4638271" y="942975"/>
                </a:lnTo>
                <a:lnTo>
                  <a:pt x="4618116" y="981075"/>
                </a:lnTo>
                <a:lnTo>
                  <a:pt x="4597961" y="1017587"/>
                </a:lnTo>
                <a:lnTo>
                  <a:pt x="4577806" y="1055687"/>
                </a:lnTo>
                <a:lnTo>
                  <a:pt x="4559330" y="1095375"/>
                </a:lnTo>
                <a:lnTo>
                  <a:pt x="4540854" y="1136650"/>
                </a:lnTo>
                <a:lnTo>
                  <a:pt x="4525739" y="1182687"/>
                </a:lnTo>
                <a:lnTo>
                  <a:pt x="4515661" y="1235075"/>
                </a:lnTo>
                <a:lnTo>
                  <a:pt x="4505583" y="1295400"/>
                </a:lnTo>
                <a:lnTo>
                  <a:pt x="4503903" y="1363662"/>
                </a:lnTo>
                <a:lnTo>
                  <a:pt x="4505583" y="1431925"/>
                </a:lnTo>
                <a:lnTo>
                  <a:pt x="4515661" y="1492250"/>
                </a:lnTo>
                <a:lnTo>
                  <a:pt x="4525739" y="1544637"/>
                </a:lnTo>
                <a:lnTo>
                  <a:pt x="4540854" y="1589087"/>
                </a:lnTo>
                <a:lnTo>
                  <a:pt x="4559330" y="1631950"/>
                </a:lnTo>
                <a:lnTo>
                  <a:pt x="4577806" y="1671637"/>
                </a:lnTo>
                <a:lnTo>
                  <a:pt x="4597961" y="1708150"/>
                </a:lnTo>
                <a:lnTo>
                  <a:pt x="4618116" y="1743075"/>
                </a:lnTo>
                <a:lnTo>
                  <a:pt x="4638271" y="1782762"/>
                </a:lnTo>
                <a:lnTo>
                  <a:pt x="4655067" y="1824037"/>
                </a:lnTo>
                <a:lnTo>
                  <a:pt x="4670184" y="1870075"/>
                </a:lnTo>
                <a:lnTo>
                  <a:pt x="4681941" y="1922462"/>
                </a:lnTo>
                <a:lnTo>
                  <a:pt x="4690339" y="1982787"/>
                </a:lnTo>
                <a:lnTo>
                  <a:pt x="4693698" y="2051050"/>
                </a:lnTo>
                <a:lnTo>
                  <a:pt x="4690339" y="2119312"/>
                </a:lnTo>
                <a:lnTo>
                  <a:pt x="4681941" y="2179637"/>
                </a:lnTo>
                <a:lnTo>
                  <a:pt x="4670184" y="2232025"/>
                </a:lnTo>
                <a:lnTo>
                  <a:pt x="4655067" y="2278062"/>
                </a:lnTo>
                <a:lnTo>
                  <a:pt x="4638271" y="2319337"/>
                </a:lnTo>
                <a:lnTo>
                  <a:pt x="4618116" y="2359025"/>
                </a:lnTo>
                <a:lnTo>
                  <a:pt x="4597961" y="2395537"/>
                </a:lnTo>
                <a:lnTo>
                  <a:pt x="4577806" y="2433637"/>
                </a:lnTo>
                <a:lnTo>
                  <a:pt x="4559330" y="2471737"/>
                </a:lnTo>
                <a:lnTo>
                  <a:pt x="4540854" y="2513012"/>
                </a:lnTo>
                <a:lnTo>
                  <a:pt x="4525739" y="2560637"/>
                </a:lnTo>
                <a:lnTo>
                  <a:pt x="4515661" y="2613025"/>
                </a:lnTo>
                <a:lnTo>
                  <a:pt x="4505583" y="2671762"/>
                </a:lnTo>
                <a:lnTo>
                  <a:pt x="4503903" y="2741612"/>
                </a:lnTo>
                <a:lnTo>
                  <a:pt x="4505583" y="2809875"/>
                </a:lnTo>
                <a:lnTo>
                  <a:pt x="4515661" y="2868612"/>
                </a:lnTo>
                <a:lnTo>
                  <a:pt x="4525739" y="2922587"/>
                </a:lnTo>
                <a:lnTo>
                  <a:pt x="4540854" y="2967037"/>
                </a:lnTo>
                <a:lnTo>
                  <a:pt x="4559330" y="3009900"/>
                </a:lnTo>
                <a:lnTo>
                  <a:pt x="4577806" y="3046412"/>
                </a:lnTo>
                <a:lnTo>
                  <a:pt x="4597961" y="3084512"/>
                </a:lnTo>
                <a:lnTo>
                  <a:pt x="4618116" y="3121025"/>
                </a:lnTo>
                <a:lnTo>
                  <a:pt x="4638271" y="3160712"/>
                </a:lnTo>
                <a:lnTo>
                  <a:pt x="4655067" y="3201987"/>
                </a:lnTo>
                <a:lnTo>
                  <a:pt x="4670184" y="3248025"/>
                </a:lnTo>
                <a:lnTo>
                  <a:pt x="4681941" y="3300412"/>
                </a:lnTo>
                <a:lnTo>
                  <a:pt x="4690339" y="3360737"/>
                </a:lnTo>
                <a:lnTo>
                  <a:pt x="4693698" y="3427412"/>
                </a:lnTo>
                <a:lnTo>
                  <a:pt x="4690339" y="3497262"/>
                </a:lnTo>
                <a:lnTo>
                  <a:pt x="4681941" y="3557587"/>
                </a:lnTo>
                <a:lnTo>
                  <a:pt x="4670184" y="3609975"/>
                </a:lnTo>
                <a:lnTo>
                  <a:pt x="4655067" y="3656012"/>
                </a:lnTo>
                <a:lnTo>
                  <a:pt x="4638271" y="3697287"/>
                </a:lnTo>
                <a:lnTo>
                  <a:pt x="4618116" y="3736975"/>
                </a:lnTo>
                <a:lnTo>
                  <a:pt x="4577806" y="3811587"/>
                </a:lnTo>
                <a:lnTo>
                  <a:pt x="4559330" y="3848100"/>
                </a:lnTo>
                <a:lnTo>
                  <a:pt x="4540854" y="3890962"/>
                </a:lnTo>
                <a:lnTo>
                  <a:pt x="4525739" y="3935412"/>
                </a:lnTo>
                <a:lnTo>
                  <a:pt x="4515661" y="3987800"/>
                </a:lnTo>
                <a:lnTo>
                  <a:pt x="4505583" y="4048125"/>
                </a:lnTo>
                <a:lnTo>
                  <a:pt x="4503903" y="4116387"/>
                </a:lnTo>
                <a:lnTo>
                  <a:pt x="4505583" y="4186237"/>
                </a:lnTo>
                <a:lnTo>
                  <a:pt x="4515661" y="4244975"/>
                </a:lnTo>
                <a:lnTo>
                  <a:pt x="4525739" y="4297362"/>
                </a:lnTo>
                <a:lnTo>
                  <a:pt x="4540854" y="4343400"/>
                </a:lnTo>
                <a:lnTo>
                  <a:pt x="4559330" y="4386262"/>
                </a:lnTo>
                <a:lnTo>
                  <a:pt x="4577806" y="4424362"/>
                </a:lnTo>
                <a:lnTo>
                  <a:pt x="4618116" y="4498975"/>
                </a:lnTo>
                <a:lnTo>
                  <a:pt x="4638271" y="4537075"/>
                </a:lnTo>
                <a:lnTo>
                  <a:pt x="4655067" y="4579937"/>
                </a:lnTo>
                <a:lnTo>
                  <a:pt x="4670184" y="4625975"/>
                </a:lnTo>
                <a:lnTo>
                  <a:pt x="4681941" y="4678362"/>
                </a:lnTo>
                <a:lnTo>
                  <a:pt x="4690339" y="4738687"/>
                </a:lnTo>
                <a:lnTo>
                  <a:pt x="4693698" y="4806950"/>
                </a:lnTo>
                <a:lnTo>
                  <a:pt x="4690339" y="4875212"/>
                </a:lnTo>
                <a:lnTo>
                  <a:pt x="4681941" y="4935537"/>
                </a:lnTo>
                <a:lnTo>
                  <a:pt x="4670184" y="4987925"/>
                </a:lnTo>
                <a:lnTo>
                  <a:pt x="4655067" y="5033962"/>
                </a:lnTo>
                <a:lnTo>
                  <a:pt x="4638271" y="5075237"/>
                </a:lnTo>
                <a:lnTo>
                  <a:pt x="4618116" y="5114925"/>
                </a:lnTo>
                <a:lnTo>
                  <a:pt x="4597961" y="5149850"/>
                </a:lnTo>
                <a:lnTo>
                  <a:pt x="4577806" y="5186362"/>
                </a:lnTo>
                <a:lnTo>
                  <a:pt x="4559330" y="5226050"/>
                </a:lnTo>
                <a:lnTo>
                  <a:pt x="4540854" y="5268912"/>
                </a:lnTo>
                <a:lnTo>
                  <a:pt x="4525739" y="5313362"/>
                </a:lnTo>
                <a:lnTo>
                  <a:pt x="4515661" y="5365750"/>
                </a:lnTo>
                <a:lnTo>
                  <a:pt x="4505583" y="5426075"/>
                </a:lnTo>
                <a:lnTo>
                  <a:pt x="4503903" y="5494337"/>
                </a:lnTo>
                <a:lnTo>
                  <a:pt x="4505583" y="5562600"/>
                </a:lnTo>
                <a:lnTo>
                  <a:pt x="4515661" y="5622925"/>
                </a:lnTo>
                <a:lnTo>
                  <a:pt x="4525739" y="5675312"/>
                </a:lnTo>
                <a:lnTo>
                  <a:pt x="4540854" y="5721350"/>
                </a:lnTo>
                <a:lnTo>
                  <a:pt x="4559330" y="5762625"/>
                </a:lnTo>
                <a:lnTo>
                  <a:pt x="4577806" y="5802312"/>
                </a:lnTo>
                <a:lnTo>
                  <a:pt x="4597961" y="5840412"/>
                </a:lnTo>
                <a:lnTo>
                  <a:pt x="4618116" y="5876925"/>
                </a:lnTo>
                <a:lnTo>
                  <a:pt x="4638271" y="5915025"/>
                </a:lnTo>
                <a:lnTo>
                  <a:pt x="4655067" y="5956300"/>
                </a:lnTo>
                <a:lnTo>
                  <a:pt x="4670184" y="6003925"/>
                </a:lnTo>
                <a:lnTo>
                  <a:pt x="4681941" y="6056312"/>
                </a:lnTo>
                <a:lnTo>
                  <a:pt x="4690339" y="6113462"/>
                </a:lnTo>
                <a:lnTo>
                  <a:pt x="4693698" y="6183312"/>
                </a:lnTo>
                <a:lnTo>
                  <a:pt x="4690339" y="6251575"/>
                </a:lnTo>
                <a:lnTo>
                  <a:pt x="4681941" y="6311900"/>
                </a:lnTo>
                <a:lnTo>
                  <a:pt x="4670184" y="6361112"/>
                </a:lnTo>
                <a:lnTo>
                  <a:pt x="4655067" y="6407150"/>
                </a:lnTo>
                <a:lnTo>
                  <a:pt x="4638271" y="6448425"/>
                </a:lnTo>
                <a:lnTo>
                  <a:pt x="4619796" y="6488112"/>
                </a:lnTo>
                <a:lnTo>
                  <a:pt x="4601320" y="6523037"/>
                </a:lnTo>
                <a:lnTo>
                  <a:pt x="4581165" y="6561137"/>
                </a:lnTo>
                <a:lnTo>
                  <a:pt x="4561010" y="6597650"/>
                </a:lnTo>
                <a:lnTo>
                  <a:pt x="4544214" y="6640512"/>
                </a:lnTo>
                <a:lnTo>
                  <a:pt x="4527418" y="6683375"/>
                </a:lnTo>
                <a:lnTo>
                  <a:pt x="4517340" y="6735762"/>
                </a:lnTo>
                <a:lnTo>
                  <a:pt x="4508943" y="6791325"/>
                </a:lnTo>
                <a:lnTo>
                  <a:pt x="4503903" y="6858000"/>
                </a:lnTo>
                <a:lnTo>
                  <a:pt x="1582057" y="6858000"/>
                </a:lnTo>
                <a:lnTo>
                  <a:pt x="42091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879EE6-871E-CB47-8B7C-1341A12EE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788" y="662400"/>
            <a:ext cx="2538000" cy="149213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/>
              <a:t>Building our function generator kit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13CA0-9B3C-2E40-96A1-FAF80B7C4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9" y="2296466"/>
            <a:ext cx="3111787" cy="4419600"/>
          </a:xfrm>
        </p:spPr>
        <p:txBody>
          <a:bodyPr>
            <a:normAutofit/>
          </a:bodyPr>
          <a:lstStyle/>
          <a:p>
            <a:r>
              <a:rPr lang="en-US" sz="1700" dirty="0">
                <a:solidFill>
                  <a:schemeClr val="tx1">
                    <a:alpha val="60000"/>
                  </a:schemeClr>
                </a:solidFill>
              </a:rPr>
              <a:t>Google finds several websites describing it, e.g., </a:t>
            </a:r>
          </a:p>
          <a:p>
            <a:pPr lvl="1"/>
            <a:r>
              <a:rPr lang="en-US" sz="1700" dirty="0">
                <a:solidFill>
                  <a:schemeClr val="tx1">
                    <a:alpha val="60000"/>
                  </a:schemeClr>
                </a:solidFill>
                <a:hlinkClick r:id="rId4"/>
              </a:rPr>
              <a:t>https://chinese-electronics-products-tested.blogspot.com/p/geekcreit-xr2206-function-generator.html</a:t>
            </a:r>
            <a:r>
              <a:rPr lang="en-US" sz="1700" dirty="0">
                <a:solidFill>
                  <a:schemeClr val="tx1">
                    <a:alpha val="60000"/>
                  </a:schemeClr>
                </a:solidFill>
              </a:rPr>
              <a:t> </a:t>
            </a:r>
          </a:p>
          <a:p>
            <a:pPr lvl="1"/>
            <a:r>
              <a:rPr lang="en-US" sz="1700" dirty="0">
                <a:solidFill>
                  <a:schemeClr val="tx1">
                    <a:alpha val="60000"/>
                  </a:schemeClr>
                </a:solidFill>
                <a:hlinkClick r:id="rId5"/>
              </a:rPr>
              <a:t>https://youtu.be/02XtneCHnDA?t=1427</a:t>
            </a:r>
            <a:r>
              <a:rPr lang="en-US" sz="1700" dirty="0">
                <a:solidFill>
                  <a:schemeClr val="tx1">
                    <a:alpha val="60000"/>
                  </a:schemeClr>
                </a:solidFill>
              </a:rPr>
              <a:t> has improvements</a:t>
            </a:r>
          </a:p>
        </p:txBody>
      </p:sp>
    </p:spTree>
    <p:extLst>
      <p:ext uri="{BB962C8B-B14F-4D97-AF65-F5344CB8AC3E}">
        <p14:creationId xmlns:p14="http://schemas.microsoft.com/office/powerpoint/2010/main" val="726041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5B434-218D-158D-32AD-D4170616B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XR2206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A5E5B-B8D6-3D35-C4C5-810EC35ED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95400"/>
            <a:ext cx="8305800" cy="4800600"/>
          </a:xfrm>
        </p:spPr>
        <p:txBody>
          <a:bodyPr/>
          <a:lstStyle/>
          <a:p>
            <a:r>
              <a:rPr lang="en-US" dirty="0"/>
              <a:t>Google “XR2206 datasheet pdf” </a:t>
            </a:r>
            <a:r>
              <a:rPr lang="en-US" dirty="0">
                <a:sym typeface="Wingdings" pitchFamily="2" charset="2"/>
              </a:rPr>
              <a:t>and look for a pdf, e.g., </a:t>
            </a:r>
          </a:p>
          <a:p>
            <a:pPr lvl="1"/>
            <a:r>
              <a:rPr lang="en-US" dirty="0">
                <a:hlinkClick r:id="rId3"/>
              </a:rPr>
              <a:t>https://www.sparkfun.com/datasheets/Kits/XR2206_104_020808.pdf</a:t>
            </a:r>
            <a:r>
              <a:rPr lang="en-US" dirty="0">
                <a:sym typeface="Wingdings" pitchFamily="2" charset="2"/>
              </a:rPr>
              <a:t> </a:t>
            </a:r>
          </a:p>
          <a:p>
            <a:r>
              <a:rPr lang="en-US" dirty="0">
                <a:sym typeface="Wingdings" pitchFamily="2" charset="2"/>
              </a:rPr>
              <a:t>What does “monolithic” mean in the title and first sentence of description?</a:t>
            </a:r>
          </a:p>
          <a:p>
            <a:pPr lvl="1"/>
            <a:r>
              <a:rPr lang="en-US" dirty="0">
                <a:sym typeface="Wingdings" pitchFamily="2" charset="2"/>
              </a:rPr>
              <a:t>The IC is one piece of silicon (mono = one, </a:t>
            </a:r>
            <a:r>
              <a:rPr lang="en-US" dirty="0" err="1">
                <a:sym typeface="Wingdings" pitchFamily="2" charset="2"/>
              </a:rPr>
              <a:t>lithos</a:t>
            </a:r>
            <a:r>
              <a:rPr lang="en-US" dirty="0">
                <a:sym typeface="Wingdings" pitchFamily="2" charset="2"/>
              </a:rPr>
              <a:t> (Greek) = stone)</a:t>
            </a:r>
          </a:p>
          <a:p>
            <a:pPr lvl="1"/>
            <a:r>
              <a:rPr lang="en-US" dirty="0">
                <a:sym typeface="Wingdings" pitchFamily="2" charset="2"/>
              </a:rPr>
              <a:t>It means its cheap(er) to make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Should be </a:t>
            </a:r>
            <a:r>
              <a:rPr lang="en-US" u="sng" dirty="0">
                <a:sym typeface="Wingdings" pitchFamily="2" charset="2"/>
              </a:rPr>
              <a:t>possible</a:t>
            </a:r>
            <a:r>
              <a:rPr lang="en-US" dirty="0">
                <a:sym typeface="Wingdings" pitchFamily="2" charset="2"/>
              </a:rPr>
              <a:t> to automate control … how???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095F6A0-9EA1-F1DA-934F-C8DA012E220C}"/>
              </a:ext>
            </a:extLst>
          </p:cNvPr>
          <p:cNvGrpSpPr/>
          <p:nvPr/>
        </p:nvGrpSpPr>
        <p:grpSpPr>
          <a:xfrm>
            <a:off x="724250" y="3676825"/>
            <a:ext cx="7772400" cy="2220685"/>
            <a:chOff x="740229" y="4038600"/>
            <a:chExt cx="7772400" cy="222068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E965F58-D13E-59D3-3E9E-38A1B7D56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0229" y="4038600"/>
              <a:ext cx="7772400" cy="2220685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B50B48E-883F-8C56-913C-7805D3498050}"/>
                </a:ext>
              </a:extLst>
            </p:cNvPr>
            <p:cNvCxnSpPr/>
            <p:nvPr/>
          </p:nvCxnSpPr>
          <p:spPr bwMode="auto">
            <a:xfrm>
              <a:off x="2362200" y="4876800"/>
              <a:ext cx="13716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251116E-88D3-C24A-CD4E-571CAC1CC79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02729" y="5648587"/>
              <a:ext cx="367927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93D3D64-53A7-13BE-7DDE-EF80CA90368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467600" y="5464029"/>
              <a:ext cx="9144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AFA0667-9129-36B0-67E7-04CCA2B0836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02729" y="5841534"/>
              <a:ext cx="246007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517414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ED23B-825F-6E82-4AEC-AF9C98A6D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XR2206 datasheet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E83BD-25F2-E9CC-ACBB-B1300F25C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navigate a data sheet, a good start is to flip through it quickly … what are the main sections, how many pages, maybe you find what you’re looking for right away, or maybe it will be much harder … </a:t>
            </a:r>
          </a:p>
          <a:p>
            <a:r>
              <a:rPr lang="en-US" dirty="0"/>
              <a:t>P. 2-3 – block diagram, pinouts, pin descriptions … ok</a:t>
            </a:r>
          </a:p>
          <a:p>
            <a:r>
              <a:rPr lang="en-US" dirty="0"/>
              <a:t>P. 4-5 – tables of parameters and specifications</a:t>
            </a:r>
          </a:p>
          <a:p>
            <a:r>
              <a:rPr lang="en-US" dirty="0"/>
              <a:t>P. 6 – Figure 2. Basic test circuit … let’s compare it to our kit’s “schematic”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335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eekcreit-XR2206-function-generator-03 (© Exar)">
            <a:extLst>
              <a:ext uri="{FF2B5EF4-FFF2-40B4-BE49-F238E27FC236}">
                <a16:creationId xmlns:a16="http://schemas.microsoft.com/office/drawing/2014/main" id="{C9A766FC-B253-014D-8F01-5CB3CDCFD1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0"/>
          <a:stretch/>
        </p:blipFill>
        <p:spPr bwMode="auto">
          <a:xfrm>
            <a:off x="108358" y="995476"/>
            <a:ext cx="4006442" cy="2872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879EE6-871E-CB47-8B7C-1341A12E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our function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13CA0-9B3C-2E40-96A1-FAF80B7C4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962400"/>
            <a:ext cx="7772400" cy="2133600"/>
          </a:xfrm>
        </p:spPr>
        <p:txBody>
          <a:bodyPr/>
          <a:lstStyle/>
          <a:p>
            <a:r>
              <a:rPr lang="en-US" sz="2200" dirty="0"/>
              <a:t>The datasheet schematic (left) is much easier to follow, because it prioritizes functional clarity over physical connections</a:t>
            </a:r>
          </a:p>
          <a:p>
            <a:r>
              <a:rPr lang="en-US" sz="2200" dirty="0"/>
              <a:t>R1 is an “open collector pullup” </a:t>
            </a:r>
            <a:r>
              <a:rPr lang="en-US" sz="2200" dirty="0">
                <a:sym typeface="Wingdings" pitchFamily="2" charset="2"/>
              </a:rPr>
              <a:t> 10k (datasheet) maybe a better choice -- 12V/1k=12mA half the time  6mA average current, 72mW average power (or 7mW with 10k). Absolute maximum power rating (p. 5) = 750mW, so we’ll be ok with 72)</a:t>
            </a:r>
          </a:p>
          <a:p>
            <a:r>
              <a:rPr lang="en-US" sz="2200" dirty="0">
                <a:sym typeface="Wingdings" pitchFamily="2" charset="2"/>
              </a:rPr>
              <a:t>Why C1 || C2? </a:t>
            </a:r>
            <a:endParaRPr lang="en-US" sz="2200" dirty="0"/>
          </a:p>
        </p:txBody>
      </p:sp>
      <p:pic>
        <p:nvPicPr>
          <p:cNvPr id="2050" name="Picture 2" descr="Geekcreit-XR2206-function-generator-04 (© 2019 Jos Verstraten)">
            <a:extLst>
              <a:ext uri="{FF2B5EF4-FFF2-40B4-BE49-F238E27FC236}">
                <a16:creationId xmlns:a16="http://schemas.microsoft.com/office/drawing/2014/main" id="{A06BC71C-6689-1946-A06D-A6AB05FE6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962819"/>
            <a:ext cx="4947763" cy="2999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4780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eekcreit-XR2206-function-generator-03 (© Exar)">
            <a:extLst>
              <a:ext uri="{FF2B5EF4-FFF2-40B4-BE49-F238E27FC236}">
                <a16:creationId xmlns:a16="http://schemas.microsoft.com/office/drawing/2014/main" id="{C9A766FC-B253-014D-8F01-5CB3CDCFD1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0"/>
          <a:stretch/>
        </p:blipFill>
        <p:spPr bwMode="auto">
          <a:xfrm>
            <a:off x="205419" y="720171"/>
            <a:ext cx="4006442" cy="2872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879EE6-871E-CB47-8B7C-1341A12EE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595" y="-76200"/>
            <a:ext cx="7772400" cy="1143000"/>
          </a:xfrm>
        </p:spPr>
        <p:txBody>
          <a:bodyPr/>
          <a:lstStyle/>
          <a:p>
            <a:r>
              <a:rPr lang="en-US" dirty="0"/>
              <a:t>Building our function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13CA0-9B3C-2E40-96A1-FAF80B7C4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395" y="3810000"/>
            <a:ext cx="7772400" cy="2133600"/>
          </a:xfrm>
        </p:spPr>
        <p:txBody>
          <a:bodyPr/>
          <a:lstStyle/>
          <a:p>
            <a:r>
              <a:rPr lang="en-US" sz="2200" dirty="0"/>
              <a:t>Datasheet R1||R2 = our R6+R7+R8 = timing resistor</a:t>
            </a:r>
          </a:p>
          <a:p>
            <a:r>
              <a:rPr lang="en-US" sz="2200" dirty="0"/>
              <a:t>Datasheet C (between pins 5&amp;6) = our C4-8 selected by the frequency jumper (across pins 5&amp;6)</a:t>
            </a:r>
          </a:p>
          <a:p>
            <a:r>
              <a:rPr lang="en-US" sz="2200" dirty="0"/>
              <a:t>Datasheet R3 (25k) is our R2 (50k)</a:t>
            </a:r>
          </a:p>
          <a:p>
            <a:r>
              <a:rPr lang="en-US" sz="2200" dirty="0"/>
              <a:t>Datasheet has a 500 ohm pot to adjust total harmonic distortion (THD), we have a fixed R4=330 ohms and jumper for S1</a:t>
            </a:r>
          </a:p>
          <a:p>
            <a:r>
              <a:rPr lang="en-US" sz="2200" dirty="0"/>
              <a:t>So overall, very similar </a:t>
            </a:r>
            <a:r>
              <a:rPr lang="en-US" sz="2200" dirty="0">
                <a:sym typeface="Wingdings" pitchFamily="2" charset="2"/>
              </a:rPr>
              <a:t> good, the datasheet descriptions should be largely relevant … </a:t>
            </a:r>
            <a:endParaRPr lang="en-US" sz="2200" dirty="0"/>
          </a:p>
        </p:txBody>
      </p:sp>
      <p:pic>
        <p:nvPicPr>
          <p:cNvPr id="2050" name="Picture 2" descr="Geekcreit-XR2206-function-generator-04 (© 2019 Jos Verstraten)">
            <a:extLst>
              <a:ext uri="{FF2B5EF4-FFF2-40B4-BE49-F238E27FC236}">
                <a16:creationId xmlns:a16="http://schemas.microsoft.com/office/drawing/2014/main" id="{A06BC71C-6689-1946-A06D-A6AB05FE6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008" y="779476"/>
            <a:ext cx="4947763" cy="2999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400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2914650" y="2057400"/>
            <a:ext cx="4800600" cy="3367509"/>
            <a:chOff x="2362200" y="1600200"/>
            <a:chExt cx="6400800" cy="449001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62200" y="1600200"/>
              <a:ext cx="6400800" cy="4490012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6366739" y="4165599"/>
              <a:ext cx="346677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436079" y="2362200"/>
              <a:ext cx="547587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200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Covid 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8800"/>
            <a:ext cx="3448050" cy="3714750"/>
          </a:xfrm>
        </p:spPr>
        <p:txBody>
          <a:bodyPr>
            <a:normAutofit/>
          </a:bodyPr>
          <a:lstStyle/>
          <a:p>
            <a:r>
              <a:rPr lang="en-US" sz="1500" dirty="0"/>
              <a:t>First prototype from Figs. 2 &amp; 11 of XR2205 datasheet.</a:t>
            </a:r>
          </a:p>
          <a:p>
            <a:r>
              <a:rPr lang="en-US" sz="1500" dirty="0" err="1"/>
              <a:t>f</a:t>
            </a:r>
            <a:r>
              <a:rPr lang="en-US" sz="1500" dirty="0"/>
              <a:t> = 1/RC </a:t>
            </a:r>
          </a:p>
          <a:p>
            <a:pPr lvl="1"/>
            <a:r>
              <a:rPr lang="en-US" sz="1200" dirty="0" err="1"/>
              <a:t>f</a:t>
            </a:r>
            <a:r>
              <a:rPr lang="en-US" sz="1200" baseline="-25000" dirty="0" err="1"/>
              <a:t>min</a:t>
            </a:r>
            <a:r>
              <a:rPr lang="en-US" sz="1200" dirty="0"/>
              <a:t> = 10Hz</a:t>
            </a:r>
          </a:p>
          <a:p>
            <a:pPr lvl="1"/>
            <a:r>
              <a:rPr lang="en-US" sz="1200" dirty="0" err="1"/>
              <a:t>f</a:t>
            </a:r>
            <a:r>
              <a:rPr lang="en-US" sz="1200" baseline="-25000" dirty="0" err="1"/>
              <a:t>max</a:t>
            </a:r>
            <a:r>
              <a:rPr lang="en-US" sz="1200" dirty="0"/>
              <a:t> = 10kHz w/.1uf</a:t>
            </a:r>
          </a:p>
          <a:p>
            <a:pPr marL="342900" lvl="1" indent="0"/>
            <a:r>
              <a:rPr lang="en-US" sz="1200" dirty="0"/>
              <a:t> 10x that with.01uf </a:t>
            </a:r>
          </a:p>
          <a:p>
            <a:pPr marL="260747" indent="-217885"/>
            <a:endParaRPr lang="en-US" sz="1500" dirty="0"/>
          </a:p>
          <a:p>
            <a:pPr marL="260747" indent="-217885"/>
            <a:endParaRPr lang="en-US" sz="1500" dirty="0"/>
          </a:p>
          <a:p>
            <a:pPr marL="260747" indent="-217885"/>
            <a:r>
              <a:rPr lang="en-US" sz="1500" dirty="0"/>
              <a:t>Output is offset by V</a:t>
            </a:r>
            <a:r>
              <a:rPr lang="en-US" sz="1500" baseline="-25000" dirty="0"/>
              <a:t>cc</a:t>
            </a:r>
            <a:r>
              <a:rPr lang="en-US" sz="1500" dirty="0"/>
              <a:t>/2</a:t>
            </a:r>
          </a:p>
          <a:p>
            <a:r>
              <a:rPr lang="en-US" sz="1500" dirty="0"/>
              <a:t>This is complicated enough to prototype the simplest possible circuit. We’ll add split supply and other features later.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8F6E55-69A2-5B4A-93E4-22A81F15A2F2}"/>
              </a:ext>
            </a:extLst>
          </p:cNvPr>
          <p:cNvSpPr txBox="1"/>
          <p:nvPr/>
        </p:nvSpPr>
        <p:spPr>
          <a:xfrm>
            <a:off x="1485900" y="5424909"/>
            <a:ext cx="506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Build this on your breadboard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322DF2-A3B8-FE4F-9599-4FC9B1866997}"/>
              </a:ext>
            </a:extLst>
          </p:cNvPr>
          <p:cNvSpPr txBox="1"/>
          <p:nvPr/>
        </p:nvSpPr>
        <p:spPr>
          <a:xfrm>
            <a:off x="1200150" y="1066800"/>
            <a:ext cx="6800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We designed and built our own function generators without a kit </a:t>
            </a:r>
          </a:p>
        </p:txBody>
      </p:sp>
    </p:spTree>
    <p:extLst>
      <p:ext uri="{BB962C8B-B14F-4D97-AF65-F5344CB8AC3E}">
        <p14:creationId xmlns:p14="http://schemas.microsoft.com/office/powerpoint/2010/main" val="1870045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Generator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057401"/>
            <a:ext cx="2987631" cy="3394472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Verify sine and square wave outputs on a scope, &amp; both pots work as expected (volume and frequency increase clockwise).</a:t>
            </a:r>
          </a:p>
          <a:p>
            <a:r>
              <a:rPr lang="en-US" sz="1800" dirty="0"/>
              <a:t>What changes or features should we consider?</a:t>
            </a:r>
          </a:p>
          <a:p>
            <a:r>
              <a:rPr lang="en-US" sz="1800" dirty="0"/>
              <a:t>How will we lay this circuit out to solder (with minimal crossing of wires)?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200400" y="1920479"/>
            <a:ext cx="4572000" cy="3931413"/>
            <a:chOff x="2286000" y="1430923"/>
            <a:chExt cx="6096000" cy="524188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0" y="1752600"/>
              <a:ext cx="6096000" cy="4550875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6324600" y="1430923"/>
              <a:ext cx="63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Gnd</a:t>
              </a:r>
              <a:endParaRPr lang="en-US" sz="12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876800" y="6303475"/>
              <a:ext cx="5924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+12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62400" y="6303475"/>
              <a:ext cx="996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Sine out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371647" y="1430923"/>
              <a:ext cx="8724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sqr</a:t>
              </a:r>
              <a:r>
                <a:rPr lang="en-US" sz="1200" dirty="0"/>
                <a:t> out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25803" y="6303475"/>
              <a:ext cx="598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freq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438400" y="6303475"/>
              <a:ext cx="11310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amplitude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BD5F93E-B97A-704B-843C-5343D96553B2}"/>
              </a:ext>
            </a:extLst>
          </p:cNvPr>
          <p:cNvSpPr txBox="1"/>
          <p:nvPr/>
        </p:nvSpPr>
        <p:spPr>
          <a:xfrm>
            <a:off x="762000" y="1219200"/>
            <a:ext cx="647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with a minimalist circuit</a:t>
            </a:r>
          </a:p>
        </p:txBody>
      </p:sp>
    </p:spTree>
    <p:extLst>
      <p:ext uri="{BB962C8B-B14F-4D97-AF65-F5344CB8AC3E}">
        <p14:creationId xmlns:p14="http://schemas.microsoft.com/office/powerpoint/2010/main" val="3777508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418B-B56D-D848-84BC-45B20C0E3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make it better?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66E20-5D38-B844-9064-97F928CE5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define “better”??</a:t>
            </a:r>
          </a:p>
          <a:p>
            <a:r>
              <a:rPr lang="en-US" dirty="0"/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1636984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063228"/>
            <a:ext cx="6172200" cy="479822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Improved Function Generator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072A80D-CF98-9B40-AD71-245ED3ABE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989" y="1710168"/>
            <a:ext cx="3657600" cy="374170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Add an op-amp on the output to </a:t>
            </a:r>
            <a:r>
              <a:rPr lang="en-US" i="1" dirty="0"/>
              <a:t>buffer</a:t>
            </a:r>
            <a:r>
              <a:rPr lang="en-US" dirty="0"/>
              <a:t> the function generator, add bipolar output with wider amplitude control</a:t>
            </a:r>
          </a:p>
          <a:p>
            <a:r>
              <a:rPr lang="en-US" dirty="0"/>
              <a:t> Keep in mind to start simple and slowly, carefully embellish</a:t>
            </a:r>
          </a:p>
          <a:p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9CD782-13CB-A04B-A30A-ADAA6C60D811}"/>
              </a:ext>
            </a:extLst>
          </p:cNvPr>
          <p:cNvGrpSpPr/>
          <p:nvPr/>
        </p:nvGrpSpPr>
        <p:grpSpPr>
          <a:xfrm>
            <a:off x="4343400" y="2323843"/>
            <a:ext cx="4648200" cy="4410971"/>
            <a:chOff x="4267200" y="1955458"/>
            <a:chExt cx="4876800" cy="462790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E7D6625-2394-C04A-A279-53F1C3EA1161}"/>
                </a:ext>
              </a:extLst>
            </p:cNvPr>
            <p:cNvGrpSpPr/>
            <p:nvPr/>
          </p:nvGrpSpPr>
          <p:grpSpPr>
            <a:xfrm>
              <a:off x="4267200" y="1955458"/>
              <a:ext cx="4876800" cy="4627904"/>
              <a:chOff x="147915" y="1219200"/>
              <a:chExt cx="4876800" cy="4627904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7915" y="1219200"/>
                <a:ext cx="4876800" cy="4535073"/>
              </a:xfrm>
              <a:prstGeom prst="rect">
                <a:avLst/>
              </a:prstGeom>
            </p:spPr>
          </p:pic>
          <p:sp>
            <p:nvSpPr>
              <p:cNvPr id="6" name="TextBox 5"/>
              <p:cNvSpPr txBox="1"/>
              <p:nvPr/>
            </p:nvSpPr>
            <p:spPr>
              <a:xfrm>
                <a:off x="2438402" y="3380601"/>
                <a:ext cx="410043" cy="2421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1"/>
                    </a:solidFill>
                  </a:rPr>
                  <a:t>10k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2337265" y="3853973"/>
                <a:ext cx="432174" cy="19931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1587248" y="4175544"/>
                <a:ext cx="1120124" cy="12138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grpSp>
            <p:nvGrpSpPr>
              <p:cNvPr id="11" name="Group 222"/>
              <p:cNvGrpSpPr>
                <a:grpSpLocks/>
              </p:cNvGrpSpPr>
              <p:nvPr/>
            </p:nvGrpSpPr>
            <p:grpSpPr bwMode="auto">
              <a:xfrm>
                <a:off x="2731331" y="4577144"/>
                <a:ext cx="312299" cy="227567"/>
                <a:chOff x="4272" y="3072"/>
                <a:chExt cx="192" cy="240"/>
              </a:xfrm>
            </p:grpSpPr>
            <p:sp>
              <p:nvSpPr>
                <p:cNvPr id="12" name="Line 99"/>
                <p:cNvSpPr>
                  <a:spLocks noChangeAspect="1" noChangeShapeType="1"/>
                </p:cNvSpPr>
                <p:nvPr/>
              </p:nvSpPr>
              <p:spPr bwMode="auto">
                <a:xfrm>
                  <a:off x="4272" y="3216"/>
                  <a:ext cx="192" cy="0"/>
                </a:xfrm>
                <a:prstGeom prst="line">
                  <a:avLst/>
                </a:pr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800"/>
                </a:p>
              </p:txBody>
            </p:sp>
            <p:sp>
              <p:nvSpPr>
                <p:cNvPr id="13" name="Line 100"/>
                <p:cNvSpPr>
                  <a:spLocks noChangeAspect="1" noChangeShapeType="1"/>
                </p:cNvSpPr>
                <p:nvPr/>
              </p:nvSpPr>
              <p:spPr bwMode="auto">
                <a:xfrm>
                  <a:off x="4368" y="3072"/>
                  <a:ext cx="0" cy="144"/>
                </a:xfrm>
                <a:prstGeom prst="line">
                  <a:avLst/>
                </a:pr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800"/>
                </a:p>
              </p:txBody>
            </p:sp>
            <p:sp>
              <p:nvSpPr>
                <p:cNvPr id="14" name="Line 101"/>
                <p:cNvSpPr>
                  <a:spLocks noChangeAspect="1" noChangeShapeType="1"/>
                </p:cNvSpPr>
                <p:nvPr/>
              </p:nvSpPr>
              <p:spPr bwMode="auto">
                <a:xfrm>
                  <a:off x="4296" y="3240"/>
                  <a:ext cx="144" cy="0"/>
                </a:xfrm>
                <a:prstGeom prst="line">
                  <a:avLst/>
                </a:pr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800"/>
                </a:p>
              </p:txBody>
            </p:sp>
            <p:sp>
              <p:nvSpPr>
                <p:cNvPr id="15" name="Line 102"/>
                <p:cNvSpPr>
                  <a:spLocks noChangeAspect="1" noChangeShapeType="1"/>
                </p:cNvSpPr>
                <p:nvPr/>
              </p:nvSpPr>
              <p:spPr bwMode="auto">
                <a:xfrm>
                  <a:off x="4320" y="3264"/>
                  <a:ext cx="96" cy="0"/>
                </a:xfrm>
                <a:prstGeom prst="line">
                  <a:avLst/>
                </a:pr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800"/>
                </a:p>
              </p:txBody>
            </p:sp>
            <p:sp>
              <p:nvSpPr>
                <p:cNvPr id="16" name="Line 103"/>
                <p:cNvSpPr>
                  <a:spLocks noChangeAspect="1" noChangeShapeType="1"/>
                </p:cNvSpPr>
                <p:nvPr/>
              </p:nvSpPr>
              <p:spPr bwMode="auto">
                <a:xfrm>
                  <a:off x="4344" y="3288"/>
                  <a:ext cx="48" cy="0"/>
                </a:xfrm>
                <a:prstGeom prst="line">
                  <a:avLst/>
                </a:pr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800"/>
                </a:p>
              </p:txBody>
            </p:sp>
            <p:sp>
              <p:nvSpPr>
                <p:cNvPr id="17" name="Line 104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365" y="3312"/>
                  <a:ext cx="5" cy="0"/>
                </a:xfrm>
                <a:prstGeom prst="line">
                  <a:avLst/>
                </a:pr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800"/>
                </a:p>
              </p:txBody>
            </p:sp>
          </p:grp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4DBD1B9-1D3A-7A47-B3F0-1A6C7CC07A95}"/>
                </a:ext>
              </a:extLst>
            </p:cNvPr>
            <p:cNvSpPr txBox="1"/>
            <p:nvPr/>
          </p:nvSpPr>
          <p:spPr>
            <a:xfrm>
              <a:off x="4507043" y="2517605"/>
              <a:ext cx="473254" cy="24218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1M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563359B-192D-6144-BBC0-654D2E733A54}"/>
                </a:ext>
              </a:extLst>
            </p:cNvPr>
            <p:cNvSpPr txBox="1"/>
            <p:nvPr/>
          </p:nvSpPr>
          <p:spPr>
            <a:xfrm>
              <a:off x="5759491" y="2199737"/>
              <a:ext cx="369579" cy="49244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sz="18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A14E5FB-78DC-D745-B083-7DE4D789DF2A}"/>
                </a:ext>
              </a:extLst>
            </p:cNvPr>
            <p:cNvSpPr txBox="1"/>
            <p:nvPr/>
          </p:nvSpPr>
          <p:spPr>
            <a:xfrm>
              <a:off x="5759491" y="2106905"/>
              <a:ext cx="369579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3716" rIns="0" rtlCol="0">
              <a:spAutoFit/>
            </a:bodyPr>
            <a:lstStyle/>
            <a:p>
              <a:endParaRPr lang="en-US" sz="750" dirty="0"/>
            </a:p>
            <a:p>
              <a:r>
                <a:rPr lang="en-US" sz="750" dirty="0"/>
                <a:t>R4 240</a:t>
              </a:r>
              <a:r>
                <a:rPr lang="en-US" sz="750" dirty="0">
                  <a:latin typeface="Symbol" pitchFamily="2" charset="2"/>
                </a:rPr>
                <a:t>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711C258-F1F8-2848-B38D-7218CA804451}"/>
                </a:ext>
              </a:extLst>
            </p:cNvPr>
            <p:cNvSpPr txBox="1"/>
            <p:nvPr/>
          </p:nvSpPr>
          <p:spPr>
            <a:xfrm>
              <a:off x="5564039" y="2383905"/>
              <a:ext cx="10351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sz="75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CACB697-1244-A146-BC6D-4CB770C7DA11}"/>
                </a:ext>
              </a:extLst>
            </p:cNvPr>
            <p:cNvSpPr txBox="1"/>
            <p:nvPr/>
          </p:nvSpPr>
          <p:spPr>
            <a:xfrm>
              <a:off x="5628736" y="2000029"/>
              <a:ext cx="17252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sz="750" dirty="0"/>
            </a:p>
          </p:txBody>
        </p:sp>
      </p:grpSp>
    </p:spTree>
    <p:extLst>
      <p:ext uri="{BB962C8B-B14F-4D97-AF65-F5344CB8AC3E}">
        <p14:creationId xmlns:p14="http://schemas.microsoft.com/office/powerpoint/2010/main" val="2055829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PCB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3667125" cy="4438650"/>
          </a:xfrm>
        </p:spPr>
        <p:txBody>
          <a:bodyPr>
            <a:normAutofit/>
          </a:bodyPr>
          <a:lstStyle/>
          <a:p>
            <a:pPr marL="169069" indent="-169069"/>
            <a:r>
              <a:rPr lang="en-US" sz="1800" dirty="0"/>
              <a:t>Printed circuit board, designed in Illustrator, implements all interconnections except 2 (blue) on one side of a 2”x2” copper clad circuit board. </a:t>
            </a:r>
          </a:p>
          <a:p>
            <a:pPr marL="169069" indent="-169069"/>
            <a:r>
              <a:rPr lang="en-US" sz="1800" dirty="0"/>
              <a:t>Component side view with copper pattern grayed. Grid is 100 mil (.1”). </a:t>
            </a:r>
          </a:p>
          <a:p>
            <a:pPr marL="169069" indent="-169069"/>
            <a:r>
              <a:rPr lang="en-US" sz="1800" dirty="0"/>
              <a:t>Note that traces generally run vertically and “</a:t>
            </a:r>
            <a:r>
              <a:rPr lang="en-US" sz="1800" dirty="0" err="1"/>
              <a:t>vias</a:t>
            </a:r>
            <a:r>
              <a:rPr lang="en-US" sz="1800" dirty="0"/>
              <a:t>” (blue) are horizontal. Geometry does matter in this </a:t>
            </a:r>
            <a:r>
              <a:rPr lang="en-US" sz="1800" i="1" dirty="0"/>
              <a:t>physical </a:t>
            </a:r>
            <a:r>
              <a:rPr lang="en-US" sz="1800" dirty="0"/>
              <a:t>abstraction of the circuit.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2265" y="531614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½”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857750" y="5314950"/>
            <a:ext cx="857250" cy="1191"/>
          </a:xfrm>
          <a:prstGeom prst="line">
            <a:avLst/>
          </a:prstGeom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1219200"/>
            <a:ext cx="3857753" cy="3810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75FD91-66E5-1841-9D96-FE43D39A2A29}"/>
              </a:ext>
            </a:extLst>
          </p:cNvPr>
          <p:cNvSpPr txBox="1"/>
          <p:nvPr/>
        </p:nvSpPr>
        <p:spPr>
          <a:xfrm>
            <a:off x="533400" y="5685473"/>
            <a:ext cx="739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Try doing this with Eagle … </a:t>
            </a:r>
          </a:p>
        </p:txBody>
      </p:sp>
    </p:spTree>
    <p:extLst>
      <p:ext uri="{BB962C8B-B14F-4D97-AF65-F5344CB8AC3E}">
        <p14:creationId xmlns:p14="http://schemas.microsoft.com/office/powerpoint/2010/main" val="1441525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PCB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4340508" cy="5257800"/>
          </a:xfrm>
        </p:spPr>
        <p:txBody>
          <a:bodyPr>
            <a:normAutofit/>
          </a:bodyPr>
          <a:lstStyle/>
          <a:p>
            <a:pPr marL="169069" indent="-169069"/>
            <a:r>
              <a:rPr lang="en-US" sz="1800" dirty="0"/>
              <a:t>6 function generators fit on a 4”x6” negative photoresist circuit board. </a:t>
            </a:r>
          </a:p>
          <a:p>
            <a:pPr marL="429816" lvl="1" indent="-176213"/>
            <a:r>
              <a:rPr lang="en-US" sz="1600" dirty="0"/>
              <a:t>Large ground plane (and V+) minimizes etching</a:t>
            </a:r>
          </a:p>
          <a:p>
            <a:pPr marL="429816" lvl="1" indent="-176213"/>
            <a:r>
              <a:rPr lang="en-US" sz="1600" dirty="0"/>
              <a:t>Etched component holes are drill guides</a:t>
            </a:r>
          </a:p>
          <a:p>
            <a:pPr marL="169069" indent="-169069"/>
            <a:r>
              <a:rPr lang="en-US" sz="1800" dirty="0"/>
              <a:t>To make a printed circuit board: </a:t>
            </a:r>
          </a:p>
          <a:p>
            <a:pPr marL="429816" lvl="1" indent="-176213">
              <a:buFont typeface="+mj-lt"/>
              <a:buAutoNum type="arabicPeriod"/>
            </a:pPr>
            <a:r>
              <a:rPr lang="en-US" sz="1600" dirty="0"/>
              <a:t>Print this pattern on transparency film</a:t>
            </a:r>
          </a:p>
          <a:p>
            <a:pPr marL="429816" lvl="1" indent="-176213">
              <a:buFont typeface="+mj-lt"/>
              <a:buAutoNum type="arabicPeriod"/>
            </a:pPr>
            <a:r>
              <a:rPr lang="en-US" sz="1600" dirty="0"/>
              <a:t>Place film on </a:t>
            </a:r>
            <a:r>
              <a:rPr lang="en-US" sz="1600" dirty="0" err="1"/>
              <a:t>photoresist</a:t>
            </a:r>
            <a:endParaRPr lang="en-US" sz="1600" dirty="0"/>
          </a:p>
          <a:p>
            <a:pPr marL="429816" lvl="1" indent="-176213">
              <a:buFont typeface="+mj-lt"/>
              <a:buAutoNum type="arabicPeriod"/>
            </a:pPr>
            <a:r>
              <a:rPr lang="en-US" sz="1600" dirty="0"/>
              <a:t>Expose to sunlight (exposure determined empirically, ~1 min)</a:t>
            </a:r>
          </a:p>
          <a:p>
            <a:pPr marL="429816" lvl="1" indent="-176213">
              <a:buFont typeface="+mj-lt"/>
              <a:buAutoNum type="arabicPeriod"/>
            </a:pPr>
            <a:r>
              <a:rPr lang="en-US" sz="1600" dirty="0"/>
              <a:t>Develop to remove exposed </a:t>
            </a:r>
            <a:r>
              <a:rPr lang="en-US" sz="1600" dirty="0" err="1"/>
              <a:t>photoresist</a:t>
            </a:r>
            <a:endParaRPr lang="en-US" sz="1600" dirty="0"/>
          </a:p>
          <a:p>
            <a:pPr marL="429816" lvl="1" indent="-176213">
              <a:buFont typeface="+mj-lt"/>
              <a:buAutoNum type="arabicPeriod"/>
            </a:pPr>
            <a:r>
              <a:rPr lang="en-US" sz="1600" dirty="0"/>
              <a:t>Examine, touch up errors (with Sharpie)</a:t>
            </a:r>
          </a:p>
          <a:p>
            <a:pPr marL="429816" lvl="1" indent="-176213">
              <a:buFont typeface="+mj-lt"/>
              <a:buAutoNum type="arabicPeriod"/>
            </a:pPr>
            <a:r>
              <a:rPr lang="en-US" sz="1600" dirty="0"/>
              <a:t>Etch unprotected copper</a:t>
            </a:r>
          </a:p>
          <a:p>
            <a:pPr marL="429816" lvl="1" indent="-176213">
              <a:buFont typeface="+mj-lt"/>
              <a:buAutoNum type="arabicPeriod"/>
            </a:pPr>
            <a:r>
              <a:rPr lang="en-US" sz="1600" dirty="0"/>
              <a:t>Drill </a:t>
            </a:r>
          </a:p>
          <a:p>
            <a:pPr marL="429816" lvl="1" indent="-176213">
              <a:buFont typeface="+mj-lt"/>
              <a:buAutoNum type="arabicPeriod"/>
            </a:pPr>
            <a:r>
              <a:rPr lang="en-US" sz="1600" dirty="0"/>
              <a:t>Scrape or dissolve </a:t>
            </a:r>
            <a:r>
              <a:rPr lang="en-US" sz="1600" dirty="0" err="1"/>
              <a:t>photoresist</a:t>
            </a:r>
            <a:r>
              <a:rPr lang="en-US" sz="1600" dirty="0"/>
              <a:t> (acetone)</a:t>
            </a:r>
          </a:p>
          <a:p>
            <a:pPr marL="429816" lvl="1" indent="-176213">
              <a:buFont typeface="+mj-lt"/>
              <a:buAutoNum type="arabicPeriod"/>
            </a:pPr>
            <a:r>
              <a:rPr lang="en-US" sz="1600" dirty="0"/>
              <a:t>Place components and solder</a:t>
            </a:r>
          </a:p>
          <a:p>
            <a:pPr marL="429816" lvl="1" indent="-176213">
              <a:buFont typeface="+mj-lt"/>
              <a:buAutoNum type="arabicPeriod"/>
            </a:pPr>
            <a:r>
              <a:rPr lang="en-US" sz="1600" dirty="0"/>
              <a:t> Score both sides of the board with a razor knife, then snap the 6 parts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645308" y="971550"/>
            <a:ext cx="3298542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381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3F4291-D7D1-3A51-F315-6D9AD69DC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171" y="1676400"/>
            <a:ext cx="4509294" cy="1981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F73A14-582E-A8DF-BF04-248EDAE21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How</a:t>
            </a:r>
            <a:r>
              <a:rPr lang="en-US" dirty="0"/>
              <a:t> is the frequency controlled??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4A990-AAEC-B909-0D70-866463A1F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P. 11, PRINCIPLES OF OPERATION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Just below that,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07D273-A90E-689D-F02B-63B88FF90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4114800"/>
            <a:ext cx="4868692" cy="2666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87714E-F4C4-61E5-6C9A-2CFCD58B63B1}"/>
              </a:ext>
            </a:extLst>
          </p:cNvPr>
          <p:cNvSpPr txBox="1"/>
          <p:nvPr/>
        </p:nvSpPr>
        <p:spPr>
          <a:xfrm>
            <a:off x="4953000" y="28194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Manually, R is varied by R7+R8, and C by jumper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332A05-0DDB-A92B-FAB6-3F7E04A35559}"/>
              </a:ext>
            </a:extLst>
          </p:cNvPr>
          <p:cNvSpPr txBox="1"/>
          <p:nvPr/>
        </p:nvSpPr>
        <p:spPr>
          <a:xfrm>
            <a:off x="4953000" y="4430486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A current of 1uA-3mA can also set the frequency (are you thinking, “current mirror”!!??) </a:t>
            </a:r>
          </a:p>
        </p:txBody>
      </p:sp>
    </p:spTree>
    <p:extLst>
      <p:ext uri="{BB962C8B-B14F-4D97-AF65-F5344CB8AC3E}">
        <p14:creationId xmlns:p14="http://schemas.microsoft.com/office/powerpoint/2010/main" val="2846558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63538-761B-0575-04EB-FFB158F99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7F0D3-0C6C-040F-9AFF-552E09B34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92320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49062</TotalTime>
  <Words>1075</Words>
  <Application>Microsoft Macintosh PowerPoint</Application>
  <PresentationFormat>On-screen Show (4:3)</PresentationFormat>
  <Paragraphs>119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Symbol</vt:lpstr>
      <vt:lpstr>Times New Roman</vt:lpstr>
      <vt:lpstr>Blank Presentation</vt:lpstr>
      <vt:lpstr>Function Generator Week 13a</vt:lpstr>
      <vt:lpstr>Today’s goals … </vt:lpstr>
      <vt:lpstr>Prerequisites</vt:lpstr>
      <vt:lpstr>Building our function generator kit</vt:lpstr>
      <vt:lpstr>XR2206</vt:lpstr>
      <vt:lpstr>XR2206 datasheet</vt:lpstr>
      <vt:lpstr>Building our function generator</vt:lpstr>
      <vt:lpstr>Building our function generator</vt:lpstr>
      <vt:lpstr>Before Covid … </vt:lpstr>
      <vt:lpstr>Function Generator prototype</vt:lpstr>
      <vt:lpstr>How can we make it better?</vt:lpstr>
      <vt:lpstr>Improved Function Generator</vt:lpstr>
      <vt:lpstr>PCB design</vt:lpstr>
      <vt:lpstr>PCB layout</vt:lpstr>
      <vt:lpstr>How is the frequency controlled??</vt:lpstr>
      <vt:lpstr>PowerPoint Presentation</vt:lpstr>
    </vt:vector>
  </TitlesOfParts>
  <Company>brian rasnow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 DC Circuits</dc:title>
  <dc:creator>brian rasnow</dc:creator>
  <cp:lastModifiedBy>Rasnow, Brian K.</cp:lastModifiedBy>
  <cp:revision>109</cp:revision>
  <cp:lastPrinted>2019-08-28T21:33:21Z</cp:lastPrinted>
  <dcterms:created xsi:type="dcterms:W3CDTF">2012-01-30T17:41:13Z</dcterms:created>
  <dcterms:modified xsi:type="dcterms:W3CDTF">2023-04-13T16:18:43Z</dcterms:modified>
</cp:coreProperties>
</file>