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8" r:id="rId2"/>
    <p:sldId id="269" r:id="rId3"/>
    <p:sldId id="270" r:id="rId4"/>
    <p:sldId id="271" r:id="rId5"/>
    <p:sldId id="272" r:id="rId6"/>
    <p:sldId id="273" r:id="rId7"/>
    <p:sldId id="302" r:id="rId8"/>
    <p:sldId id="274" r:id="rId9"/>
    <p:sldId id="275" r:id="rId10"/>
    <p:sldId id="276" r:id="rId11"/>
    <p:sldId id="281" r:id="rId12"/>
    <p:sldId id="283" r:id="rId13"/>
    <p:sldId id="282" r:id="rId14"/>
    <p:sldId id="278" r:id="rId15"/>
    <p:sldId id="300" r:id="rId16"/>
    <p:sldId id="279" r:id="rId17"/>
    <p:sldId id="280" r:id="rId18"/>
    <p:sldId id="284" r:id="rId19"/>
    <p:sldId id="285" r:id="rId20"/>
    <p:sldId id="287" r:id="rId21"/>
    <p:sldId id="296" r:id="rId22"/>
    <p:sldId id="288" r:id="rId23"/>
    <p:sldId id="289" r:id="rId24"/>
    <p:sldId id="290" r:id="rId25"/>
    <p:sldId id="291" r:id="rId26"/>
    <p:sldId id="292" r:id="rId27"/>
    <p:sldId id="293" r:id="rId28"/>
    <p:sldId id="29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5"/>
    <p:restoredTop sz="94626"/>
  </p:normalViewPr>
  <p:slideViewPr>
    <p:cSldViewPr snapToObjects="1">
      <p:cViewPr varScale="1">
        <p:scale>
          <a:sx n="116" d="100"/>
          <a:sy n="116" d="100"/>
        </p:scale>
        <p:origin x="20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F709E-CD9D-A645-99B5-58214E30429A}" type="datetimeFigureOut">
              <a:rPr lang="en-US" smtClean="0"/>
              <a:t>11/7/23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52800-CF25-AD42-8F37-4EFB42C4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59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52800-CF25-AD42-8F37-4EFB42C40D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79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52800-CF25-AD42-8F37-4EFB42C40D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30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52800-CF25-AD42-8F37-4EFB42C40D3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7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0D0A5-F225-2744-B8E6-757ED44D1EFC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B27D8-79EF-5F48-9492-113A1B0689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../week9/PeaseOp-AmpCircuits_TI_AN-31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file:////var/folders/rq/v89m97g11rn8419ns7_qkktm0000gn/T/com.microsoft.Word/WebArchiveCopyPasteTempFiles/embedded_image_1_c381782e-9ac3-1c56-75d0-b27b752ad0c1_GfSl9sXZbcJmiOaduRrT.p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file:////var/folders/rq/v89m97g11rn8419ns7_qkktm0000gn/T/com.microsoft.Word/WebArchiveCopyPasteTempFiles/embedded_image_1_c381782e-9ac3-1c56-75d0-b27b752ad0c1_GfSl9sXZbcJmiOaduRrT.png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strumentation_amplifi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iaudio.com/media/SpecSheet/AOM-5024L-HD-R.pdf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 amps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very basic introduction</a:t>
            </a:r>
          </a:p>
        </p:txBody>
      </p:sp>
    </p:spTree>
    <p:extLst>
      <p:ext uri="{BB962C8B-B14F-4D97-AF65-F5344CB8AC3E}">
        <p14:creationId xmlns:p14="http://schemas.microsoft.com/office/powerpoint/2010/main" val="183007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 amp “Golden Rules”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r>
              <a:rPr lang="en-US" u="sng" dirty="0"/>
              <a:t>When</a:t>
            </a:r>
            <a:r>
              <a:rPr lang="en-US" dirty="0"/>
              <a:t> an op amp is in its linear range then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inputs are at the same voltage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inputs draw no current</a:t>
            </a:r>
          </a:p>
        </p:txBody>
      </p:sp>
    </p:spTree>
    <p:extLst>
      <p:ext uri="{BB962C8B-B14F-4D97-AF65-F5344CB8AC3E}">
        <p14:creationId xmlns:p14="http://schemas.microsoft.com/office/powerpoint/2010/main" val="59539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1229373"/>
            <a:ext cx="3644900" cy="50952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Inverting and non-inverting amplifiers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r>
              <a:rPr lang="en-US" dirty="0"/>
              <a:t>What are </a:t>
            </a:r>
            <a:r>
              <a:rPr lang="en-US" dirty="0" err="1"/>
              <a:t>Z</a:t>
            </a:r>
            <a:r>
              <a:rPr lang="en-US" baseline="-25000" dirty="0" err="1"/>
              <a:t>in</a:t>
            </a:r>
            <a:r>
              <a:rPr lang="en-US" dirty="0"/>
              <a:t> and gain?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/>
              <a:t>Answer with the Golden Rules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6AF18-776B-5E48-A656-AADE5DBB5F75}"/>
              </a:ext>
            </a:extLst>
          </p:cNvPr>
          <p:cNvSpPr txBox="1"/>
          <p:nvPr/>
        </p:nvSpPr>
        <p:spPr>
          <a:xfrm>
            <a:off x="6865907" y="1905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C19D1-8FEF-CB4F-985A-E695F1331198}"/>
              </a:ext>
            </a:extLst>
          </p:cNvPr>
          <p:cNvSpPr txBox="1"/>
          <p:nvPr/>
        </p:nvSpPr>
        <p:spPr>
          <a:xfrm>
            <a:off x="6873999" y="2900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839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Inverting amp </a:t>
            </a:r>
            <a:r>
              <a:rPr lang="en-US" dirty="0" err="1"/>
              <a:t>Z</a:t>
            </a:r>
            <a:r>
              <a:rPr lang="en-US" baseline="-25000" dirty="0" err="1"/>
              <a:t>in</a:t>
            </a:r>
            <a:r>
              <a:rPr lang="en-US" dirty="0"/>
              <a:t> and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48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V</a:t>
            </a:r>
            <a:r>
              <a:rPr lang="en-US" sz="2400" baseline="-25000" dirty="0"/>
              <a:t>-</a:t>
            </a:r>
            <a:r>
              <a:rPr lang="en-US" sz="2400" dirty="0"/>
              <a:t> = 0                                   (Rule 1)</a:t>
            </a:r>
          </a:p>
          <a:p>
            <a:r>
              <a:rPr lang="en-US" sz="2400" dirty="0"/>
              <a:t>V</a:t>
            </a:r>
            <a:r>
              <a:rPr lang="en-US" sz="2400" baseline="-25000" dirty="0"/>
              <a:t>in</a:t>
            </a:r>
            <a:r>
              <a:rPr lang="en-US" sz="2400" dirty="0"/>
              <a:t> / R</a:t>
            </a:r>
            <a:r>
              <a:rPr lang="en-US" sz="2400" baseline="-25000" dirty="0"/>
              <a:t>1</a:t>
            </a:r>
            <a:r>
              <a:rPr lang="en-US" sz="2400" dirty="0"/>
              <a:t> = (V</a:t>
            </a:r>
            <a:r>
              <a:rPr lang="en-US" sz="2400" baseline="-25000" dirty="0"/>
              <a:t>-</a:t>
            </a:r>
            <a:r>
              <a:rPr lang="en-US" sz="2400" dirty="0"/>
              <a:t>-V</a:t>
            </a:r>
            <a:r>
              <a:rPr lang="en-US" sz="2400" baseline="-25000" dirty="0"/>
              <a:t>out</a:t>
            </a:r>
            <a:r>
              <a:rPr lang="en-US" sz="2400" dirty="0"/>
              <a:t>)/R</a:t>
            </a:r>
            <a:r>
              <a:rPr lang="en-US" sz="2400" baseline="-25000" dirty="0"/>
              <a:t>2             </a:t>
            </a:r>
            <a:r>
              <a:rPr lang="en-US" sz="2400" dirty="0"/>
              <a:t>(Rule 2)</a:t>
            </a:r>
          </a:p>
          <a:p>
            <a:r>
              <a:rPr lang="en-US" sz="2400" dirty="0"/>
              <a:t>V</a:t>
            </a:r>
            <a:r>
              <a:rPr lang="en-US" sz="2400" baseline="-25000" dirty="0"/>
              <a:t>in</a:t>
            </a:r>
            <a:r>
              <a:rPr lang="en-US" sz="2400" dirty="0"/>
              <a:t> / R</a:t>
            </a:r>
            <a:r>
              <a:rPr lang="en-US" sz="2400" baseline="-25000" dirty="0"/>
              <a:t>1</a:t>
            </a:r>
            <a:r>
              <a:rPr lang="en-US" sz="2400" dirty="0"/>
              <a:t> = -V</a:t>
            </a:r>
            <a:r>
              <a:rPr lang="en-US" sz="2400" baseline="-25000" dirty="0"/>
              <a:t>out</a:t>
            </a:r>
            <a:r>
              <a:rPr lang="en-US" sz="2400" dirty="0"/>
              <a:t>/R</a:t>
            </a:r>
            <a:r>
              <a:rPr lang="en-US" sz="2400" baseline="-25000" dirty="0"/>
              <a:t>2 </a:t>
            </a:r>
          </a:p>
          <a:p>
            <a:r>
              <a:rPr lang="en-US" sz="2400" dirty="0" err="1"/>
              <a:t>V</a:t>
            </a:r>
            <a:r>
              <a:rPr lang="en-US" sz="2400" baseline="-25000" dirty="0" err="1"/>
              <a:t>out</a:t>
            </a:r>
            <a:r>
              <a:rPr lang="en-US" sz="2400" baseline="-25000" dirty="0"/>
              <a:t> </a:t>
            </a:r>
            <a:r>
              <a:rPr lang="en-US" sz="2400" dirty="0"/>
              <a:t>= (-R</a:t>
            </a:r>
            <a:r>
              <a:rPr lang="en-US" sz="2400" baseline="-25000" dirty="0"/>
              <a:t>2</a:t>
            </a:r>
            <a:r>
              <a:rPr lang="en-US" sz="2400" dirty="0"/>
              <a:t>/R</a:t>
            </a:r>
            <a:r>
              <a:rPr lang="en-US" sz="2400" baseline="-25000" dirty="0"/>
              <a:t>1</a:t>
            </a:r>
            <a:r>
              <a:rPr lang="en-US" sz="2400" dirty="0"/>
              <a:t>)V</a:t>
            </a:r>
            <a:r>
              <a:rPr lang="en-US" sz="2400" baseline="-25000" dirty="0"/>
              <a:t>in</a:t>
            </a:r>
            <a:r>
              <a:rPr lang="en-US" sz="2400" dirty="0"/>
              <a:t> </a:t>
            </a:r>
          </a:p>
          <a:p>
            <a:endParaRPr lang="en-US" sz="2400" baseline="-25000" dirty="0"/>
          </a:p>
          <a:p>
            <a:r>
              <a:rPr lang="en-US" sz="2400" dirty="0"/>
              <a:t>Gain = -R</a:t>
            </a:r>
            <a:r>
              <a:rPr lang="en-US" sz="2400" baseline="-25000" dirty="0"/>
              <a:t>2</a:t>
            </a:r>
            <a:r>
              <a:rPr lang="en-US" sz="2400" dirty="0"/>
              <a:t>/R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Z</a:t>
            </a:r>
            <a:r>
              <a:rPr lang="en-US" sz="2400" baseline="-25000" dirty="0" err="1"/>
              <a:t>in</a:t>
            </a:r>
            <a:r>
              <a:rPr lang="en-US" sz="2400" dirty="0"/>
              <a:t> = V</a:t>
            </a:r>
            <a:r>
              <a:rPr lang="en-US" sz="2400" baseline="-25000" dirty="0"/>
              <a:t>in</a:t>
            </a:r>
            <a:r>
              <a:rPr lang="en-US" sz="2400" dirty="0"/>
              <a:t>/</a:t>
            </a:r>
            <a:r>
              <a:rPr lang="en-US" sz="2400" dirty="0" err="1"/>
              <a:t>i</a:t>
            </a:r>
            <a:r>
              <a:rPr lang="en-US" sz="2400" baseline="-25000" dirty="0" err="1"/>
              <a:t>in</a:t>
            </a:r>
            <a:r>
              <a:rPr lang="en-US" sz="2400" dirty="0"/>
              <a:t> = V</a:t>
            </a:r>
            <a:r>
              <a:rPr lang="en-US" sz="2400" baseline="-25000" dirty="0"/>
              <a:t>in </a:t>
            </a:r>
            <a:r>
              <a:rPr lang="en-US" sz="2400" dirty="0"/>
              <a:t>/(V</a:t>
            </a:r>
            <a:r>
              <a:rPr lang="en-US" sz="2400" baseline="-25000" dirty="0"/>
              <a:t>in1</a:t>
            </a:r>
            <a:r>
              <a:rPr lang="en-US" sz="2400" dirty="0"/>
              <a:t>/R</a:t>
            </a:r>
            <a:r>
              <a:rPr lang="en-US" sz="2400" baseline="-25000" dirty="0"/>
              <a:t>1</a:t>
            </a:r>
            <a:r>
              <a:rPr lang="en-US" sz="2400" dirty="0"/>
              <a:t>) = R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endParaRPr lang="en-US" sz="2400" baseline="-25000" dirty="0"/>
          </a:p>
          <a:p>
            <a:endParaRPr lang="en-US" sz="2400" baseline="-25000" dirty="0"/>
          </a:p>
          <a:p>
            <a:r>
              <a:rPr lang="en-US" sz="2400" dirty="0"/>
              <a:t>Note: V</a:t>
            </a:r>
            <a:r>
              <a:rPr lang="en-US" sz="2400" baseline="-25000" dirty="0"/>
              <a:t>-</a:t>
            </a:r>
            <a:r>
              <a:rPr lang="en-US" sz="2400" dirty="0"/>
              <a:t> is called a “virtual ground”, because it is (actively) held at ground potential by the op amp, but isn’t directly connected to ground. </a:t>
            </a:r>
          </a:p>
          <a:p>
            <a:endParaRPr lang="en-US" sz="2400" baseline="-25000" dirty="0"/>
          </a:p>
          <a:p>
            <a:endParaRPr lang="en-US" sz="2400" baseline="-25000" dirty="0"/>
          </a:p>
          <a:p>
            <a:endParaRPr lang="en-US" sz="2400" dirty="0"/>
          </a:p>
          <a:p>
            <a:endParaRPr lang="en-US" sz="2400" baseline="-25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58325"/>
          <a:stretch>
            <a:fillRect/>
          </a:stretch>
        </p:blipFill>
        <p:spPr>
          <a:xfrm>
            <a:off x="5334000" y="1219200"/>
            <a:ext cx="3644900" cy="212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8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Non-inverting amp </a:t>
            </a:r>
            <a:r>
              <a:rPr lang="en-US" dirty="0" err="1"/>
              <a:t>Z</a:t>
            </a:r>
            <a:r>
              <a:rPr lang="en-US" baseline="-25000" dirty="0" err="1"/>
              <a:t>in</a:t>
            </a:r>
            <a:r>
              <a:rPr lang="en-US" dirty="0"/>
              <a:t> and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37100" cy="5105400"/>
          </a:xfrm>
        </p:spPr>
        <p:txBody>
          <a:bodyPr>
            <a:normAutofit/>
          </a:bodyPr>
          <a:lstStyle/>
          <a:p>
            <a:r>
              <a:rPr lang="en-US" sz="2400" dirty="0"/>
              <a:t>V</a:t>
            </a:r>
            <a:r>
              <a:rPr lang="en-US" sz="2400" baseline="-25000" dirty="0"/>
              <a:t>-</a:t>
            </a:r>
            <a:r>
              <a:rPr lang="en-US" sz="2400" dirty="0"/>
              <a:t> = V</a:t>
            </a:r>
            <a:r>
              <a:rPr lang="en-US" sz="2400" baseline="-25000" dirty="0"/>
              <a:t>in</a:t>
            </a:r>
            <a:r>
              <a:rPr lang="en-US" sz="2400" dirty="0"/>
              <a:t>                     (Rule 1)</a:t>
            </a:r>
          </a:p>
          <a:p>
            <a:r>
              <a:rPr lang="en-US" sz="2400" dirty="0"/>
              <a:t>                                  (Rule 2)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	Substitute and cross multiply:</a:t>
            </a:r>
          </a:p>
          <a:p>
            <a:pPr>
              <a:buNone/>
            </a:pPr>
            <a:r>
              <a:rPr lang="en-US" sz="2400" dirty="0"/>
              <a:t>R</a:t>
            </a:r>
            <a:r>
              <a:rPr lang="en-US" sz="2400" baseline="-25000" dirty="0"/>
              <a:t>4</a:t>
            </a:r>
            <a:r>
              <a:rPr lang="en-US" sz="2400" dirty="0"/>
              <a:t>V</a:t>
            </a:r>
            <a:r>
              <a:rPr lang="en-US" sz="2400" baseline="-25000" dirty="0"/>
              <a:t>out</a:t>
            </a:r>
            <a:r>
              <a:rPr lang="en-US" sz="2400" dirty="0"/>
              <a:t>-R</a:t>
            </a:r>
            <a:r>
              <a:rPr lang="en-US" sz="2400" baseline="-25000" dirty="0"/>
              <a:t>4</a:t>
            </a:r>
            <a:r>
              <a:rPr lang="en-US" sz="2400" dirty="0"/>
              <a:t>V</a:t>
            </a:r>
            <a:r>
              <a:rPr lang="en-US" sz="2400" baseline="-25000" dirty="0"/>
              <a:t>in</a:t>
            </a:r>
            <a:r>
              <a:rPr lang="en-US" sz="2400" dirty="0"/>
              <a:t> = R</a:t>
            </a:r>
            <a:r>
              <a:rPr lang="en-US" sz="2400" baseline="-25000" dirty="0"/>
              <a:t>3</a:t>
            </a:r>
            <a:r>
              <a:rPr lang="en-US" sz="2400" dirty="0"/>
              <a:t>V</a:t>
            </a:r>
            <a:r>
              <a:rPr lang="en-US" sz="2400" baseline="-25000" dirty="0"/>
              <a:t>in</a:t>
            </a:r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R</a:t>
            </a:r>
            <a:r>
              <a:rPr lang="en-US" sz="2400" baseline="-25000" dirty="0"/>
              <a:t>4</a:t>
            </a:r>
            <a:r>
              <a:rPr lang="en-US" sz="2400" dirty="0"/>
              <a:t>V</a:t>
            </a:r>
            <a:r>
              <a:rPr lang="en-US" sz="2400" baseline="-25000" dirty="0"/>
              <a:t>out </a:t>
            </a:r>
            <a:r>
              <a:rPr lang="en-US" sz="2400" dirty="0"/>
              <a:t>= (R</a:t>
            </a:r>
            <a:r>
              <a:rPr lang="en-US" sz="2400" baseline="-25000" dirty="0"/>
              <a:t>3</a:t>
            </a:r>
            <a:r>
              <a:rPr lang="en-US" sz="2400" dirty="0"/>
              <a:t>+R</a:t>
            </a:r>
            <a:r>
              <a:rPr lang="en-US" sz="2400" baseline="-25000" dirty="0"/>
              <a:t>4</a:t>
            </a:r>
            <a:r>
              <a:rPr lang="en-US" sz="2400" dirty="0"/>
              <a:t>)V</a:t>
            </a:r>
            <a:r>
              <a:rPr lang="en-US" sz="2400" baseline="-25000" dirty="0"/>
              <a:t>in</a:t>
            </a:r>
            <a:r>
              <a:rPr lang="en-US" sz="2400" dirty="0"/>
              <a:t> 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400" baseline="-25000" dirty="0"/>
          </a:p>
          <a:p>
            <a:r>
              <a:rPr lang="en-US" sz="2400" dirty="0"/>
              <a:t>Gain = (R</a:t>
            </a:r>
            <a:r>
              <a:rPr lang="en-US" sz="2400" baseline="-25000" dirty="0"/>
              <a:t>3</a:t>
            </a:r>
            <a:r>
              <a:rPr lang="en-US" sz="2400" dirty="0"/>
              <a:t>+R</a:t>
            </a:r>
            <a:r>
              <a:rPr lang="en-US" sz="2400" baseline="-25000" dirty="0"/>
              <a:t>4</a:t>
            </a:r>
            <a:r>
              <a:rPr lang="en-US" sz="2400" dirty="0"/>
              <a:t>)/R</a:t>
            </a:r>
            <a:r>
              <a:rPr lang="en-US" sz="2400" baseline="-25000" dirty="0"/>
              <a:t>4</a:t>
            </a:r>
            <a:r>
              <a:rPr lang="en-US" sz="2400" dirty="0"/>
              <a:t> = 1+R</a:t>
            </a:r>
            <a:r>
              <a:rPr lang="en-US" sz="2400" baseline="-25000" dirty="0"/>
              <a:t>3</a:t>
            </a:r>
            <a:r>
              <a:rPr lang="en-US" sz="2400" dirty="0"/>
              <a:t>/R</a:t>
            </a:r>
            <a:r>
              <a:rPr lang="en-US" sz="2400" baseline="-25000" dirty="0"/>
              <a:t>4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Z</a:t>
            </a:r>
            <a:r>
              <a:rPr lang="en-US" sz="2400" baseline="-25000" dirty="0" err="1"/>
              <a:t>in</a:t>
            </a:r>
            <a:r>
              <a:rPr lang="en-US" sz="2400" dirty="0"/>
              <a:t> = ∞                      (Rule 2)</a:t>
            </a:r>
            <a:endParaRPr lang="en-US" sz="2400" baseline="-25000" dirty="0"/>
          </a:p>
          <a:p>
            <a:endParaRPr lang="en-US" sz="2400" baseline="-25000" dirty="0"/>
          </a:p>
          <a:p>
            <a:endParaRPr lang="en-US" sz="2400" baseline="-25000" dirty="0"/>
          </a:p>
          <a:p>
            <a:endParaRPr lang="en-US" sz="2400" dirty="0"/>
          </a:p>
          <a:p>
            <a:endParaRPr lang="en-US" sz="2400" baseline="-25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47657" b="-4487"/>
          <a:stretch>
            <a:fillRect/>
          </a:stretch>
        </p:blipFill>
        <p:spPr>
          <a:xfrm>
            <a:off x="5041900" y="1417638"/>
            <a:ext cx="3644900" cy="2895600"/>
          </a:xfrm>
          <a:prstGeom prst="rect">
            <a:avLst/>
          </a:prstGeom>
        </p:spPr>
      </p:pic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914400" y="2057400"/>
          <a:ext cx="192293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600" imgH="431800" progId="Equation.3">
                  <p:embed/>
                </p:oleObj>
              </mc:Choice>
              <mc:Fallback>
                <p:oleObj name="Equation" r:id="rId3" imgW="990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57400"/>
                        <a:ext cx="192293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609599" y="4495800"/>
          <a:ext cx="3200401" cy="875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85900" imgH="406400" progId="Equation.3">
                  <p:embed/>
                </p:oleObj>
              </mc:Choice>
              <mc:Fallback>
                <p:oleObj name="Equation" r:id="rId5" imgW="1485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99" y="4495800"/>
                        <a:ext cx="3200401" cy="875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36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371600"/>
            <a:ext cx="3409950" cy="2040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Embellishments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inverting amp is a “mixer” or adder: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 voltage on V</a:t>
            </a:r>
            <a:r>
              <a:rPr lang="en-US" sz="2400" baseline="-25000" dirty="0"/>
              <a:t>+</a:t>
            </a:r>
            <a:r>
              <a:rPr lang="en-US" sz="2400" dirty="0"/>
              <a:t> adds to (offsets) </a:t>
            </a:r>
            <a:r>
              <a:rPr lang="en-US" sz="2400" dirty="0" err="1"/>
              <a:t>V</a:t>
            </a:r>
            <a:r>
              <a:rPr lang="en-US" sz="2400" baseline="-25000" dirty="0" err="1"/>
              <a:t>out</a:t>
            </a:r>
            <a:endParaRPr lang="en-US" sz="2400" baseline="-25000" dirty="0"/>
          </a:p>
          <a:p>
            <a:r>
              <a:rPr lang="en-US" sz="2400" dirty="0"/>
              <a:t>The R’s can be generalized</a:t>
            </a:r>
          </a:p>
          <a:p>
            <a:pPr>
              <a:buNone/>
            </a:pPr>
            <a:r>
              <a:rPr lang="en-US" sz="2400" dirty="0"/>
              <a:t>	to Z’s, and they can be any combination of devices, complex impedances, etc. E.g.,</a:t>
            </a:r>
          </a:p>
          <a:p>
            <a:pPr lvl="1"/>
            <a:r>
              <a:rPr lang="en-US" sz="2000" dirty="0"/>
              <a:t>Capacitors and inductors will make the gain frequency dependent</a:t>
            </a:r>
          </a:p>
          <a:p>
            <a:pPr lvl="1"/>
            <a:r>
              <a:rPr lang="en-US" sz="2000" dirty="0"/>
              <a:t>Diodes can make the gain polarity dependent </a:t>
            </a:r>
          </a:p>
          <a:p>
            <a:r>
              <a:rPr lang="en-US" sz="2400" dirty="0"/>
              <a:t>The amplifier will become nonlinear (output not proportional to input) without negative feedback at all relevant frequencies, including DC</a:t>
            </a:r>
          </a:p>
          <a:p>
            <a:r>
              <a:rPr lang="en-US" sz="2400" dirty="0"/>
              <a:t>Op amps saturate (and thus become nonlinear) when their inputs or output approach the power supply “rails”</a:t>
            </a:r>
            <a:endParaRPr lang="en-US" dirty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1066800" y="2057400"/>
          <a:ext cx="3733800" cy="67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2000" imgH="368300" progId="Equation.3">
                  <p:embed/>
                </p:oleObj>
              </mc:Choice>
              <mc:Fallback>
                <p:oleObj name="Equation" r:id="rId3" imgW="20320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057400"/>
                        <a:ext cx="3733800" cy="67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623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2 of 7">
            <a:extLst>
              <a:ext uri="{FF2B5EF4-FFF2-40B4-BE49-F238E27FC236}">
                <a16:creationId xmlns:a16="http://schemas.microsoft.com/office/drawing/2014/main" id="{2121F8DA-BF8F-8077-4DE6-2D0108647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2" r="9159"/>
          <a:stretch/>
        </p:blipFill>
        <p:spPr bwMode="auto">
          <a:xfrm>
            <a:off x="42554" y="0"/>
            <a:ext cx="5562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4EFA58-0DF6-B924-BE6C-41D7FF98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340" y="4724400"/>
            <a:ext cx="3409950" cy="20406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219DF0F5-44B8-5DE6-99A1-426134CA57D2}"/>
              </a:ext>
            </a:extLst>
          </p:cNvPr>
          <p:cNvGrpSpPr/>
          <p:nvPr/>
        </p:nvGrpSpPr>
        <p:grpSpPr>
          <a:xfrm>
            <a:off x="7396626" y="731837"/>
            <a:ext cx="1410447" cy="1380652"/>
            <a:chOff x="5816713" y="2438461"/>
            <a:chExt cx="1410447" cy="1380652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D7CF0A2-0C1A-D82C-FECD-1C69F6951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16713" y="2438461"/>
              <a:ext cx="1216845" cy="112508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CA565D9-C638-F8A1-962F-62594B729655}"/>
                </a:ext>
              </a:extLst>
            </p:cNvPr>
            <p:cNvSpPr txBox="1"/>
            <p:nvPr/>
          </p:nvSpPr>
          <p:spPr>
            <a:xfrm>
              <a:off x="6172794" y="2939235"/>
              <a:ext cx="412495" cy="1212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i="1" baseline="300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F610C01-D221-F893-3E18-A3EE65FADA02}"/>
                </a:ext>
              </a:extLst>
            </p:cNvPr>
            <p:cNvCxnSpPr/>
            <p:nvPr/>
          </p:nvCxnSpPr>
          <p:spPr bwMode="auto">
            <a:xfrm>
              <a:off x="6775445" y="2960060"/>
              <a:ext cx="451715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oval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E4C178C-CD3B-E551-6439-38C520AACC34}"/>
                </a:ext>
              </a:extLst>
            </p:cNvPr>
            <p:cNvGrpSpPr/>
            <p:nvPr/>
          </p:nvGrpSpPr>
          <p:grpSpPr>
            <a:xfrm>
              <a:off x="6220297" y="3527189"/>
              <a:ext cx="233540" cy="291924"/>
              <a:chOff x="1626829" y="5857081"/>
              <a:chExt cx="304800" cy="381000"/>
            </a:xfrm>
          </p:grpSpPr>
          <p:sp>
            <p:nvSpPr>
              <p:cNvPr id="47" name="Line 99">
                <a:extLst>
                  <a:ext uri="{FF2B5EF4-FFF2-40B4-BE49-F238E27FC236}">
                    <a16:creationId xmlns:a16="http://schemas.microsoft.com/office/drawing/2014/main" id="{548D35BD-18B3-0B81-89DA-99CDBF32787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26829" y="6085681"/>
                <a:ext cx="3048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100">
                <a:extLst>
                  <a:ext uri="{FF2B5EF4-FFF2-40B4-BE49-F238E27FC236}">
                    <a16:creationId xmlns:a16="http://schemas.microsoft.com/office/drawing/2014/main" id="{35058400-A39B-088A-EEA2-37B009321F0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229" y="5857081"/>
                <a:ext cx="0" cy="228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101">
                <a:extLst>
                  <a:ext uri="{FF2B5EF4-FFF2-40B4-BE49-F238E27FC236}">
                    <a16:creationId xmlns:a16="http://schemas.microsoft.com/office/drawing/2014/main" id="{37B475EA-34B0-4D3E-3D41-91A41404BE3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64929" y="6123781"/>
                <a:ext cx="2286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102">
                <a:extLst>
                  <a:ext uri="{FF2B5EF4-FFF2-40B4-BE49-F238E27FC236}">
                    <a16:creationId xmlns:a16="http://schemas.microsoft.com/office/drawing/2014/main" id="{8E944653-E769-1DFE-4CAE-02AE28328C2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03029" y="6161881"/>
                <a:ext cx="152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103">
                <a:extLst>
                  <a:ext uri="{FF2B5EF4-FFF2-40B4-BE49-F238E27FC236}">
                    <a16:creationId xmlns:a16="http://schemas.microsoft.com/office/drawing/2014/main" id="{5F37764D-B167-6023-E3E7-D34083A5DCB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41129" y="6199981"/>
                <a:ext cx="76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104">
                <a:extLst>
                  <a:ext uri="{FF2B5EF4-FFF2-40B4-BE49-F238E27FC236}">
                    <a16:creationId xmlns:a16="http://schemas.microsoft.com/office/drawing/2014/main" id="{4DB04D64-50CC-DF9F-8ED8-0FFC68D2105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774467" y="6238081"/>
                <a:ext cx="79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D01A6E3-E7CF-9652-52D1-8FB2DE4D8FF1}"/>
              </a:ext>
            </a:extLst>
          </p:cNvPr>
          <p:cNvGrpSpPr/>
          <p:nvPr/>
        </p:nvGrpSpPr>
        <p:grpSpPr>
          <a:xfrm>
            <a:off x="5648642" y="731837"/>
            <a:ext cx="1355144" cy="1364981"/>
            <a:chOff x="5791200" y="731837"/>
            <a:chExt cx="1355144" cy="136498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C64A2F3-3D0C-F720-0467-640311F4E8BD}"/>
                </a:ext>
              </a:extLst>
            </p:cNvPr>
            <p:cNvGrpSpPr/>
            <p:nvPr/>
          </p:nvGrpSpPr>
          <p:grpSpPr>
            <a:xfrm>
              <a:off x="5791200" y="731837"/>
              <a:ext cx="1152334" cy="1125077"/>
              <a:chOff x="1066800" y="2208777"/>
              <a:chExt cx="1503948" cy="1468374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F54BBF54-5525-23F5-B02F-F076F4C84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66800" y="2208777"/>
                <a:ext cx="1503948" cy="1468374"/>
              </a:xfrm>
              <a:prstGeom prst="rect">
                <a:avLst/>
              </a:prstGeom>
            </p:spPr>
          </p:pic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7BFEC0F-0206-FD7D-5D8E-54DAB3C4A151}"/>
                  </a:ext>
                </a:extLst>
              </p:cNvPr>
              <p:cNvSpPr txBox="1"/>
              <p:nvPr/>
            </p:nvSpPr>
            <p:spPr>
              <a:xfrm>
                <a:off x="1497299" y="2794863"/>
                <a:ext cx="642948" cy="2172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US" i="1" baseline="30000" dirty="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988F49-1E1E-2A47-B448-22DFABDCEB15}"/>
                </a:ext>
              </a:extLst>
            </p:cNvPr>
            <p:cNvGrpSpPr/>
            <p:nvPr/>
          </p:nvGrpSpPr>
          <p:grpSpPr>
            <a:xfrm>
              <a:off x="6191596" y="1313025"/>
              <a:ext cx="954748" cy="783793"/>
              <a:chOff x="1589370" y="2967304"/>
              <a:chExt cx="1246073" cy="1022954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74E810D-6AB3-3CDA-379A-B1C1967E4AEE}"/>
                  </a:ext>
                </a:extLst>
              </p:cNvPr>
              <p:cNvCxnSpPr/>
              <p:nvPr/>
            </p:nvCxnSpPr>
            <p:spPr bwMode="auto">
              <a:xfrm>
                <a:off x="2245895" y="2967304"/>
                <a:ext cx="589548" cy="0"/>
              </a:xfrm>
              <a:prstGeom prst="straightConnector1">
                <a:avLst/>
              </a:prstGeom>
              <a:ln w="50800">
                <a:solidFill>
                  <a:srgbClr val="00B050"/>
                </a:solidFill>
                <a:headEnd type="oval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0" name="Group 222">
                <a:extLst>
                  <a:ext uri="{FF2B5EF4-FFF2-40B4-BE49-F238E27FC236}">
                    <a16:creationId xmlns:a16="http://schemas.microsoft.com/office/drawing/2014/main" id="{7C153A7B-0911-4A30-13FC-8FDDDFD6EE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9370" y="3609258"/>
                <a:ext cx="304800" cy="381000"/>
                <a:chOff x="4272" y="3072"/>
                <a:chExt cx="192" cy="240"/>
              </a:xfrm>
            </p:grpSpPr>
            <p:sp>
              <p:nvSpPr>
                <p:cNvPr id="41" name="Line 99">
                  <a:extLst>
                    <a:ext uri="{FF2B5EF4-FFF2-40B4-BE49-F238E27FC236}">
                      <a16:creationId xmlns:a16="http://schemas.microsoft.com/office/drawing/2014/main" id="{494BB791-D64F-4F50-12EE-250988305CB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272" y="321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Line 100">
                  <a:extLst>
                    <a:ext uri="{FF2B5EF4-FFF2-40B4-BE49-F238E27FC236}">
                      <a16:creationId xmlns:a16="http://schemas.microsoft.com/office/drawing/2014/main" id="{0F4E0D1E-6706-5A93-5247-378534DCF7A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368" y="3072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Line 101">
                  <a:extLst>
                    <a:ext uri="{FF2B5EF4-FFF2-40B4-BE49-F238E27FC236}">
                      <a16:creationId xmlns:a16="http://schemas.microsoft.com/office/drawing/2014/main" id="{FDFA5FF4-7532-C4C8-4CFA-51AF3323730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296" y="3240"/>
                  <a:ext cx="1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Line 102">
                  <a:extLst>
                    <a:ext uri="{FF2B5EF4-FFF2-40B4-BE49-F238E27FC236}">
                      <a16:creationId xmlns:a16="http://schemas.microsoft.com/office/drawing/2014/main" id="{3113E745-C701-9D6F-BED8-15F322EB91B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320" y="326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Line 103">
                  <a:extLst>
                    <a:ext uri="{FF2B5EF4-FFF2-40B4-BE49-F238E27FC236}">
                      <a16:creationId xmlns:a16="http://schemas.microsoft.com/office/drawing/2014/main" id="{C43AC1AA-E94D-F287-BC73-5958C317762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344" y="3288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Line 104">
                  <a:extLst>
                    <a:ext uri="{FF2B5EF4-FFF2-40B4-BE49-F238E27FC236}">
                      <a16:creationId xmlns:a16="http://schemas.microsoft.com/office/drawing/2014/main" id="{618396FC-060C-2655-5FD7-931D4701E10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365" y="3312"/>
                  <a:ext cx="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440" name="TextBox 18439">
            <a:extLst>
              <a:ext uri="{FF2B5EF4-FFF2-40B4-BE49-F238E27FC236}">
                <a16:creationId xmlns:a16="http://schemas.microsoft.com/office/drawing/2014/main" id="{FBD15396-AE82-0CD4-BE0F-C71190A5DB80}"/>
              </a:ext>
            </a:extLst>
          </p:cNvPr>
          <p:cNvSpPr txBox="1"/>
          <p:nvPr/>
        </p:nvSpPr>
        <p:spPr>
          <a:xfrm>
            <a:off x="5516277" y="393677"/>
            <a:ext cx="1532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pass filter</a:t>
            </a:r>
          </a:p>
        </p:txBody>
      </p:sp>
      <p:sp>
        <p:nvSpPr>
          <p:cNvPr id="18441" name="TextBox 18440">
            <a:extLst>
              <a:ext uri="{FF2B5EF4-FFF2-40B4-BE49-F238E27FC236}">
                <a16:creationId xmlns:a16="http://schemas.microsoft.com/office/drawing/2014/main" id="{E44425A3-02AB-E25F-8D51-7006D7570557}"/>
              </a:ext>
            </a:extLst>
          </p:cNvPr>
          <p:cNvSpPr txBox="1"/>
          <p:nvPr/>
        </p:nvSpPr>
        <p:spPr>
          <a:xfrm>
            <a:off x="7124942" y="393677"/>
            <a:ext cx="157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pass filter</a:t>
            </a:r>
          </a:p>
        </p:txBody>
      </p:sp>
      <p:pic>
        <p:nvPicPr>
          <p:cNvPr id="18442" name="Content Placeholder 18441">
            <a:extLst>
              <a:ext uri="{FF2B5EF4-FFF2-40B4-BE49-F238E27FC236}">
                <a16:creationId xmlns:a16="http://schemas.microsoft.com/office/drawing/2014/main" id="{0088FB10-AF7E-10A7-4DAD-C46FA9ACD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 b="58325"/>
          <a:stretch>
            <a:fillRect/>
          </a:stretch>
        </p:blipFill>
        <p:spPr>
          <a:xfrm>
            <a:off x="5845963" y="2595088"/>
            <a:ext cx="2557958" cy="1490208"/>
          </a:xfrm>
          <a:prstGeom prst="rect">
            <a:avLst/>
          </a:prstGeom>
        </p:spPr>
      </p:pic>
      <p:cxnSp>
        <p:nvCxnSpPr>
          <p:cNvPr id="18444" name="Straight Arrow Connector 18443">
            <a:extLst>
              <a:ext uri="{FF2B5EF4-FFF2-40B4-BE49-F238E27FC236}">
                <a16:creationId xmlns:a16="http://schemas.microsoft.com/office/drawing/2014/main" id="{E3720F03-4234-8982-B465-D8ADFA8D1F5E}"/>
              </a:ext>
            </a:extLst>
          </p:cNvPr>
          <p:cNvCxnSpPr/>
          <p:nvPr/>
        </p:nvCxnSpPr>
        <p:spPr>
          <a:xfrm flipV="1">
            <a:off x="7232800" y="2698222"/>
            <a:ext cx="217623" cy="26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445" name="Straight Arrow Connector 18444">
            <a:extLst>
              <a:ext uri="{FF2B5EF4-FFF2-40B4-BE49-F238E27FC236}">
                <a16:creationId xmlns:a16="http://schemas.microsoft.com/office/drawing/2014/main" id="{286848B1-8074-2FA3-5251-81C8AAC1A64D}"/>
              </a:ext>
            </a:extLst>
          </p:cNvPr>
          <p:cNvCxnSpPr/>
          <p:nvPr/>
        </p:nvCxnSpPr>
        <p:spPr>
          <a:xfrm flipV="1">
            <a:off x="6140850" y="5660475"/>
            <a:ext cx="217623" cy="26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446" name="Straight Arrow Connector 18445">
            <a:extLst>
              <a:ext uri="{FF2B5EF4-FFF2-40B4-BE49-F238E27FC236}">
                <a16:creationId xmlns:a16="http://schemas.microsoft.com/office/drawing/2014/main" id="{77AEE5D6-F9C4-39DD-CD06-4A0957AEF2F8}"/>
              </a:ext>
            </a:extLst>
          </p:cNvPr>
          <p:cNvCxnSpPr/>
          <p:nvPr/>
        </p:nvCxnSpPr>
        <p:spPr>
          <a:xfrm flipV="1">
            <a:off x="6140850" y="6059236"/>
            <a:ext cx="217623" cy="26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447" name="Straight Arrow Connector 18446">
            <a:extLst>
              <a:ext uri="{FF2B5EF4-FFF2-40B4-BE49-F238E27FC236}">
                <a16:creationId xmlns:a16="http://schemas.microsoft.com/office/drawing/2014/main" id="{4C363CF4-D2DC-99DB-45D4-AD099F4FA0FD}"/>
              </a:ext>
            </a:extLst>
          </p:cNvPr>
          <p:cNvCxnSpPr/>
          <p:nvPr/>
        </p:nvCxnSpPr>
        <p:spPr>
          <a:xfrm flipV="1">
            <a:off x="6140850" y="6430496"/>
            <a:ext cx="217623" cy="26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448" name="TextBox 18447">
            <a:extLst>
              <a:ext uri="{FF2B5EF4-FFF2-40B4-BE49-F238E27FC236}">
                <a16:creationId xmlns:a16="http://schemas.microsoft.com/office/drawing/2014/main" id="{4261F15C-938B-9340-0772-9C8050282A7B}"/>
              </a:ext>
            </a:extLst>
          </p:cNvPr>
          <p:cNvSpPr txBox="1"/>
          <p:nvPr/>
        </p:nvSpPr>
        <p:spPr>
          <a:xfrm>
            <a:off x="6212777" y="2359222"/>
            <a:ext cx="2040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Gain or Attenuation</a:t>
            </a:r>
          </a:p>
        </p:txBody>
      </p:sp>
      <p:sp>
        <p:nvSpPr>
          <p:cNvPr id="18449" name="TextBox 18448">
            <a:extLst>
              <a:ext uri="{FF2B5EF4-FFF2-40B4-BE49-F238E27FC236}">
                <a16:creationId xmlns:a16="http://schemas.microsoft.com/office/drawing/2014/main" id="{58D69C29-DC02-7288-2BB5-FC7DC55AD725}"/>
              </a:ext>
            </a:extLst>
          </p:cNvPr>
          <p:cNvSpPr txBox="1"/>
          <p:nvPr/>
        </p:nvSpPr>
        <p:spPr>
          <a:xfrm>
            <a:off x="6432634" y="4486476"/>
            <a:ext cx="1913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Mixing, combining</a:t>
            </a:r>
          </a:p>
        </p:txBody>
      </p:sp>
    </p:spTree>
    <p:extLst>
      <p:ext uri="{BB962C8B-B14F-4D97-AF65-F5344CB8AC3E}">
        <p14:creationId xmlns:p14="http://schemas.microsoft.com/office/powerpoint/2010/main" val="603889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5876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Interested in what’s under the hood?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8600"/>
            <a:ext cx="6400800" cy="640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6400800"/>
            <a:ext cx="384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familiar abstractions do you see? </a:t>
            </a:r>
          </a:p>
        </p:txBody>
      </p:sp>
    </p:spTree>
    <p:extLst>
      <p:ext uri="{BB962C8B-B14F-4D97-AF65-F5344CB8AC3E}">
        <p14:creationId xmlns:p14="http://schemas.microsoft.com/office/powerpoint/2010/main" val="520566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 just follow the golden rules …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1295400" y="762000"/>
            <a:ext cx="6400800" cy="6400800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514350" indent="-514350">
              <a:buNone/>
            </a:pPr>
            <a:r>
              <a:rPr lang="en-US" dirty="0"/>
              <a:t>When an op amp is in its normal working range then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inputs are at the same voltage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inputs draw no current</a:t>
            </a:r>
          </a:p>
        </p:txBody>
      </p:sp>
    </p:spTree>
    <p:extLst>
      <p:ext uri="{BB962C8B-B14F-4D97-AF65-F5344CB8AC3E}">
        <p14:creationId xmlns:p14="http://schemas.microsoft.com/office/powerpoint/2010/main" val="3067661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4177-8063-EE45-9BF5-C87AD6D4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Pease op-amp tech note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D2AB0-4FD1-FF43-836F-B88FEE504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48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CCB8-210A-0D42-8327-CA8C3F47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3ECD-BFF8-BC43-8338-8D04A1AEC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667000"/>
            <a:ext cx="2403493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Difference amp CMMR = “common mode rejection ratio” depends on the accuracy of matching the resistors in the difference amp </a:t>
            </a:r>
            <a:r>
              <a:rPr lang="en-US" sz="2400" dirty="0">
                <a:sym typeface="Wingdings" pitchFamily="2" charset="2"/>
              </a:rPr>
              <a:t> much better performance if precision resistors are integrated into the IC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DD5EB-84B9-3141-8FF6-43368F3BB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93" y="0"/>
            <a:ext cx="6283307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A685773-DC50-3E40-8810-794AF1A5DE48}"/>
              </a:ext>
            </a:extLst>
          </p:cNvPr>
          <p:cNvSpPr/>
          <p:nvPr/>
        </p:nvSpPr>
        <p:spPr>
          <a:xfrm>
            <a:off x="5791200" y="0"/>
            <a:ext cx="19050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77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AF70-47AF-1449-A6AB-63DD93A8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National Semiconductor AN31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D247F-9157-9A40-8F64-3E192FD3D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4419600"/>
            <a:ext cx="3204411" cy="2087563"/>
          </a:xfrm>
        </p:spPr>
        <p:txBody>
          <a:bodyPr>
            <a:normAutofit/>
          </a:bodyPr>
          <a:lstStyle/>
          <a:p>
            <a:r>
              <a:rPr lang="en-US" sz="2400" dirty="0"/>
              <a:t>“Follower” is a powerful construct – the input Z can be super high (&gt;10</a:t>
            </a:r>
            <a:r>
              <a:rPr lang="en-US" sz="2400" baseline="30000" dirty="0"/>
              <a:t>12</a:t>
            </a:r>
            <a:r>
              <a:rPr lang="en-US" sz="2400" dirty="0">
                <a:latin typeface="Symbol" pitchFamily="2" charset="2"/>
              </a:rPr>
              <a:t>W</a:t>
            </a:r>
            <a:r>
              <a:rPr lang="en-US" sz="2400" dirty="0"/>
              <a:t>) with JFET op-amps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BFD7C-1C72-8943-8B12-A532AC33B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411" y="1600200"/>
            <a:ext cx="510138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9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184F-E0B2-8A40-A8E4-23B9138B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A61B3-D840-7D49-9E60-85AE0CFCE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24384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Calculus with op-amps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BF572-F2BB-EC40-9262-B23151F5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7443"/>
            <a:ext cx="6055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20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7" descr="Circuit with 4 op amps.  Top left op amp (labeled #1)  is a differentiator with input cap C and feedback resistor R. The input to the left side of its input capacitor is a feedback wire from the far right of the circuit, which is the circuit output node labeled ">
            <a:extLst>
              <a:ext uri="{FF2B5EF4-FFF2-40B4-BE49-F238E27FC236}">
                <a16:creationId xmlns:a16="http://schemas.microsoft.com/office/drawing/2014/main" id="{99D0D1B4-C86F-104B-9004-3D0F2081E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76" y="1143000"/>
            <a:ext cx="59436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CF603-7EA8-814D-928D-A332A534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Op-amps solve differential equations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2D71-5B6E-CC41-ACDA-AEE8E1B50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267202"/>
            <a:ext cx="8229600" cy="259079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this op-amp circuit with R=10k</a:t>
            </a:r>
            <a:r>
              <a:rPr lang="en-US" dirty="0"/>
              <a:t>Ω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 C=20</a:t>
            </a:r>
            <a:r>
              <a:rPr lang="en-US" dirty="0"/>
              <a:t>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 solves the differential equation: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/dt+5υ=10υ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D253C0F-9F2C-D946-9A04-E9B7A96B6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72586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3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7" descr="Circuit with 4 op amps.  Top left op amp (labeled #1)  is a differentiator with input cap C and feedback resistor R. The input to the left side of its input capacitor is a feedback wire from the far right of the circuit, which is the circuit output node labeled ">
            <a:extLst>
              <a:ext uri="{FF2B5EF4-FFF2-40B4-BE49-F238E27FC236}">
                <a16:creationId xmlns:a16="http://schemas.microsoft.com/office/drawing/2014/main" id="{99D0D1B4-C86F-104B-9004-3D0F2081E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76" y="1143000"/>
            <a:ext cx="59436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CF603-7EA8-814D-928D-A332A534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Op-amps solve differential equations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2D71-5B6E-CC41-ACDA-AEE8E1B50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86200"/>
            <a:ext cx="8229600" cy="2971799"/>
          </a:xfrm>
        </p:spPr>
        <p:txBody>
          <a:bodyPr>
            <a:normAutofit fontScale="47500" lnSpcReduction="20000"/>
          </a:bodyPr>
          <a:lstStyle/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each op-amp is inverting. 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on the right side of C is … zero (a “virtual ground”)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through the capacitor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/dt must (all) go through the feedback resistor R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0-iR = 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RCdυ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/dt = -(1e4)(20e-6)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/dt = -0.2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/dt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−υ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gain is –R/R = -1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−2υ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−(υ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−(−υ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−0.2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/dt+2υ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 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Hence,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−0.2dυ/dt+2υ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/dt+5υ=10υ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293688" indent="-293688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differential equation in the problem statement. QED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D253C0F-9F2C-D946-9A04-E9B7A96B6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72586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3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9764-516D-3C4F-A2DA-551552DD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29A6B-85A7-E645-B238-1EA562CCE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33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CEE5-5F36-3B46-BD81-8DAABBB2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Instrumentation Amps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000E-16F8-7549-B2BA-03D2BA6D3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2400" dirty="0"/>
              <a:t>Op-amps are incredibly versatile, but one potential pitfall is they aren’t symmetrically differential</a:t>
            </a:r>
          </a:p>
          <a:p>
            <a:pPr lvl="1"/>
            <a:r>
              <a:rPr lang="en-US" sz="2000" dirty="0"/>
              <a:t>The negative feedback (generally necessary for stable operation) reduces the negative input’s impedance</a:t>
            </a:r>
          </a:p>
          <a:p>
            <a:r>
              <a:rPr lang="en-US" sz="2400" dirty="0"/>
              <a:t>Instrumentation amplifiers (</a:t>
            </a:r>
            <a:r>
              <a:rPr lang="en-US" sz="2400" dirty="0">
                <a:hlinkClick r:id="rId3"/>
              </a:rPr>
              <a:t>https://en.wikipedia.org/wiki/Instrumentation_amplifier</a:t>
            </a:r>
            <a:r>
              <a:rPr lang="en-US" sz="2400" dirty="0"/>
              <a:t>) are designed to symmetrically differentially amplify voltages </a:t>
            </a:r>
          </a:p>
          <a:p>
            <a:r>
              <a:rPr lang="en-US" sz="2400" dirty="0"/>
              <a:t>Laser-trimmed resistors, at the same</a:t>
            </a:r>
            <a:br>
              <a:rPr lang="en-US" sz="2400" dirty="0"/>
            </a:br>
            <a:r>
              <a:rPr lang="en-US" sz="2400" dirty="0"/>
              <a:t>temperature, … can achieve high </a:t>
            </a:r>
            <a:br>
              <a:rPr lang="en-US" sz="2400" dirty="0"/>
            </a:br>
            <a:r>
              <a:rPr lang="en-US" sz="2400" dirty="0"/>
              <a:t>accuracy, e.g., the AD620 has a CMRR</a:t>
            </a:r>
            <a:br>
              <a:rPr lang="en-US" sz="2400" dirty="0"/>
            </a:br>
            <a:r>
              <a:rPr lang="en-US" sz="2400" dirty="0"/>
              <a:t> of 100 dB with a differential gain </a:t>
            </a:r>
            <a:br>
              <a:rPr lang="en-US" sz="2400" dirty="0"/>
            </a:br>
            <a:r>
              <a:rPr lang="en-US" sz="2400" dirty="0"/>
              <a:t>adjustable up to 1,000 using a single </a:t>
            </a:r>
            <a:br>
              <a:rPr lang="en-US" sz="2400" dirty="0"/>
            </a:br>
            <a:r>
              <a:rPr lang="en-US" sz="2400" dirty="0"/>
              <a:t>external resistor</a:t>
            </a:r>
          </a:p>
          <a:p>
            <a:pPr lvl="1"/>
            <a:endParaRPr lang="en-US" sz="2000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437B915B-6EEF-DC49-B7B6-FFACE741D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298644"/>
            <a:ext cx="33782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036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AD66D-B0AF-3D4E-A55B-9EE6E834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Photodiode amplifiers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8807A-DDC7-F343-9F44-F0C435616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Photodiodes produce small currents proportional to light</a:t>
            </a:r>
          </a:p>
          <a:p>
            <a:pPr lvl="1"/>
            <a:r>
              <a:rPr lang="en-US" dirty="0"/>
              <a:t>If they’re small (lower capacitance), they can respond very quickly and have low noise</a:t>
            </a:r>
          </a:p>
          <a:p>
            <a:r>
              <a:rPr lang="en-US" dirty="0"/>
              <a:t>FET amps can work with R’s</a:t>
            </a:r>
            <a:br>
              <a:rPr lang="en-US" dirty="0"/>
            </a:br>
            <a:r>
              <a:rPr lang="en-US" dirty="0"/>
              <a:t>of 100M</a:t>
            </a:r>
            <a:r>
              <a:rPr lang="en-US" dirty="0">
                <a:latin typeface="Symbol" pitchFamily="2" charset="2"/>
              </a:rPr>
              <a:t>W</a:t>
            </a:r>
            <a:r>
              <a:rPr lang="en-US" dirty="0"/>
              <a:t> or more … but </a:t>
            </a:r>
            <a:br>
              <a:rPr lang="en-US" dirty="0"/>
            </a:br>
            <a:r>
              <a:rPr lang="en-US" dirty="0"/>
              <a:t>have to handle those R’s </a:t>
            </a:r>
            <a:br>
              <a:rPr lang="en-US" dirty="0"/>
            </a:br>
            <a:r>
              <a:rPr lang="en-US" dirty="0"/>
              <a:t>with great care …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9CFCC-F34A-FE49-89B7-6686E680C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3502413"/>
            <a:ext cx="3200400" cy="308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1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F38D-7B50-4F49-94F4-68C61563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Interfacing to transducers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8B9EB-1843-204B-9247-9B4E4D81B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Whether photodiodes or any other </a:t>
            </a:r>
            <a:r>
              <a:rPr lang="en-US" sz="2400" i="1" dirty="0"/>
              <a:t>transducer</a:t>
            </a:r>
            <a:r>
              <a:rPr lang="en-US" sz="2400" dirty="0"/>
              <a:t> that converts one form of energy to another, we approach the challenge of measuring the signal like any electronics problem</a:t>
            </a:r>
          </a:p>
          <a:p>
            <a:pPr lvl="1"/>
            <a:r>
              <a:rPr lang="en-US" sz="2000" dirty="0"/>
              <a:t>Thevenin equivalent (or if necessary, a more complex device model or characteristic curve)</a:t>
            </a:r>
          </a:p>
          <a:p>
            <a:pPr lvl="1"/>
            <a:r>
              <a:rPr lang="en-US" sz="2000" dirty="0"/>
              <a:t>Amplification to increase signal-to-noise ratio (SNR) – try to increase signal without proportionally increasing noise</a:t>
            </a:r>
          </a:p>
          <a:p>
            <a:pPr lvl="1"/>
            <a:r>
              <a:rPr lang="en-US" sz="2000" dirty="0"/>
              <a:t>Filtering to preferentially attenuate noise while passing the signal</a:t>
            </a:r>
          </a:p>
          <a:p>
            <a:pPr lvl="1"/>
            <a:r>
              <a:rPr lang="en-US" sz="2000" dirty="0"/>
              <a:t>… </a:t>
            </a:r>
          </a:p>
          <a:p>
            <a:pPr lvl="1"/>
            <a:r>
              <a:rPr lang="en-US" sz="2000" dirty="0"/>
              <a:t>But we’re getting a little ahead of ourselves</a:t>
            </a:r>
          </a:p>
        </p:txBody>
      </p:sp>
    </p:spTree>
    <p:extLst>
      <p:ext uri="{BB962C8B-B14F-4D97-AF65-F5344CB8AC3E}">
        <p14:creationId xmlns:p14="http://schemas.microsoft.com/office/powerpoint/2010/main" val="2517778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iagram, schematic&#10;&#10;Description automatically generated">
            <a:extLst>
              <a:ext uri="{FF2B5EF4-FFF2-40B4-BE49-F238E27FC236}">
                <a16:creationId xmlns:a16="http://schemas.microsoft.com/office/drawing/2014/main" id="{7B24EC54-EA16-D34D-A57F-D5851F914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486" y="3381375"/>
            <a:ext cx="2860514" cy="34766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B73884-BBF0-6C44-8091-99F46AFC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57797-244B-8542-967B-37B96379C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Electret and MEMs microphones convert sound to voltage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sheets or google “electret microphone circuit” for ideas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intrinsic impedances requires built-in FET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R29 and R30 voltage divider makes a 2.5VDC bias for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the op amp (pin 5 and 6), stabilized by C21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(none of these values are critical, as long as R29~R30)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R26 = 2k to match impedance of the mic (from datasheet)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C8 couples AC output of the mic to the op-amp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while blocking the mic’s DC bias voltage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C8 and R27 are a high pass filter – why? Because the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right side of R27 is “virtually” grounded (redrawn below)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fc = 1/(2*pi*16e-6F*10e3</a:t>
            </a:r>
            <a:r>
              <a:rPr lang="en-US" sz="1400" dirty="0">
                <a:latin typeface="Symbol" pitchFamily="2" charset="2"/>
                <a:cs typeface="Times New Roman" panose="02020603050405020304" pitchFamily="18" charset="0"/>
                <a:sym typeface="Wingdings" pitchFamily="2" charset="2"/>
              </a:rPr>
              <a:t>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) = 1Hz, so f&lt;1Hz are attenuated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Gain = R31/R27 = 100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Values of R29 = R30 don’t matter, they’re a voltage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divider to make +5/2V. 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93728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hiteboard&#10;&#10;Description automatically generated">
            <a:extLst>
              <a:ext uri="{FF2B5EF4-FFF2-40B4-BE49-F238E27FC236}">
                <a16:creationId xmlns:a16="http://schemas.microsoft.com/office/drawing/2014/main" id="{149A51FA-3952-1F4A-98AE-7CE0FCA00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7" t="27778" r="90895" b="52824"/>
          <a:stretch/>
        </p:blipFill>
        <p:spPr>
          <a:xfrm>
            <a:off x="7315200" y="2438400"/>
            <a:ext cx="1600200" cy="3459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B73884-BBF0-6C44-8091-99F46AFC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performance audio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57797-244B-8542-967B-37B96379C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 these mics on an intercom system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https://www.puiaudio.com/media/SpecSheet/AOM-5024L-HD-R.pdf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“wants” 3V@500uA, and I have 12V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R36+R26 voltage divider,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R26 = 2k to match impedance of the mic (from datasheet)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R36 from 3V = 12V*R26/(R26+R36)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C23 stabilizes the divided 3V, fc = 1/(2*pi*100e-6*2e3)&lt;~1Hz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C8 couples the AC output of the mic to the op-amp while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blocking the mic’s DC bias voltage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52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hiteboard&#10;&#10;Description automatically generated">
            <a:extLst>
              <a:ext uri="{FF2B5EF4-FFF2-40B4-BE49-F238E27FC236}">
                <a16:creationId xmlns:a16="http://schemas.microsoft.com/office/drawing/2014/main" id="{149A51FA-3952-1F4A-98AE-7CE0FCA00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9" t="20941" r="80969" b="38893"/>
          <a:stretch/>
        </p:blipFill>
        <p:spPr>
          <a:xfrm>
            <a:off x="5667780" y="304800"/>
            <a:ext cx="3485745" cy="65532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57797-244B-8542-967B-37B96379C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Mic’s AC signal through C8 goes to IC4B through R27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Inverting amplifier configuration, DC bias set by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R29 and R30, stabilized by C21, at 6VDC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= 200k</a:t>
            </a:r>
            <a:r>
              <a:rPr lang="en-US" sz="1800" dirty="0">
                <a:latin typeface="Symbol" pitchFamily="2" charset="2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/10k</a:t>
            </a:r>
            <a:r>
              <a:rPr lang="en-US" sz="1800" dirty="0">
                <a:latin typeface="Symbol" pitchFamily="2" charset="2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 (ignoring C27 and C8)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C8 and R27 make a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with corner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 = 1/(2*pi*100e-9*10e3) = 160 Hz. At f &lt; fc,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|Z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 10k</a:t>
            </a:r>
            <a:r>
              <a:rPr lang="en-US" sz="1800" dirty="0">
                <a:latin typeface="Symbol" pitchFamily="2" charset="2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 = 200k</a:t>
            </a:r>
            <a:r>
              <a:rPr lang="en-US" sz="1800" dirty="0">
                <a:latin typeface="Symbol" pitchFamily="2" charset="2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/(|Z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+10k</a:t>
            </a:r>
            <a:r>
              <a:rPr lang="en-US" sz="1800" dirty="0">
                <a:latin typeface="Symbol" pitchFamily="2" charset="2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|) is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 20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C27 and R31 make a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with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 = 1/(2*pi*270e-12*200e3) = 3kHz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f&gt;fc, |Z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C27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|&lt; 200k</a:t>
            </a:r>
            <a:r>
              <a:rPr lang="en-US" sz="1800" dirty="0">
                <a:latin typeface="Symbol" pitchFamily="2" charset="2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G &lt; 20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5F1338-47C7-514B-8051-C8446C441904}"/>
              </a:ext>
            </a:extLst>
          </p:cNvPr>
          <p:cNvSpPr/>
          <p:nvPr/>
        </p:nvSpPr>
        <p:spPr>
          <a:xfrm>
            <a:off x="5562600" y="152400"/>
            <a:ext cx="3581400" cy="1265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B73884-BBF0-6C44-8091-99F46AFC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performance audio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EE3154-DD2D-9B49-A951-5A539EEA8FB6}"/>
              </a:ext>
            </a:extLst>
          </p:cNvPr>
          <p:cNvSpPr/>
          <p:nvPr/>
        </p:nvSpPr>
        <p:spPr>
          <a:xfrm>
            <a:off x="6858000" y="1289844"/>
            <a:ext cx="3581400" cy="1265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0DC5D-DD25-B24F-8239-5C60C10FBB9A}"/>
              </a:ext>
            </a:extLst>
          </p:cNvPr>
          <p:cNvSpPr/>
          <p:nvPr/>
        </p:nvSpPr>
        <p:spPr>
          <a:xfrm>
            <a:off x="6772275" y="1908969"/>
            <a:ext cx="981074" cy="9128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73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hiteboard&#10;&#10;Description automatically generated">
            <a:extLst>
              <a:ext uri="{FF2B5EF4-FFF2-40B4-BE49-F238E27FC236}">
                <a16:creationId xmlns:a16="http://schemas.microsoft.com/office/drawing/2014/main" id="{149A51FA-3952-1F4A-98AE-7CE0FCA00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9" t="20941" r="80969" b="38893"/>
          <a:stretch/>
        </p:blipFill>
        <p:spPr>
          <a:xfrm>
            <a:off x="5667780" y="304800"/>
            <a:ext cx="3485745" cy="65532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57797-244B-8542-967B-37B96379C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IC4B-7’s output goes through C29, C35, and R37 to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inverting op-amp stage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gain = -R38/R37 (added to -R38/R44 times the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from the top)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C29, C35, and R37 make a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with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 = 1/(2*pi*50e-9*27e3) = 120 Hz.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C28 and R38 make a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with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 = 1/(2*pi*1e-9*47e3) = 3.4kHz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saw with the PWM filter, each stage in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makes the filter cut-off steeper. I designed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filters to pass the major frequencies in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voice, while attenuating motors and other signals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B73884-BBF0-6C44-8091-99F46AFC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Microphones</a:t>
            </a:r>
          </a:p>
        </p:txBody>
      </p:sp>
    </p:spTree>
    <p:extLst>
      <p:ext uri="{BB962C8B-B14F-4D97-AF65-F5344CB8AC3E}">
        <p14:creationId xmlns:p14="http://schemas.microsoft.com/office/powerpoint/2010/main" val="608108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1866-EA10-BB4D-8F44-B095E4D0B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Intercom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30CA1-550B-8E4D-B178-B5B612BF3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89437"/>
            <a:ext cx="8229600" cy="1736726"/>
          </a:xfrm>
        </p:spPr>
        <p:txBody>
          <a:bodyPr>
            <a:normAutofit/>
          </a:bodyPr>
          <a:lstStyle/>
          <a:p>
            <a:r>
              <a:rPr lang="en-US" sz="1800" dirty="0"/>
              <a:t>These 4 stages each implemented a low pass and high pass filter, along with mixing 3 other inputs </a:t>
            </a:r>
          </a:p>
          <a:p>
            <a:endParaRPr lang="en-US" sz="1800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64709D44-0F9C-F243-83DD-CB7E5731D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144000" cy="317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56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F04B-8200-2B4D-A145-EBA14BA7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the Intercom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0435-9B76-4A41-A5B3-520DAB852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47500" lnSpcReduction="20000"/>
          </a:bodyPr>
          <a:lstStyle/>
          <a:p>
            <a:pPr marL="0" indent="0" fontAlgn="base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helper (1-line) functions,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zp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zc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fontAlgn="base">
              <a:buNone/>
            </a:pPr>
            <a:b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zparallel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(z1, z2)</a:t>
            </a:r>
          </a:p>
          <a:p>
            <a:pPr marL="0" indent="0" fontAlgn="base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function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zparallel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(z1, z2)</a:t>
            </a:r>
          </a:p>
          <a:p>
            <a:pPr marL="0" indent="0" fontAlgn="base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returns z1 .* z2 ./ (z1 + z2), the parallel impedance</a:t>
            </a:r>
          </a:p>
          <a:p>
            <a:pPr marL="0" indent="0" fontAlgn="base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 fontAlgn="base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17 mar 21 BR</a:t>
            </a:r>
          </a:p>
          <a:p>
            <a:pPr marL="0" indent="0" fontAlgn="base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 fontAlgn="base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zparallel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z1 .* z2 ./ (z1 + z2); </a:t>
            </a:r>
          </a:p>
          <a:p>
            <a:pPr marL="0" indent="0" fontAlgn="base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 fontAlgn="base"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base"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[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(farads,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function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(farads,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compute complex impedances of capacitor with farads at frequencies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</a:t>
            </a: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can be a vector or matrix, and is persistent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% 7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21 BR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persistent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hzz</a:t>
            </a: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nargin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== 2,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hzz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; end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j = sqrt(-1);</a:t>
            </a:r>
          </a:p>
          <a:p>
            <a:pPr marL="0" indent="0">
              <a:buNone/>
            </a:pP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1 ./ (j*2*pi*farads*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hzz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5AECCE-2CAD-2F4D-888E-ABBBDACD2633}"/>
              </a:ext>
            </a:extLst>
          </p:cNvPr>
          <p:cNvCxnSpPr/>
          <p:nvPr/>
        </p:nvCxnSpPr>
        <p:spPr>
          <a:xfrm>
            <a:off x="381000" y="3657600"/>
            <a:ext cx="800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040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F04B-8200-2B4D-A145-EBA14BA7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the Intercom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0435-9B76-4A41-A5B3-520DAB852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4" y="3886200"/>
            <a:ext cx="8353425" cy="2819400"/>
          </a:xfrm>
        </p:spPr>
        <p:txBody>
          <a:bodyPr numCol="2">
            <a:normAutofit/>
          </a:bodyPr>
          <a:lstStyle/>
          <a:p>
            <a:pPr marL="0" indent="0" fontAlgn="base">
              <a:buNone/>
            </a:pP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ff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logspace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(1,4,200)';% frequencies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% first stage of microphone amp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r31 = 200e3; c27=270e-12;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r27=10e3; c8 = 100e-9;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gain1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(r31,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(c27,ff)) ./ (r27+zc(c8,ff)); %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zfeedback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zinput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% 2nd stage of microphone amp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c29=50e-9; r37=27e3; 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r38=47e3; c28 = 1e-9; 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gain2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(r38,zc(c28)) ./ (r37+zc(c29));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% summation stage of interface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r6=21e3; c1 = 50e-9;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r8=33e3; c6 = 1.5e-9;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gain3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(r8,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(c6)) ./ (r6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(c1));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% filter stage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r39 = 10e3; c31 = 220e-9;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r40 = 10e3; c32 = 5e-9;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gain4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(r40,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(c32)) ./ (r39+zc(c31));</a:t>
            </a:r>
          </a:p>
          <a:p>
            <a:pPr marL="0" indent="0" fontAlgn="base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 fontAlgn="base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gain1 .* gain2 .* gain3 .* gain4;</a:t>
            </a: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C87F176-709C-4A41-B30F-5BD4EF082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171192"/>
            <a:ext cx="7391400" cy="256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710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6C52BB81-AC8B-0E47-98D9-75D896D41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359" y="1066800"/>
            <a:ext cx="5583741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9FF04B-8200-2B4D-A145-EBA14BA7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the Intercom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0435-9B76-4A41-A5B3-520DAB852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17638"/>
            <a:ext cx="3933825" cy="533400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loglog(ff, abs([gain1 gain2 gain3 gain4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]))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grid;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('Hz');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('gain');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legend('stage1','stage2','stage3','stage4','vout', ...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location','best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hold on; 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vin = 10; %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mVrms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measured at mic input</a:t>
            </a:r>
          </a:p>
          <a:p>
            <a:pPr marL="0" indent="0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[50 100:100:1000 1200:200:2000]';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von14rms = [21 69 160 200 227 236 239 241 239 236 232 222 210 197 184 170]';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freq2 = [2500 3000:1000:10000]';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von14rms = [11 72 248 360 413 438 447 447 441 432 420 391 359 326 295 265 ]';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von142 = [201 152 89 54 35 24 17 13 10]';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loglog([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freq2], [von14rms; von142]/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vin,'d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-k')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legend('stage1','stage2','stage3','stage4','vout',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measured','location','best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C40B-8C4D-094F-9BBC-5BF9CA145317}"/>
              </a:ext>
            </a:extLst>
          </p:cNvPr>
          <p:cNvSpPr txBox="1"/>
          <p:nvPr/>
        </p:nvSpPr>
        <p:spPr>
          <a:xfrm>
            <a:off x="4552950" y="5329535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Measurements with a function generator and AC voltmeter suggest one of the low pass filters wasn’t “working”</a:t>
            </a:r>
          </a:p>
        </p:txBody>
      </p:sp>
    </p:spTree>
    <p:extLst>
      <p:ext uri="{BB962C8B-B14F-4D97-AF65-F5344CB8AC3E}">
        <p14:creationId xmlns:p14="http://schemas.microsoft.com/office/powerpoint/2010/main" val="1213110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8A85B6BB-2C10-354E-B417-E5A304D4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173460"/>
            <a:ext cx="5549900" cy="4165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9FF04B-8200-2B4D-A145-EBA14BA7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Intercom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0435-9B76-4A41-A5B3-520DAB852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17638"/>
            <a:ext cx="3933825" cy="533400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normGain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abs(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)/max(abs(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k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normGain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&gt;.01;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loglog(ff(k),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normGain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(k))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</a:p>
          <a:p>
            <a:pPr marL="0" indent="0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('frequency (Hz)');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('normalized gain');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hold on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loglog([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freq2], [von14rms; von142]/max([von14rms; von142]),'d-k')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 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djpeg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intercomFilter3db.jpg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C40B-8C4D-094F-9BBC-5BF9CA145317}"/>
              </a:ext>
            </a:extLst>
          </p:cNvPr>
          <p:cNvSpPr txBox="1"/>
          <p:nvPr/>
        </p:nvSpPr>
        <p:spPr>
          <a:xfrm>
            <a:off x="76200" y="3579496"/>
            <a:ext cx="4495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attenuation at 172Hz &amp; 2-2.3kHz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99% attenuation at ~40Hz and ~20kHz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reduced hiss &amp; airplane noise, better hearing of voices over truck engines, footsteps over birds,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make the intercom more sensitive to detecting someone walking?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put coarse gravel on the (dirt road) driveway – the rocks make a lot of grinding noise when driven/walked on. </a:t>
            </a:r>
          </a:p>
        </p:txBody>
      </p:sp>
    </p:spTree>
    <p:extLst>
      <p:ext uri="{BB962C8B-B14F-4D97-AF65-F5344CB8AC3E}">
        <p14:creationId xmlns:p14="http://schemas.microsoft.com/office/powerpoint/2010/main" val="3367079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60507</TotalTime>
  <Words>2038</Words>
  <Application>Microsoft Macintosh PowerPoint</Application>
  <PresentationFormat>On-screen Show (4:3)</PresentationFormat>
  <Paragraphs>210</Paragraphs>
  <Slides>28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Courier New</vt:lpstr>
      <vt:lpstr>Symbol</vt:lpstr>
      <vt:lpstr>Times New Roman</vt:lpstr>
      <vt:lpstr>Office Theme</vt:lpstr>
      <vt:lpstr>Equation</vt:lpstr>
      <vt:lpstr>Op amps</vt:lpstr>
      <vt:lpstr>Op amp “Golden Rules”</vt:lpstr>
      <vt:lpstr>Inverting and non-inverting amplifiers</vt:lpstr>
      <vt:lpstr>Inverting amp Zin and gain</vt:lpstr>
      <vt:lpstr>Non-inverting amp Zin and gain</vt:lpstr>
      <vt:lpstr>Embellishments</vt:lpstr>
      <vt:lpstr>PowerPoint Presentation</vt:lpstr>
      <vt:lpstr>Interested in what’s under the hood?</vt:lpstr>
      <vt:lpstr>Or just follow the golden rules …</vt:lpstr>
      <vt:lpstr>Pease op-amp tech note</vt:lpstr>
      <vt:lpstr>PowerPoint Presentation</vt:lpstr>
      <vt:lpstr>National Semiconductor AN31 cont’d</vt:lpstr>
      <vt:lpstr>PowerPoint Presentation</vt:lpstr>
      <vt:lpstr>Op-amps solve differential equations </vt:lpstr>
      <vt:lpstr>Op-amps solve differential equations </vt:lpstr>
      <vt:lpstr>Questions? </vt:lpstr>
      <vt:lpstr>Instrumentation Amps</vt:lpstr>
      <vt:lpstr>Photodiode amplifiers</vt:lpstr>
      <vt:lpstr>Interfacing to transducers</vt:lpstr>
      <vt:lpstr>Microphones</vt:lpstr>
      <vt:lpstr>Higher performance audio</vt:lpstr>
      <vt:lpstr>Higher performance audio</vt:lpstr>
      <vt:lpstr>Microphones</vt:lpstr>
      <vt:lpstr>Intercom system</vt:lpstr>
      <vt:lpstr>Simulating the Intercom</vt:lpstr>
      <vt:lpstr>Simulating the Intercom</vt:lpstr>
      <vt:lpstr>Simulating the Intercom</vt:lpstr>
      <vt:lpstr>Measuring the Intercom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FETs</dc:title>
  <dc:creator>brian rasnow</dc:creator>
  <cp:lastModifiedBy>Rasnow, Brian K.</cp:lastModifiedBy>
  <cp:revision>85</cp:revision>
  <cp:lastPrinted>2021-04-08T20:24:56Z</cp:lastPrinted>
  <dcterms:created xsi:type="dcterms:W3CDTF">2013-10-31T19:31:30Z</dcterms:created>
  <dcterms:modified xsi:type="dcterms:W3CDTF">2023-11-09T03:46:53Z</dcterms:modified>
</cp:coreProperties>
</file>