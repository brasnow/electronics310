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1" r:id="rId3"/>
    <p:sldId id="293" r:id="rId4"/>
    <p:sldId id="295" r:id="rId5"/>
    <p:sldId id="296" r:id="rId6"/>
    <p:sldId id="380" r:id="rId7"/>
    <p:sldId id="294" r:id="rId8"/>
    <p:sldId id="382" r:id="rId9"/>
    <p:sldId id="303" r:id="rId10"/>
    <p:sldId id="299" r:id="rId11"/>
    <p:sldId id="379" r:id="rId12"/>
    <p:sldId id="297" r:id="rId13"/>
    <p:sldId id="381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830"/>
  </p:normalViewPr>
  <p:slideViewPr>
    <p:cSldViewPr snapToGrid="0">
      <p:cViewPr varScale="1">
        <p:scale>
          <a:sx n="117" d="100"/>
          <a:sy n="117" d="100"/>
        </p:scale>
        <p:origin x="2496" y="176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44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8482395-5AA2-894E-98D8-DF5D894CA2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42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5C00CC2-608C-A044-80A9-D14FFE0286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479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ABF506F-9E6F-4248-9FE9-430F2D05D812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FC6BB3D-8166-6B47-BA08-E778F5636A9F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83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00AFC6F-1532-604E-AB21-957B7A737BE2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1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39FC479-823A-1543-A79B-EEC7671A6FE5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72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335E749-81EC-B141-92DA-116F4917EC5E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0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335E749-81EC-B141-92DA-116F4917EC5E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06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42540B6-1BB6-0842-9079-3187E6FC778C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284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42540B6-1BB6-0842-9079-3187E6FC778C}" type="slidenum">
              <a:rPr lang="en-US" sz="1200"/>
              <a:pPr/>
              <a:t>11</a:t>
            </a:fld>
            <a:endParaRPr 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611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066366B-E237-7B48-9358-307BC1043F6B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48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C00CC2-608C-A044-80A9-D14FFE02862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4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1D0FD-AEFC-0144-A3AD-D1B50040DB69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695773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9F1C4-7C14-2245-B133-4FC46667E452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7748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D191A-989C-B143-BEED-A97C79681784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8799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A275D-6CAE-0A4F-94C1-14884D48987B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91072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2BB55-DE17-9548-93AF-8870B50C8792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1596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153B0-39F0-254E-8040-70B38B0C970B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33550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756A54-3A45-354E-A002-2D2FDD1AA316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6202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908A5-BAD1-894A-998C-F2CB1C51A8B9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6390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E321F-6760-164D-97FD-CF51441FF15C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3731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B3F18-F556-F14D-B00E-73BE7268EA45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9598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76200"/>
            <a:ext cx="196215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3405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83D8C-9847-5B44-AFE8-478BF09BA05D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7671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55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pPr>
              <a:defRPr/>
            </a:pPr>
            <a:fld id="{136E90B3-4318-9841-A6CD-847CA1CC9ACA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" charset="0"/>
          <a:ea typeface="ＭＳ Ｐゴシック" pitchFamily="-1" charset="-128"/>
          <a:cs typeface="ＭＳ Ｐゴシック" pitchFamily="-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Capacitors and 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Alternating Current (AC)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II. Simulation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Week 9a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82C621-6975-E848-A694-0131D9F00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598" y="1955175"/>
            <a:ext cx="2420353" cy="2288633"/>
          </a:xfrm>
          <a:prstGeom prst="rect">
            <a:avLst/>
          </a:prstGeom>
        </p:spPr>
      </p:pic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Sinusoidal RC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27607"/>
            <a:ext cx="8229600" cy="565419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Find the voltage, current, and power of a 10k</a:t>
            </a:r>
            <a:r>
              <a:rPr lang="en-US" dirty="0">
                <a:latin typeface="Symbol" charset="2"/>
                <a:ea typeface="ＭＳ Ｐゴシック" charset="0"/>
                <a:cs typeface="Symbol" charset="2"/>
              </a:rPr>
              <a:t>W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+.1</a:t>
            </a:r>
            <a:r>
              <a:rPr lang="en-US" dirty="0">
                <a:latin typeface="Symbol" pitchFamily="2" charset="2"/>
                <a:ea typeface="ＭＳ Ｐゴシック" charset="0"/>
                <a:cs typeface="ＭＳ Ｐゴシック" charset="0"/>
              </a:rPr>
              <a:t>m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f capacitor connected to 120V 60 Hz (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Note: don’t try this with a wall outlet – its too dangerous!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)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</a:rPr>
              <a:t>What</a:t>
            </a:r>
            <a:r>
              <a:rPr lang="ja-JP" altLang="en-US" dirty="0">
                <a:latin typeface="Arial" charset="0"/>
                <a:ea typeface="ＭＳ Ｐゴシック" charset="0"/>
              </a:rPr>
              <a:t>’</a:t>
            </a:r>
            <a:r>
              <a:rPr lang="en-US" dirty="0">
                <a:latin typeface="Arial" charset="0"/>
                <a:ea typeface="ＭＳ Ｐゴシック" charset="0"/>
              </a:rPr>
              <a:t>s the first step? </a:t>
            </a:r>
          </a:p>
          <a:p>
            <a:pPr lvl="2" eaLnBrk="1" hangingPunct="1">
              <a:buFont typeface="Wingdings" charset="0"/>
              <a:buChar char="è"/>
            </a:pP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 draw a schematic (think visually)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</a:rPr>
              <a:t>What</a:t>
            </a:r>
            <a:r>
              <a:rPr lang="ja-JP" altLang="en-US" dirty="0">
                <a:latin typeface="Arial" charset="0"/>
                <a:ea typeface="ＭＳ Ｐゴシック" charset="0"/>
              </a:rPr>
              <a:t>’</a:t>
            </a:r>
            <a:r>
              <a:rPr lang="en-US" dirty="0">
                <a:latin typeface="Arial" charset="0"/>
                <a:ea typeface="ＭＳ Ｐゴシック" charset="0"/>
              </a:rPr>
              <a:t>s the input voltage, Vo? </a:t>
            </a:r>
          </a:p>
          <a:p>
            <a:pPr lvl="2" eaLnBrk="1" hangingPunct="1"/>
            <a:r>
              <a:rPr lang="en-US" dirty="0">
                <a:latin typeface="Arial" charset="0"/>
                <a:ea typeface="ＭＳ Ｐゴシック" charset="0"/>
              </a:rPr>
              <a:t>V(t) = 120*sqrt(2)* cos(2</a:t>
            </a:r>
            <a:r>
              <a:rPr lang="en-US" dirty="0">
                <a:latin typeface="Symbol" charset="0"/>
                <a:ea typeface="ＭＳ Ｐゴシック" charset="0"/>
                <a:cs typeface="Symbol" charset="0"/>
              </a:rPr>
              <a:t>p</a:t>
            </a:r>
            <a:r>
              <a:rPr lang="en-US" dirty="0">
                <a:latin typeface="Arial" charset="0"/>
                <a:ea typeface="ＭＳ Ｐゴシック" charset="0"/>
              </a:rPr>
              <a:t>60t) = Re(170*exp(j2</a:t>
            </a:r>
            <a:r>
              <a:rPr lang="en-US" dirty="0">
                <a:latin typeface="Symbol" charset="0"/>
                <a:ea typeface="ＭＳ Ｐゴシック" charset="0"/>
                <a:cs typeface="Symbol" charset="0"/>
              </a:rPr>
              <a:t>p</a:t>
            </a:r>
            <a:r>
              <a:rPr lang="en-US" dirty="0">
                <a:latin typeface="Arial" charset="0"/>
                <a:ea typeface="ＭＳ Ｐゴシック" charset="0"/>
              </a:rPr>
              <a:t>60t))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</a:rPr>
              <a:t>What</a:t>
            </a:r>
            <a:r>
              <a:rPr lang="ja-JP" altLang="en-US" dirty="0">
                <a:latin typeface="Arial" charset="0"/>
                <a:ea typeface="ＭＳ Ｐゴシック" charset="0"/>
              </a:rPr>
              <a:t>’</a:t>
            </a:r>
            <a:r>
              <a:rPr lang="en-US" dirty="0">
                <a:latin typeface="Arial" charset="0"/>
                <a:ea typeface="ＭＳ Ｐゴシック" charset="0"/>
              </a:rPr>
              <a:t>s the impedance?</a:t>
            </a:r>
          </a:p>
          <a:p>
            <a:pPr lvl="2" eaLnBrk="1" hangingPunct="1"/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Z</a:t>
            </a:r>
            <a:r>
              <a:rPr lang="en-US" baseline="-25000" dirty="0" err="1">
                <a:latin typeface="Arial" charset="0"/>
                <a:ea typeface="ＭＳ Ｐゴシック" charset="0"/>
                <a:sym typeface="Wingdings" charset="0"/>
              </a:rPr>
              <a:t>c</a:t>
            </a:r>
            <a:r>
              <a:rPr lang="en-US" baseline="-25000" dirty="0">
                <a:latin typeface="Arial" charset="0"/>
                <a:ea typeface="ＭＳ Ｐゴシック" charset="0"/>
                <a:sym typeface="Wingdings" charset="0"/>
              </a:rPr>
              <a:t> 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= 1 / (</a:t>
            </a:r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j</a:t>
            </a:r>
            <a:r>
              <a:rPr lang="en-US" dirty="0" err="1">
                <a:latin typeface="Symbol" charset="2"/>
                <a:ea typeface="ＭＳ Ｐゴシック" charset="0"/>
                <a:cs typeface="Symbol" charset="2"/>
                <a:sym typeface="Wingdings" charset="0"/>
              </a:rPr>
              <a:t>w</a:t>
            </a:r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C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) = 1/(j2</a:t>
            </a:r>
            <a:r>
              <a:rPr lang="en-US" dirty="0">
                <a:latin typeface="Symbol" charset="0"/>
                <a:ea typeface="ＭＳ Ｐゴシック" charset="0"/>
                <a:cs typeface="Symbol" charset="0"/>
              </a:rPr>
              <a:t>p 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(60/s)(.1 e-6F))</a:t>
            </a:r>
            <a:r>
              <a:rPr lang="en-US" dirty="0">
                <a:latin typeface="Symbol" charset="2"/>
                <a:ea typeface="ＭＳ Ｐゴシック" charset="0"/>
                <a:cs typeface="Symbol" charset="2"/>
              </a:rPr>
              <a:t> W = -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j26K</a:t>
            </a:r>
            <a:r>
              <a:rPr lang="en-US" dirty="0">
                <a:latin typeface="Symbol" charset="2"/>
                <a:ea typeface="ＭＳ Ｐゴシック" charset="0"/>
                <a:cs typeface="Symbol" charset="2"/>
              </a:rPr>
              <a:t>W</a:t>
            </a:r>
            <a:endParaRPr lang="en-US" dirty="0">
              <a:latin typeface="Arial" charset="0"/>
              <a:ea typeface="ＭＳ Ｐゴシック" charset="0"/>
              <a:sym typeface="Wingdings" charset="0"/>
            </a:endParaRPr>
          </a:p>
          <a:p>
            <a:pPr lvl="2"/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Z</a:t>
            </a:r>
            <a:r>
              <a:rPr lang="en-US" baseline="-25000" dirty="0">
                <a:latin typeface="Arial" charset="0"/>
                <a:ea typeface="ＭＳ Ｐゴシック" charset="0"/>
                <a:sym typeface="Wingdings" charset="0"/>
              </a:rPr>
              <a:t>R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 = R =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10K</a:t>
            </a:r>
            <a:r>
              <a:rPr lang="en-US" dirty="0">
                <a:latin typeface="Symbol" charset="2"/>
                <a:ea typeface="ＭＳ Ｐゴシック" charset="0"/>
                <a:cs typeface="Symbol" charset="2"/>
              </a:rPr>
              <a:t>W</a:t>
            </a:r>
            <a:endParaRPr lang="en-US" dirty="0">
              <a:latin typeface="Arial" charset="0"/>
              <a:ea typeface="ＭＳ Ｐゴシック" charset="0"/>
              <a:sym typeface="Wingdings" charset="0"/>
            </a:endParaRP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What</a:t>
            </a:r>
            <a:r>
              <a:rPr lang="ja-JP" altLang="en-US" dirty="0">
                <a:latin typeface="Arial" charset="0"/>
                <a:ea typeface="ＭＳ Ｐゴシック" charset="0"/>
                <a:sym typeface="Wingdings" charset="0"/>
              </a:rPr>
              <a:t>’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s the current?</a:t>
            </a:r>
          </a:p>
          <a:p>
            <a:pPr lvl="2" eaLnBrk="1" hangingPunct="1"/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i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 = V/</a:t>
            </a:r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Z</a:t>
            </a:r>
            <a:r>
              <a:rPr lang="en-US" baseline="-25000" dirty="0" err="1">
                <a:latin typeface="Arial" charset="0"/>
                <a:ea typeface="ＭＳ Ｐゴシック" charset="0"/>
                <a:sym typeface="Wingdings" charset="0"/>
              </a:rPr>
              <a:t>series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 = V/(</a:t>
            </a:r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Z</a:t>
            </a:r>
            <a:r>
              <a:rPr lang="en-US" baseline="-25000" dirty="0" err="1">
                <a:latin typeface="Arial" charset="0"/>
                <a:ea typeface="ＭＳ Ｐゴシック" charset="0"/>
                <a:sym typeface="Wingdings" charset="0"/>
              </a:rPr>
              <a:t>R</a:t>
            </a:r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+Z</a:t>
            </a:r>
            <a:r>
              <a:rPr lang="en-US" baseline="-25000" dirty="0" err="1">
                <a:latin typeface="Arial" charset="0"/>
                <a:ea typeface="ＭＳ Ｐゴシック" charset="0"/>
                <a:sym typeface="Wingdings" charset="0"/>
              </a:rPr>
              <a:t>c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) = 170V/(10-j26)K = (2.2+j5.7) mA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I got the last result using </a:t>
            </a:r>
            <a:r>
              <a:rPr lang="en-US" dirty="0" err="1">
                <a:latin typeface="Arial" charset="0"/>
                <a:ea typeface="ＭＳ Ｐゴシック" charset="0"/>
                <a:sym typeface="Wingdings" charset="0"/>
              </a:rPr>
              <a:t>Matlab’s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 inherent knowledge of complex number rules</a:t>
            </a:r>
          </a:p>
          <a:p>
            <a:pPr lvl="1"/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What’s the </a:t>
            </a:r>
            <a:r>
              <a:rPr lang="en-US" i="1" dirty="0">
                <a:latin typeface="Arial" charset="0"/>
                <a:ea typeface="ＭＳ Ｐゴシック" charset="0"/>
                <a:sym typeface="Wingdings" charset="0"/>
              </a:rPr>
              <a:t>phase</a:t>
            </a:r>
            <a:r>
              <a:rPr lang="en-US" dirty="0">
                <a:latin typeface="Arial" charset="0"/>
                <a:ea typeface="ＭＳ Ｐゴシック" charset="0"/>
                <a:sym typeface="Wingdings" charset="0"/>
              </a:rPr>
              <a:t> between V and I? 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8E6DC-3DD2-0448-A0D6-016B15C913D1}"/>
              </a:ext>
            </a:extLst>
          </p:cNvPr>
          <p:cNvSpPr txBox="1"/>
          <p:nvPr/>
        </p:nvSpPr>
        <p:spPr>
          <a:xfrm>
            <a:off x="7398417" y="2760374"/>
            <a:ext cx="103471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1" dirty="0"/>
              <a:t>V</a:t>
            </a:r>
            <a:r>
              <a:rPr lang="en-US" i="1" baseline="-25000" dirty="0"/>
              <a:t>0</a:t>
            </a:r>
            <a:r>
              <a:rPr lang="en-US" i="1" dirty="0"/>
              <a:t>e</a:t>
            </a:r>
            <a:r>
              <a:rPr lang="en-US" i="1" baseline="30000" dirty="0"/>
              <a:t>j</a:t>
            </a:r>
            <a:r>
              <a:rPr lang="en-US" i="1" baseline="30000" dirty="0">
                <a:latin typeface="Symbol" pitchFamily="2" charset="2"/>
              </a:rPr>
              <a:t>w</a:t>
            </a:r>
            <a:r>
              <a:rPr lang="en-US" i="1" baseline="300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2310693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</a:rPr>
              <a:t>Matlab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Simulation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95638"/>
            <a:ext cx="7772400" cy="588616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%% simulation of RC series circuit 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Emec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/Phys 310 29sept20 BR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j = sqrt(-1); %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matlab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knows this by default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R = 10e3;% ohms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 = .1e-6;% farads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60;%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Vo = 120;% volts rms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1 / (j*2*pi*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*C);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Vo * R / 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R+Zc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); % voltage divider equation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Vo *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/ 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R+Zc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('rms(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 = %.1fV at %.1fdegrees\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n',abs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), angle(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)*180/pi);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('rms(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 = %.1fV at %.1fdegrees\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n',abs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), angle(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)*180/pi);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Vo/(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R+Zc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%.1fmA at %.1fdegrees\n', abs(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)*1e3 ,angle(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)*180/pi);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('power = %.1fmW\n',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' * 1e3); % note ' takes conjugate</a:t>
            </a:r>
          </a:p>
          <a:p>
            <a:pPr marL="0" indent="0" eaLnBrk="1" hangingPunct="1"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Produces:</a:t>
            </a:r>
          </a:p>
          <a:p>
            <a:pPr>
              <a:buNone/>
            </a:pPr>
            <a:r>
              <a:rPr lang="en-US" sz="25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|</a:t>
            </a:r>
            <a:r>
              <a:rPr lang="en-US" sz="2500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Vr</a:t>
            </a:r>
            <a:r>
              <a:rPr lang="en-US" sz="25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| = 42.3V at 69.3degrees</a:t>
            </a:r>
          </a:p>
          <a:p>
            <a:pPr>
              <a:buNone/>
            </a:pPr>
            <a:r>
              <a:rPr lang="en-US" sz="25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|</a:t>
            </a:r>
            <a:r>
              <a:rPr lang="en-US" sz="2500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Vc</a:t>
            </a:r>
            <a:r>
              <a:rPr lang="en-US" sz="25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| = 112.3V at -20.7degrees</a:t>
            </a:r>
          </a:p>
          <a:p>
            <a:pPr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4.2mA at 69.3degrees</a:t>
            </a:r>
            <a:endParaRPr lang="en-US" sz="2500" dirty="0">
              <a:latin typeface="Courier New" panose="02070309020205020404" pitchFamily="49" charset="0"/>
              <a:ea typeface="ＭＳ Ｐゴシック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5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power = 179.2mW</a:t>
            </a:r>
          </a:p>
          <a:p>
            <a:pPr>
              <a:buNone/>
            </a:pPr>
            <a:endParaRPr lang="en-US" sz="2500" dirty="0">
              <a:ea typeface="ＭＳ Ｐゴシック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3300" dirty="0">
                <a:ea typeface="ＭＳ Ｐゴシック" charset="0"/>
                <a:cs typeface="Arial Hebrew" pitchFamily="2" charset="-79"/>
                <a:sym typeface="Wingdings" pitchFamily="2" charset="2"/>
              </a:rPr>
              <a:t> The current is in phase with </a:t>
            </a:r>
            <a:r>
              <a:rPr lang="en-US" sz="3300" dirty="0" err="1">
                <a:ea typeface="ＭＳ Ｐゴシック" charset="0"/>
                <a:cs typeface="Arial Hebrew" pitchFamily="2" charset="-79"/>
                <a:sym typeface="Wingdings" pitchFamily="2" charset="2"/>
              </a:rPr>
              <a:t>Vr</a:t>
            </a:r>
            <a:r>
              <a:rPr lang="en-US" sz="3300" dirty="0">
                <a:ea typeface="ＭＳ Ｐゴシック" charset="0"/>
                <a:cs typeface="Arial Hebrew" pitchFamily="2" charset="-79"/>
                <a:sym typeface="Wingdings" pitchFamily="2" charset="2"/>
              </a:rPr>
              <a:t> (always). </a:t>
            </a:r>
            <a:r>
              <a:rPr lang="en-US" sz="3300" dirty="0" err="1">
                <a:ea typeface="ＭＳ Ｐゴシック" charset="0"/>
                <a:cs typeface="Arial Hebrew" pitchFamily="2" charset="-79"/>
                <a:sym typeface="Wingdings" pitchFamily="2" charset="2"/>
              </a:rPr>
              <a:t>Vc</a:t>
            </a:r>
            <a:r>
              <a:rPr lang="en-US" sz="3300" dirty="0">
                <a:ea typeface="ＭＳ Ｐゴシック" charset="0"/>
                <a:cs typeface="Arial Hebrew" pitchFamily="2" charset="-79"/>
                <a:sym typeface="Wingdings" pitchFamily="2" charset="2"/>
              </a:rPr>
              <a:t> is 90 degrees behind </a:t>
            </a:r>
            <a:r>
              <a:rPr lang="en-US" sz="3300" dirty="0" err="1">
                <a:ea typeface="ＭＳ Ｐゴシック" charset="0"/>
                <a:cs typeface="Arial Hebrew" pitchFamily="2" charset="-79"/>
                <a:sym typeface="Wingdings" pitchFamily="2" charset="2"/>
              </a:rPr>
              <a:t>Vr</a:t>
            </a:r>
            <a:r>
              <a:rPr lang="en-US" sz="3300" dirty="0">
                <a:ea typeface="ＭＳ Ｐゴシック" charset="0"/>
                <a:cs typeface="Arial Hebrew" pitchFamily="2" charset="-79"/>
                <a:sym typeface="Wingdings" pitchFamily="2" charset="2"/>
              </a:rPr>
              <a:t>. Neither are in phase with the source, Vo.</a:t>
            </a:r>
            <a:endParaRPr lang="en-US" sz="3300" dirty="0">
              <a:ea typeface="ＭＳ Ｐゴシック" charset="0"/>
              <a:cs typeface="Arial Hebrew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9200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Time domain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This function f2t() converts complex amplitudes (“frequency domain”) to “time domain” waveforms, using the inverse Fourier transform (</a:t>
            </a:r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</a:rPr>
              <a:t>ifft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)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Understanding the “index gymnastics” below takes some experience … don’t worry about treating this function as a “black box”</a:t>
            </a:r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00" y="3695700"/>
            <a:ext cx="8915400" cy="300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547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Simulated waveforms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5B072-4917-5541-8576-6DD833017B3B}"/>
              </a:ext>
            </a:extLst>
          </p:cNvPr>
          <p:cNvSpPr txBox="1"/>
          <p:nvPr/>
        </p:nvSpPr>
        <p:spPr>
          <a:xfrm>
            <a:off x="218788" y="1382491"/>
            <a:ext cx="50247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waveforms = f2t([Vo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...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   * sqrt(2),2,200);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 sqrt(2)*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Vrms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amplitude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 2 periods, 200 time points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linspace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(0,2/60,200)' *1e3;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 msec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t,waveforms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grid; legend('Vo','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('time/msec'); 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('amplitude/volts')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print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djpeg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wfs.jpg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you visualize KVL: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Vo =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Vr+Vc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at all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Prove it with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B6E494-C1DD-4C4F-8722-70CF146A78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6460" y="1017105"/>
            <a:ext cx="5501288" cy="446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97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25A8EE-5C47-6546-B32D-D8F3D7E8BF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30431" y="1219199"/>
            <a:ext cx="5413570" cy="4652212"/>
          </a:xfrm>
          <a:prstGeom prst="rect">
            <a:avLst/>
          </a:prstGeom>
        </p:spPr>
      </p:pic>
      <p:sp>
        <p:nvSpPr>
          <p:cNvPr id="337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Kirchhoff’s Law </a:t>
            </a:r>
          </a:p>
        </p:txBody>
      </p:sp>
      <p:sp>
        <p:nvSpPr>
          <p:cNvPr id="33797" name="Content Placeholder 2"/>
          <p:cNvSpPr>
            <a:spLocks noGrp="1"/>
          </p:cNvSpPr>
          <p:nvPr>
            <p:ph idx="1"/>
          </p:nvPr>
        </p:nvSpPr>
        <p:spPr>
          <a:xfrm>
            <a:off x="457200" y="1219198"/>
            <a:ext cx="8229600" cy="5518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hold on;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plot(t, waveforms(:,2)+...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waveforms(:,3),'.k')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dirty="0">
                <a:sym typeface="Wingdings" pitchFamily="2" charset="2"/>
              </a:rPr>
              <a:t></a:t>
            </a:r>
            <a:r>
              <a:rPr lang="en-US" dirty="0"/>
              <a:t>KVL applies at every </a:t>
            </a:r>
            <a:br>
              <a:rPr lang="en-US" dirty="0"/>
            </a:br>
            <a:r>
              <a:rPr lang="en-US" dirty="0"/>
              <a:t>instant in time</a:t>
            </a:r>
          </a:p>
          <a:p>
            <a:pPr eaLnBrk="1" hangingPunct="1"/>
            <a:r>
              <a:rPr lang="en-US" sz="2000" dirty="0"/>
              <a:t>But RMS voltages (as </a:t>
            </a:r>
            <a:br>
              <a:rPr lang="en-US" sz="2000" dirty="0"/>
            </a:br>
            <a:r>
              <a:rPr lang="en-US" sz="2000" dirty="0"/>
              <a:t>displayed on multi-</a:t>
            </a:r>
            <a:br>
              <a:rPr lang="en-US" sz="2000" dirty="0"/>
            </a:br>
            <a:r>
              <a:rPr lang="en-US" sz="2000" dirty="0"/>
              <a:t>meters) and amplitudes</a:t>
            </a:r>
            <a:br>
              <a:rPr lang="en-US" sz="2000" dirty="0"/>
            </a:br>
            <a:r>
              <a:rPr lang="en-US" sz="2000" dirty="0"/>
              <a:t>do not generally add</a:t>
            </a:r>
            <a:endParaRPr lang="en-US" dirty="0"/>
          </a:p>
          <a:p>
            <a:pPr marL="457200" lvl="1" indent="0" eaLnBrk="1" hangingPunct="1">
              <a:buNone/>
            </a:pPr>
            <a:r>
              <a:rPr lang="en-US" dirty="0"/>
              <a:t>          is true at all times.</a:t>
            </a:r>
            <a:br>
              <a:rPr lang="en-US" dirty="0"/>
            </a:br>
            <a:endParaRPr lang="en-US" dirty="0"/>
          </a:p>
          <a:p>
            <a:pPr marL="57150" indent="0" eaLnBrk="1" hangingPunct="1">
              <a:buNone/>
            </a:pPr>
            <a:r>
              <a:rPr lang="en-US" dirty="0"/>
              <a:t>But  </a:t>
            </a:r>
          </a:p>
          <a:p>
            <a:pPr marL="457200" lvl="1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endParaRPr lang="en-US" dirty="0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370881"/>
              </p:ext>
            </p:extLst>
          </p:nvPr>
        </p:nvGraphicFramePr>
        <p:xfrm>
          <a:off x="452601" y="4465568"/>
          <a:ext cx="1117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200" imgH="355600" progId="Equation.3">
                  <p:embed/>
                </p:oleObj>
              </mc:Choice>
              <mc:Fallback>
                <p:oleObj name="Equation" r:id="rId3" imgW="711200" imgH="355600" progId="Equation.3">
                  <p:embed/>
                  <p:pic>
                    <p:nvPicPr>
                      <p:cNvPr id="33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601" y="4465568"/>
                        <a:ext cx="11176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739581"/>
              </p:ext>
            </p:extLst>
          </p:nvPr>
        </p:nvGraphicFramePr>
        <p:xfrm>
          <a:off x="1178184" y="5065212"/>
          <a:ext cx="2454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2100" imgH="381000" progId="Equation.3">
                  <p:embed/>
                </p:oleObj>
              </mc:Choice>
              <mc:Fallback>
                <p:oleObj name="Equation" r:id="rId5" imgW="1562100" imgH="381000" progId="Equation.3">
                  <p:embed/>
                  <p:pic>
                    <p:nvPicPr>
                      <p:cNvPr id="33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184" y="5065212"/>
                        <a:ext cx="245427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9C29854-293D-B544-8BED-0D92FBA19BB3}"/>
              </a:ext>
            </a:extLst>
          </p:cNvPr>
          <p:cNvSpPr txBox="1"/>
          <p:nvPr/>
        </p:nvSpPr>
        <p:spPr>
          <a:xfrm>
            <a:off x="190500" y="5785826"/>
            <a:ext cx="876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BTW, this demonstrates a remarkable feature of </a:t>
            </a:r>
            <a:r>
              <a:rPr lang="en-US" sz="1800" dirty="0" err="1">
                <a:solidFill>
                  <a:srgbClr val="00B050"/>
                </a:solidFill>
              </a:rPr>
              <a:t>sinuosoids</a:t>
            </a:r>
            <a:r>
              <a:rPr lang="en-US" sz="1800" dirty="0">
                <a:solidFill>
                  <a:srgbClr val="00B050"/>
                </a:solidFill>
              </a:rPr>
              <a:t>: the sum of 2 sine waves with the same frequency (</a:t>
            </a:r>
            <a:r>
              <a:rPr lang="en-US" sz="1800" dirty="0" err="1">
                <a:solidFill>
                  <a:srgbClr val="00B050"/>
                </a:solidFill>
              </a:rPr>
              <a:t>blue+green</a:t>
            </a:r>
            <a:r>
              <a:rPr lang="en-US" sz="1800" dirty="0">
                <a:solidFill>
                  <a:srgbClr val="00B050"/>
                </a:solidFill>
              </a:rPr>
              <a:t>) is another sine wave of the same frequency (red). The sum of e.g., 2 square waves is (generally) </a:t>
            </a:r>
            <a:r>
              <a:rPr lang="en-US" sz="1800" u="sng" dirty="0">
                <a:solidFill>
                  <a:srgbClr val="00B050"/>
                </a:solidFill>
              </a:rPr>
              <a:t>not</a:t>
            </a:r>
            <a:r>
              <a:rPr lang="en-US" sz="1800" dirty="0">
                <a:solidFill>
                  <a:srgbClr val="00B050"/>
                </a:solidFill>
              </a:rPr>
              <a:t> another square wave!</a:t>
            </a:r>
          </a:p>
        </p:txBody>
      </p:sp>
    </p:spTree>
    <p:extLst>
      <p:ext uri="{BB962C8B-B14F-4D97-AF65-F5344CB8AC3E}">
        <p14:creationId xmlns:p14="http://schemas.microsoft.com/office/powerpoint/2010/main" val="51939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Bode Plot</a:t>
            </a: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304800" y="1162953"/>
            <a:ext cx="85344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0188" indent="-2301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n-US" sz="2000" dirty="0"/>
              <a:t>How does amplitude and phase behave in this R-C series circuit if we vary the frequency?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 = 10e3; C = .1e-6; 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logspace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(0,4)'; % vary f over 4 logs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 = 2 * pi 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% w is a vector with 50 elements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 ./ (j*w*C); % pointwise division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Vo * R ./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R+Zc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Vo 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./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R+Zc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subplot(2,1,1);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loglog(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freq,abs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])/Vo); axis tight; grid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('gain');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subplot(2,1,2);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semilogx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rad2deg(angle([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]))); grid;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('phase/degrees');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('frequency/Hz');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fc = 1/(2*pi*R*C); % corner frequency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hold on; a = axis; plot([fc fc],[a(3) a(4)], ':b'); hold off;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legend('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','fc');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subplot(2,1,1); hold on; a = axis; plot([fc fc],[a(3) a(4)], ':b'); </a:t>
            </a:r>
          </a:p>
          <a:p>
            <a:pPr marL="0" indent="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title('Bode plot of RC series circuit')</a:t>
            </a:r>
          </a:p>
          <a:p>
            <a:pPr marL="0" indent="0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sz="2000" dirty="0"/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34CFEC4A-4212-594E-A164-E35B2E566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411157"/>
            <a:ext cx="58651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0188" indent="-2301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n-US" sz="2000" dirty="0"/>
              <a:t>Wikipedia </a:t>
            </a:r>
            <a:r>
              <a:rPr lang="en-US" sz="2000" dirty="0" err="1"/>
              <a:t>Bode_Plot</a:t>
            </a:r>
            <a:r>
              <a:rPr lang="en-US" sz="2000" dirty="0"/>
              <a:t> for more detail</a:t>
            </a:r>
          </a:p>
          <a:p>
            <a:pPr>
              <a:buFontTx/>
              <a:buChar char="•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00EF2-7CC8-ED48-9753-EBE154786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1690476"/>
            <a:ext cx="2420353" cy="2288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ADFE42-1D12-C54E-980E-2FD3757E2387}"/>
              </a:ext>
            </a:extLst>
          </p:cNvPr>
          <p:cNvSpPr txBox="1"/>
          <p:nvPr/>
        </p:nvSpPr>
        <p:spPr>
          <a:xfrm>
            <a:off x="7398417" y="2603959"/>
            <a:ext cx="103471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1" dirty="0"/>
              <a:t>V</a:t>
            </a:r>
            <a:r>
              <a:rPr lang="en-US" i="1" baseline="-25000" dirty="0"/>
              <a:t>0</a:t>
            </a:r>
            <a:r>
              <a:rPr lang="en-US" i="1" dirty="0"/>
              <a:t>e</a:t>
            </a:r>
            <a:r>
              <a:rPr lang="en-US" i="1" baseline="30000" dirty="0"/>
              <a:t>j</a:t>
            </a:r>
            <a:r>
              <a:rPr lang="en-US" i="1" baseline="30000" dirty="0">
                <a:latin typeface="Symbol" pitchFamily="2" charset="2"/>
              </a:rPr>
              <a:t>w</a:t>
            </a:r>
            <a:r>
              <a:rPr lang="en-US" i="1" baseline="300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86679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4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4244F-3336-8F49-A605-1489CB13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bodePlot.m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D74A1-C2D5-9840-AECA-416B71EF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Menlo" panose="020B0609030804020204" pitchFamily="49" charset="0"/>
              </a:rPr>
              <a:t>function </a:t>
            </a:r>
            <a:r>
              <a:rPr lang="en-US" sz="1600" dirty="0" err="1">
                <a:latin typeface="Menlo" panose="020B0609030804020204" pitchFamily="49" charset="0"/>
              </a:rPr>
              <a:t>bodePlot</a:t>
            </a:r>
            <a:r>
              <a:rPr lang="en-US" sz="1600" dirty="0">
                <a:latin typeface="Menlo" panose="020B0609030804020204" pitchFamily="49" charset="0"/>
              </a:rPr>
              <a:t>(</a:t>
            </a:r>
            <a:r>
              <a:rPr lang="en-US" sz="1600" dirty="0" err="1">
                <a:latin typeface="Menlo" panose="020B0609030804020204" pitchFamily="49" charset="0"/>
              </a:rPr>
              <a:t>f,a</a:t>
            </a:r>
            <a:r>
              <a:rPr lang="en-US" sz="1600" dirty="0"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Menlo" panose="020B0609030804020204" pitchFamily="49" charset="0"/>
              </a:rPr>
              <a:t>% function </a:t>
            </a:r>
            <a:r>
              <a:rPr lang="en-US" sz="1600" dirty="0" err="1">
                <a:solidFill>
                  <a:srgbClr val="008013"/>
                </a:solidFill>
                <a:latin typeface="Menlo" panose="020B0609030804020204" pitchFamily="49" charset="0"/>
              </a:rPr>
              <a:t>bodePlot</a:t>
            </a:r>
            <a:r>
              <a:rPr lang="en-US" sz="1600" dirty="0">
                <a:solidFill>
                  <a:srgbClr val="008013"/>
                </a:solidFill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8013"/>
                </a:solidFill>
                <a:latin typeface="Menlo" panose="020B0609030804020204" pitchFamily="49" charset="0"/>
              </a:rPr>
              <a:t>frequency,amplitude</a:t>
            </a:r>
            <a:r>
              <a:rPr lang="en-US" sz="1600" dirty="0">
                <a:solidFill>
                  <a:srgbClr val="008013"/>
                </a:solidFill>
                <a:latin typeface="Menlo" panose="020B0609030804020204" pitchFamily="49" charset="0"/>
              </a:rPr>
              <a:t>)</a:t>
            </a: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Menlo" panose="020B0609030804020204" pitchFamily="49" charset="0"/>
              </a:rPr>
              <a:t>% generate a bode plot in the current figure window</a:t>
            </a: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Menlo" panose="020B0609030804020204" pitchFamily="49" charset="0"/>
              </a:rPr>
              <a:t>% amplitude is assumed complex and normalized</a:t>
            </a: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Menlo" panose="020B0609030804020204" pitchFamily="49" charset="0"/>
              </a:rPr>
              <a:t>% 27oct20 BR</a:t>
            </a: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Menlo" panose="020B0609030804020204" pitchFamily="49" charset="0"/>
              </a:rPr>
              <a:t>% 5apr21 BR added unwrap</a:t>
            </a: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Menlo" panose="020B0609030804020204" pitchFamily="49" charset="0"/>
              </a:rPr>
              <a:t>clf</a:t>
            </a:r>
            <a:r>
              <a:rPr lang="en-US" sz="1600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Menlo" panose="020B0609030804020204" pitchFamily="49" charset="0"/>
              </a:rPr>
              <a:t>subplot(2,1,1)</a:t>
            </a:r>
          </a:p>
          <a:p>
            <a:pPr marL="0" indent="0">
              <a:buNone/>
            </a:pPr>
            <a:r>
              <a:rPr lang="en-US" sz="1600" dirty="0">
                <a:latin typeface="Menlo" panose="020B0609030804020204" pitchFamily="49" charset="0"/>
              </a:rPr>
              <a:t>loglog(</a:t>
            </a:r>
            <a:r>
              <a:rPr lang="en-US" sz="1600" dirty="0" err="1">
                <a:latin typeface="Menlo" panose="020B0609030804020204" pitchFamily="49" charset="0"/>
              </a:rPr>
              <a:t>f,abs</a:t>
            </a:r>
            <a:r>
              <a:rPr lang="en-US" sz="1600" dirty="0">
                <a:latin typeface="Menlo" panose="020B0609030804020204" pitchFamily="49" charset="0"/>
              </a:rPr>
              <a:t>(a),</a:t>
            </a:r>
            <a:r>
              <a:rPr lang="en-US" sz="1600" dirty="0">
                <a:solidFill>
                  <a:srgbClr val="A709F5"/>
                </a:solidFill>
                <a:latin typeface="Menlo" panose="020B0609030804020204" pitchFamily="49" charset="0"/>
              </a:rPr>
              <a:t>'.-'</a:t>
            </a:r>
            <a:r>
              <a:rPr lang="en-US" sz="1600" dirty="0"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Menlo" panose="020B0609030804020204" pitchFamily="49" charset="0"/>
              </a:rPr>
              <a:t>ylabel</a:t>
            </a:r>
            <a:r>
              <a:rPr lang="en-US" sz="1600" dirty="0"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A709F5"/>
                </a:solidFill>
                <a:latin typeface="Menlo" panose="020B0609030804020204" pitchFamily="49" charset="0"/>
              </a:rPr>
              <a:t>'amplitude'</a:t>
            </a:r>
            <a:r>
              <a:rPr lang="en-US" sz="1600" dirty="0"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Menlo" panose="020B0609030804020204" pitchFamily="49" charset="0"/>
              </a:rPr>
              <a:t>grid; axis </a:t>
            </a:r>
            <a:r>
              <a:rPr lang="en-US" sz="1600" dirty="0">
                <a:solidFill>
                  <a:srgbClr val="A709F5"/>
                </a:solidFill>
                <a:latin typeface="Menlo" panose="020B0609030804020204" pitchFamily="49" charset="0"/>
              </a:rPr>
              <a:t>tight</a:t>
            </a:r>
            <a:r>
              <a:rPr lang="en-US" sz="1600" dirty="0"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Menlo" panose="020B0609030804020204" pitchFamily="49" charset="0"/>
              </a:rPr>
              <a:t>subplot(2,1,2)</a:t>
            </a:r>
          </a:p>
          <a:p>
            <a:pPr marL="0" indent="0">
              <a:buNone/>
            </a:pPr>
            <a:r>
              <a:rPr lang="en-US" sz="1600" dirty="0" err="1">
                <a:latin typeface="Menlo" panose="020B0609030804020204" pitchFamily="49" charset="0"/>
              </a:rPr>
              <a:t>semilogx</a:t>
            </a:r>
            <a:r>
              <a:rPr lang="en-US" sz="1600" dirty="0">
                <a:latin typeface="Menlo" panose="020B0609030804020204" pitchFamily="49" charset="0"/>
              </a:rPr>
              <a:t>(f, unwrap(angle(a))*180/pi,</a:t>
            </a:r>
            <a:r>
              <a:rPr lang="en-US" sz="1600" dirty="0">
                <a:solidFill>
                  <a:srgbClr val="A709F5"/>
                </a:solidFill>
                <a:latin typeface="Menlo" panose="020B0609030804020204" pitchFamily="49" charset="0"/>
              </a:rPr>
              <a:t>'.-'</a:t>
            </a:r>
            <a:r>
              <a:rPr lang="en-US" sz="1600" dirty="0"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Menlo" panose="020B0609030804020204" pitchFamily="49" charset="0"/>
              </a:rPr>
              <a:t>xlabel</a:t>
            </a:r>
            <a:r>
              <a:rPr lang="en-US" sz="1600" dirty="0"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A709F5"/>
                </a:solidFill>
                <a:latin typeface="Menlo" panose="020B0609030804020204" pitchFamily="49" charset="0"/>
              </a:rPr>
              <a:t>'frequency'</a:t>
            </a:r>
            <a:r>
              <a:rPr lang="en-US" sz="1600" dirty="0">
                <a:latin typeface="Menlo" panose="020B0609030804020204" pitchFamily="49" charset="0"/>
              </a:rPr>
              <a:t>); </a:t>
            </a:r>
            <a:r>
              <a:rPr lang="en-US" sz="1600" dirty="0" err="1">
                <a:latin typeface="Menlo" panose="020B0609030804020204" pitchFamily="49" charset="0"/>
              </a:rPr>
              <a:t>ylabel</a:t>
            </a:r>
            <a:r>
              <a:rPr lang="en-US" sz="1600" dirty="0"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A709F5"/>
                </a:solidFill>
                <a:latin typeface="Menlo" panose="020B0609030804020204" pitchFamily="49" charset="0"/>
              </a:rPr>
              <a:t>'degrees'</a:t>
            </a:r>
            <a:r>
              <a:rPr lang="en-US" sz="1600" dirty="0"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Menlo" panose="020B0609030804020204" pitchFamily="49" charset="0"/>
              </a:rPr>
              <a:t>grid; axis </a:t>
            </a:r>
            <a:r>
              <a:rPr lang="en-US" sz="1600" dirty="0">
                <a:solidFill>
                  <a:srgbClr val="A709F5"/>
                </a:solidFill>
                <a:latin typeface="Menlo" panose="020B0609030804020204" pitchFamily="49" charset="0"/>
              </a:rPr>
              <a:t>tight</a:t>
            </a: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Menlo" panose="020B0609030804020204" pitchFamily="49" charset="0"/>
              </a:rPr>
              <a:t>end</a:t>
            </a: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Menlo" panose="020B0609030804020204" pitchFamily="49" charset="0"/>
              </a:rPr>
              <a:t>(Homework: add an optional 3</a:t>
            </a:r>
            <a:r>
              <a:rPr lang="en-US" sz="1600" baseline="30000" dirty="0">
                <a:latin typeface="Menlo" panose="020B0609030804020204" pitchFamily="49" charset="0"/>
              </a:rPr>
              <a:t>rd</a:t>
            </a:r>
            <a:r>
              <a:rPr lang="en-US" sz="1600" dirty="0">
                <a:latin typeface="Menlo" panose="020B0609030804020204" pitchFamily="49" charset="0"/>
              </a:rPr>
              <a:t> argument fc to indicate the corner frequency)</a:t>
            </a:r>
            <a:br>
              <a:rPr lang="en-US" sz="1600" dirty="0">
                <a:latin typeface="Menlo" panose="020B0609030804020204" pitchFamily="49" charset="0"/>
              </a:rPr>
            </a:br>
            <a:endParaRPr lang="en-US" sz="1600" dirty="0"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-US" sz="1600" dirty="0">
                <a:latin typeface="Menlo" panose="020B0609030804020204" pitchFamily="49" charset="0"/>
              </a:rPr>
            </a:br>
            <a:endParaRPr lang="en-US" sz="1600" dirty="0"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93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Bode Plot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283BF6-CA85-9A43-84B2-A52C398FE6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52274" y="914733"/>
            <a:ext cx="5823284" cy="5341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E2C95A-2B37-B042-B71C-31E1B65C0FC2}"/>
              </a:ext>
            </a:extLst>
          </p:cNvPr>
          <p:cNvSpPr txBox="1"/>
          <p:nvPr/>
        </p:nvSpPr>
        <p:spPr>
          <a:xfrm>
            <a:off x="168442" y="1219200"/>
            <a:ext cx="305602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 low frequencies (left), the capacitor dominates, |</a:t>
            </a:r>
            <a:r>
              <a:rPr lang="en-US" sz="2000" dirty="0" err="1"/>
              <a:t>Zc</a:t>
            </a:r>
            <a:r>
              <a:rPr lang="en-US" sz="2000" dirty="0"/>
              <a:t>| &gt;&gt; R, </a:t>
            </a:r>
            <a:r>
              <a:rPr lang="en-US" sz="2000" dirty="0" err="1"/>
              <a:t>Vc</a:t>
            </a:r>
            <a:r>
              <a:rPr lang="en-US" sz="2000" dirty="0"/>
              <a:t> ~ V</a:t>
            </a:r>
            <a:r>
              <a:rPr lang="en-US" sz="2000" baseline="-25000" dirty="0"/>
              <a:t>in</a:t>
            </a:r>
            <a:r>
              <a:rPr lang="en-US" sz="2000" dirty="0"/>
              <a:t>, and current is 90°phase shifted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 high frequencies, </a:t>
            </a:r>
            <a:r>
              <a:rPr lang="en-US" sz="2000" dirty="0">
                <a:sym typeface="Wingdings" pitchFamily="2" charset="2"/>
              </a:rPr>
              <a:t>the resistor dominates, </a:t>
            </a:r>
            <a:r>
              <a:rPr lang="en-US" sz="2000" dirty="0"/>
              <a:t>R &gt;&gt; |</a:t>
            </a:r>
            <a:r>
              <a:rPr lang="en-US" sz="2000" dirty="0" err="1"/>
              <a:t>Zc</a:t>
            </a:r>
            <a:r>
              <a:rPr lang="en-US" sz="2000" dirty="0"/>
              <a:t>|, </a:t>
            </a:r>
            <a:r>
              <a:rPr lang="en-US" sz="2000" dirty="0" err="1">
                <a:sym typeface="Wingdings" pitchFamily="2" charset="2"/>
              </a:rPr>
              <a:t>V</a:t>
            </a:r>
            <a:r>
              <a:rPr lang="en-US" sz="2000" baseline="-25000" dirty="0" err="1">
                <a:sym typeface="Wingdings" pitchFamily="2" charset="2"/>
              </a:rPr>
              <a:t>R</a:t>
            </a:r>
            <a:r>
              <a:rPr lang="en-US" sz="2000" dirty="0" err="1">
                <a:sym typeface="Wingdings" pitchFamily="2" charset="2"/>
              </a:rPr>
              <a:t>~V</a:t>
            </a:r>
            <a:r>
              <a:rPr lang="en-US" sz="2000" baseline="-25000" dirty="0" err="1">
                <a:sym typeface="Wingdings" pitchFamily="2" charset="2"/>
              </a:rPr>
              <a:t>in</a:t>
            </a:r>
            <a:r>
              <a:rPr lang="en-US" sz="2000" dirty="0">
                <a:sym typeface="Wingdings" pitchFamily="2" charset="2"/>
              </a:rPr>
              <a:t>, and current and voltage are in phase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The “corner </a:t>
            </a:r>
            <a:r>
              <a:rPr lang="en-US" sz="2000" dirty="0" err="1">
                <a:sym typeface="Wingdings" pitchFamily="2" charset="2"/>
              </a:rPr>
              <a:t>frequen</a:t>
            </a:r>
            <a:r>
              <a:rPr lang="en-US" sz="2000" dirty="0">
                <a:sym typeface="Wingdings" pitchFamily="2" charset="2"/>
              </a:rPr>
              <a:t>-cy”, fc = 1/(2*pi*R*C) is the transition, where |</a:t>
            </a:r>
            <a:r>
              <a:rPr lang="en-US" sz="2000" dirty="0" err="1">
                <a:sym typeface="Wingdings" pitchFamily="2" charset="2"/>
              </a:rPr>
              <a:t>Zc</a:t>
            </a:r>
            <a:r>
              <a:rPr lang="en-US" sz="2000" dirty="0">
                <a:sym typeface="Wingdings" pitchFamily="2" charset="2"/>
              </a:rPr>
              <a:t>| = R, |V</a:t>
            </a:r>
            <a:r>
              <a:rPr lang="en-US" sz="2000" baseline="-25000" dirty="0">
                <a:sym typeface="Wingdings" pitchFamily="2" charset="2"/>
              </a:rPr>
              <a:t>R</a:t>
            </a:r>
            <a:r>
              <a:rPr lang="en-US" sz="2000" dirty="0">
                <a:sym typeface="Wingdings" pitchFamily="2" charset="2"/>
              </a:rPr>
              <a:t>| = |</a:t>
            </a:r>
            <a:r>
              <a:rPr lang="en-US" sz="2000" dirty="0" err="1">
                <a:sym typeface="Wingdings" pitchFamily="2" charset="2"/>
              </a:rPr>
              <a:t>Vc</a:t>
            </a:r>
            <a:r>
              <a:rPr lang="en-US" sz="2000" dirty="0">
                <a:sym typeface="Wingdings" pitchFamily="2" charset="2"/>
              </a:rPr>
              <a:t>| at phases ±45°relative to V</a:t>
            </a:r>
            <a:r>
              <a:rPr lang="en-US" sz="2000" baseline="-25000" dirty="0">
                <a:sym typeface="Wingdings" pitchFamily="2" charset="2"/>
              </a:rPr>
              <a:t>in</a:t>
            </a:r>
            <a:endParaRPr 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154971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Decibels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399"/>
            <a:ext cx="8066314" cy="5214257"/>
          </a:xfrm>
        </p:spPr>
        <p:txBody>
          <a:bodyPr/>
          <a:lstStyle/>
          <a:p>
            <a:pPr eaLnBrk="1" hangingPunct="1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Plotting the frequency response on a loglog plot, the two regimes of R-dominance and C-dominance are piecewise linear, the asymptotes crossing at the “corner frequency”</a:t>
            </a:r>
          </a:p>
          <a:p>
            <a:pPr eaLnBrk="1" hangingPunct="1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The y-axis is typically specified in decibels: 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	</a:t>
            </a:r>
            <a:r>
              <a:rPr lang="en-US" sz="2000" dirty="0" err="1">
                <a:latin typeface="Arial" charset="0"/>
                <a:ea typeface="ＭＳ Ｐゴシック" charset="0"/>
                <a:cs typeface="ＭＳ Ｐゴシック" charset="0"/>
              </a:rPr>
              <a:t>db</a:t>
            </a:r>
            <a:r>
              <a:rPr lang="en-US" sz="2000" baseline="-25000" dirty="0" err="1">
                <a:latin typeface="Arial" charset="0"/>
                <a:ea typeface="ＭＳ Ｐゴシック" charset="0"/>
                <a:cs typeface="ＭＳ Ｐゴシック" charset="0"/>
              </a:rPr>
              <a:t>amplitude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 =10 * log</a:t>
            </a:r>
            <a:r>
              <a:rPr lang="en-US" sz="2000" baseline="-25000" dirty="0">
                <a:latin typeface="Arial" charset="0"/>
                <a:ea typeface="ＭＳ Ｐゴシック" charset="0"/>
                <a:cs typeface="ＭＳ Ｐゴシック" charset="0"/>
              </a:rPr>
              <a:t>10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dirty="0" err="1">
                <a:latin typeface="Arial" charset="0"/>
                <a:ea typeface="ＭＳ Ｐゴシック" charset="0"/>
                <a:cs typeface="ＭＳ Ｐゴシック" charset="0"/>
              </a:rPr>
              <a:t>Vout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/Vin) 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Often power ratios are plotted, and since power ~ V</a:t>
            </a:r>
            <a:r>
              <a:rPr lang="en-US" sz="2000" baseline="30000" dirty="0">
                <a:latin typeface="Arial" charset="0"/>
                <a:ea typeface="ＭＳ Ｐゴシック" charset="0"/>
                <a:cs typeface="ＭＳ Ｐゴシック" charset="0"/>
              </a:rPr>
              <a:t>2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/R, 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	</a:t>
            </a:r>
            <a:r>
              <a:rPr lang="en-US" sz="2000" dirty="0" err="1">
                <a:latin typeface="Arial" charset="0"/>
                <a:ea typeface="ＭＳ Ｐゴシック" charset="0"/>
                <a:cs typeface="ＭＳ Ｐゴシック" charset="0"/>
              </a:rPr>
              <a:t>db</a:t>
            </a:r>
            <a:r>
              <a:rPr lang="en-US" sz="2000" baseline="-25000" dirty="0" err="1">
                <a:latin typeface="Arial" charset="0"/>
                <a:ea typeface="ＭＳ Ｐゴシック" charset="0"/>
                <a:cs typeface="ＭＳ Ｐゴシック" charset="0"/>
              </a:rPr>
              <a:t>pwr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 = 10 log</a:t>
            </a:r>
            <a:r>
              <a:rPr lang="en-US" sz="2000" baseline="-25000" dirty="0">
                <a:latin typeface="Arial" charset="0"/>
                <a:ea typeface="ＭＳ Ｐゴシック" charset="0"/>
                <a:cs typeface="ＭＳ Ｐゴシック" charset="0"/>
              </a:rPr>
              <a:t>10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dirty="0" err="1">
                <a:latin typeface="Arial" charset="0"/>
                <a:ea typeface="ＭＳ Ｐゴシック" charset="0"/>
                <a:cs typeface="ＭＳ Ｐゴシック" charset="0"/>
              </a:rPr>
              <a:t>Vout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/Vin)</a:t>
            </a:r>
            <a:r>
              <a:rPr lang="en-US" sz="2000" baseline="30000" dirty="0">
                <a:latin typeface="Arial" charset="0"/>
                <a:ea typeface="ＭＳ Ｐゴシック" charset="0"/>
                <a:cs typeface="ＭＳ Ｐゴシック" charset="0"/>
              </a:rPr>
              <a:t>2 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= 20 log</a:t>
            </a:r>
            <a:r>
              <a:rPr lang="en-US" sz="2000" baseline="-25000" dirty="0">
                <a:latin typeface="Arial" charset="0"/>
                <a:ea typeface="ＭＳ Ｐゴシック" charset="0"/>
                <a:cs typeface="ＭＳ Ｐゴシック" charset="0"/>
              </a:rPr>
              <a:t>10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000" dirty="0" err="1">
                <a:latin typeface="Arial" charset="0"/>
                <a:ea typeface="ＭＳ Ｐゴシック" charset="0"/>
                <a:cs typeface="ＭＳ Ｐゴシック" charset="0"/>
              </a:rPr>
              <a:t>Vout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/Vin)</a:t>
            </a:r>
            <a:endParaRPr lang="en-US" sz="2000" baseline="30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A difference of 3dB means 3 = 10log10(</a:t>
            </a:r>
            <a:r>
              <a:rPr lang="en-US" sz="2000" dirty="0" err="1">
                <a:latin typeface="Arial" charset="0"/>
                <a:ea typeface="ＭＳ Ｐゴシック" charset="0"/>
                <a:cs typeface="ＭＳ Ｐゴシック" charset="0"/>
              </a:rPr>
              <a:t>Vout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/Vin) 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  <a:sym typeface="Wingdings" pitchFamily="2" charset="2"/>
              </a:rPr>
              <a:t> </a:t>
            </a:r>
            <a:r>
              <a:rPr lang="en-US" sz="2000" dirty="0" err="1">
                <a:latin typeface="Arial" charset="0"/>
                <a:ea typeface="ＭＳ Ｐゴシック" charset="0"/>
                <a:cs typeface="ＭＳ Ｐゴシック" charset="0"/>
                <a:sym typeface="Wingdings" pitchFamily="2" charset="2"/>
              </a:rPr>
              <a:t>Vout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  <a:sym typeface="Wingdings" pitchFamily="2" charset="2"/>
              </a:rPr>
              <a:t>/Vin=10^.3 = 2. So if one voltage is 3db more than another, that means its twice as big, -3dB means ½ as much, … </a:t>
            </a:r>
          </a:p>
          <a:p>
            <a:pPr eaLnBrk="1" hangingPunct="1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  <a:sym typeface="Wingdings" pitchFamily="2" charset="2"/>
              </a:rPr>
              <a:t>If a signal goes through 2 amplifiers in series, the first has a gain of 3dB and the second 5dB, then how much bigger is the signal coming out? </a:t>
            </a:r>
          </a:p>
          <a:p>
            <a:pPr eaLnBrk="1" hangingPunct="1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  <a:sym typeface="Wingdings" pitchFamily="2" charset="2"/>
              </a:rPr>
              <a:t>3dB + 5dB = 8dB (since log(A*B) = log(A) + log(B)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  <a:sym typeface="Wingdings" pitchFamily="2" charset="2"/>
              </a:rPr>
              <a:t> When measuring gain in dBs, add instead of multiplying … easier</a:t>
            </a: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29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89D8FBA-7D52-F548-A633-FA0090481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340" y="994675"/>
            <a:ext cx="6422695" cy="52835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6AD852-F3A6-3647-AE7D-CC3107C12A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831" y="4240595"/>
            <a:ext cx="1588144" cy="1468382"/>
          </a:xfrm>
          <a:prstGeom prst="rect">
            <a:avLst/>
          </a:prstGeom>
        </p:spPr>
      </p:pic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R-C circuits are frequency “filters”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“Low pass filter”</a:t>
            </a: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“High pass filter”</a:t>
            </a: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47BDF6-81EE-A148-AF27-1E1BA635D87E}"/>
              </a:ext>
            </a:extLst>
          </p:cNvPr>
          <p:cNvGrpSpPr/>
          <p:nvPr/>
        </p:nvGrpSpPr>
        <p:grpSpPr>
          <a:xfrm>
            <a:off x="757989" y="1671852"/>
            <a:ext cx="1503948" cy="3763068"/>
            <a:chOff x="6705600" y="1690476"/>
            <a:chExt cx="2420353" cy="586518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B32E5E3-91BE-A748-B852-E711313E3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05600" y="1690476"/>
              <a:ext cx="2420353" cy="228863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564FF0-DACA-2548-B04B-EDDB7712CDA4}"/>
                </a:ext>
              </a:extLst>
            </p:cNvPr>
            <p:cNvSpPr txBox="1"/>
            <p:nvPr/>
          </p:nvSpPr>
          <p:spPr>
            <a:xfrm>
              <a:off x="7398417" y="2603959"/>
              <a:ext cx="103471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i="1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6D27DD-212D-C54C-A52D-0BFAB8293A83}"/>
                </a:ext>
              </a:extLst>
            </p:cNvPr>
            <p:cNvSpPr txBox="1"/>
            <p:nvPr/>
          </p:nvSpPr>
          <p:spPr>
            <a:xfrm>
              <a:off x="7553319" y="7217105"/>
              <a:ext cx="1034717" cy="33855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i="1" baseline="30000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6B50A4-9D71-324F-AC22-C703B74F23C8}"/>
              </a:ext>
            </a:extLst>
          </p:cNvPr>
          <p:cNvCxnSpPr/>
          <p:nvPr/>
        </p:nvCxnSpPr>
        <p:spPr bwMode="auto">
          <a:xfrm>
            <a:off x="1937084" y="2430379"/>
            <a:ext cx="589548" cy="0"/>
          </a:xfrm>
          <a:prstGeom prst="straightConnector1">
            <a:avLst/>
          </a:prstGeom>
          <a:ln w="50800">
            <a:solidFill>
              <a:srgbClr val="00B050"/>
            </a:solidFill>
            <a:headEnd type="oval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A97FE5-C5AE-8249-A7DA-306860DA46B6}"/>
              </a:ext>
            </a:extLst>
          </p:cNvPr>
          <p:cNvSpPr txBox="1"/>
          <p:nvPr/>
        </p:nvSpPr>
        <p:spPr>
          <a:xfrm>
            <a:off x="2189748" y="2492093"/>
            <a:ext cx="84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Vout</a:t>
            </a:r>
            <a:r>
              <a:rPr lang="en-US" sz="1400" dirty="0"/>
              <a:t>/Vin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4956A-72F0-174E-BD41-231725D03D87}"/>
              </a:ext>
            </a:extLst>
          </p:cNvPr>
          <p:cNvSpPr txBox="1"/>
          <p:nvPr/>
        </p:nvSpPr>
        <p:spPr>
          <a:xfrm>
            <a:off x="1295564" y="4894172"/>
            <a:ext cx="538361" cy="1582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i="1" baseline="30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FEA2E-F5D3-874D-AB35-C7620C1AEE5C}"/>
              </a:ext>
            </a:extLst>
          </p:cNvPr>
          <p:cNvCxnSpPr/>
          <p:nvPr/>
        </p:nvCxnSpPr>
        <p:spPr bwMode="auto">
          <a:xfrm>
            <a:off x="2082103" y="4921351"/>
            <a:ext cx="589548" cy="0"/>
          </a:xfrm>
          <a:prstGeom prst="straightConnector1">
            <a:avLst/>
          </a:prstGeom>
          <a:ln w="50800">
            <a:solidFill>
              <a:srgbClr val="FF0000"/>
            </a:solidFill>
            <a:headEnd type="oval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095354B-1383-B04D-82E3-9FF75AE90A25}"/>
              </a:ext>
            </a:extLst>
          </p:cNvPr>
          <p:cNvSpPr txBox="1"/>
          <p:nvPr/>
        </p:nvSpPr>
        <p:spPr>
          <a:xfrm>
            <a:off x="2334767" y="4983065"/>
            <a:ext cx="84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Vout</a:t>
            </a:r>
            <a:r>
              <a:rPr lang="en-US" sz="1400" dirty="0"/>
              <a:t>/Vin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B7888B-B1FF-0640-B0D5-6ECCD8EF45BA}"/>
              </a:ext>
            </a:extLst>
          </p:cNvPr>
          <p:cNvSpPr txBox="1"/>
          <p:nvPr/>
        </p:nvSpPr>
        <p:spPr>
          <a:xfrm>
            <a:off x="757989" y="6188727"/>
            <a:ext cx="77035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Note: Just changed the top plot to: 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semilogx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(f,10*log10(abs([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])/Vo));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('gain (dB)')</a:t>
            </a:r>
          </a:p>
          <a:p>
            <a:endParaRPr lang="en-US" dirty="0"/>
          </a:p>
        </p:txBody>
      </p:sp>
      <p:grpSp>
        <p:nvGrpSpPr>
          <p:cNvPr id="20" name="Group 222">
            <a:extLst>
              <a:ext uri="{FF2B5EF4-FFF2-40B4-BE49-F238E27FC236}">
                <a16:creationId xmlns:a16="http://schemas.microsoft.com/office/drawing/2014/main" id="{AF9AF366-C21A-7A45-B8CF-989E7C384DFC}"/>
              </a:ext>
            </a:extLst>
          </p:cNvPr>
          <p:cNvGrpSpPr>
            <a:grpSpLocks/>
          </p:cNvGrpSpPr>
          <p:nvPr/>
        </p:nvGrpSpPr>
        <p:grpSpPr bwMode="auto">
          <a:xfrm>
            <a:off x="1357562" y="5661529"/>
            <a:ext cx="304800" cy="381000"/>
            <a:chOff x="4272" y="3072"/>
            <a:chExt cx="192" cy="240"/>
          </a:xfrm>
        </p:grpSpPr>
        <p:sp>
          <p:nvSpPr>
            <p:cNvPr id="21" name="Line 99">
              <a:extLst>
                <a:ext uri="{FF2B5EF4-FFF2-40B4-BE49-F238E27FC236}">
                  <a16:creationId xmlns:a16="http://schemas.microsoft.com/office/drawing/2014/main" id="{3E6DD0C1-B10D-7A4F-B77A-0F5371B515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72" y="32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00">
              <a:extLst>
                <a:ext uri="{FF2B5EF4-FFF2-40B4-BE49-F238E27FC236}">
                  <a16:creationId xmlns:a16="http://schemas.microsoft.com/office/drawing/2014/main" id="{3D678D51-DDF3-9140-B146-E53AEA1EF6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68" y="307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01">
              <a:extLst>
                <a:ext uri="{FF2B5EF4-FFF2-40B4-BE49-F238E27FC236}">
                  <a16:creationId xmlns:a16="http://schemas.microsoft.com/office/drawing/2014/main" id="{FEDE1E68-B179-D245-AB02-AB9E294608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324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02">
              <a:extLst>
                <a:ext uri="{FF2B5EF4-FFF2-40B4-BE49-F238E27FC236}">
                  <a16:creationId xmlns:a16="http://schemas.microsoft.com/office/drawing/2014/main" id="{933F9322-5D4B-D742-A720-04EEC35765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0" y="326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03">
              <a:extLst>
                <a:ext uri="{FF2B5EF4-FFF2-40B4-BE49-F238E27FC236}">
                  <a16:creationId xmlns:a16="http://schemas.microsoft.com/office/drawing/2014/main" id="{E4AF4469-1C1B-094B-A0FB-7B8F78EECC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44" y="32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04">
              <a:extLst>
                <a:ext uri="{FF2B5EF4-FFF2-40B4-BE49-F238E27FC236}">
                  <a16:creationId xmlns:a16="http://schemas.microsoft.com/office/drawing/2014/main" id="{DE2C740B-9972-5741-B0DA-A38AB24B87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365" y="3312"/>
              <a:ext cx="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22">
            <a:extLst>
              <a:ext uri="{FF2B5EF4-FFF2-40B4-BE49-F238E27FC236}">
                <a16:creationId xmlns:a16="http://schemas.microsoft.com/office/drawing/2014/main" id="{FD0211FF-86A3-7C48-8AFD-E2366830B692}"/>
              </a:ext>
            </a:extLst>
          </p:cNvPr>
          <p:cNvGrpSpPr>
            <a:grpSpLocks/>
          </p:cNvGrpSpPr>
          <p:nvPr/>
        </p:nvGrpSpPr>
        <p:grpSpPr bwMode="auto">
          <a:xfrm>
            <a:off x="1280559" y="3072333"/>
            <a:ext cx="304800" cy="381000"/>
            <a:chOff x="4272" y="3072"/>
            <a:chExt cx="192" cy="240"/>
          </a:xfrm>
        </p:grpSpPr>
        <p:sp>
          <p:nvSpPr>
            <p:cNvPr id="28" name="Line 99">
              <a:extLst>
                <a:ext uri="{FF2B5EF4-FFF2-40B4-BE49-F238E27FC236}">
                  <a16:creationId xmlns:a16="http://schemas.microsoft.com/office/drawing/2014/main" id="{A42A3B4C-2FD1-1948-B6F9-40B4811186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72" y="32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00">
              <a:extLst>
                <a:ext uri="{FF2B5EF4-FFF2-40B4-BE49-F238E27FC236}">
                  <a16:creationId xmlns:a16="http://schemas.microsoft.com/office/drawing/2014/main" id="{F1DF2AA8-3FAA-F745-8BBE-2309876F40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68" y="307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01">
              <a:extLst>
                <a:ext uri="{FF2B5EF4-FFF2-40B4-BE49-F238E27FC236}">
                  <a16:creationId xmlns:a16="http://schemas.microsoft.com/office/drawing/2014/main" id="{5A9DAD55-A80E-134E-9D09-0EFC5E4D8E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324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102">
              <a:extLst>
                <a:ext uri="{FF2B5EF4-FFF2-40B4-BE49-F238E27FC236}">
                  <a16:creationId xmlns:a16="http://schemas.microsoft.com/office/drawing/2014/main" id="{E80E535A-BF4C-AC4E-809B-476A124F56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0" y="326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103">
              <a:extLst>
                <a:ext uri="{FF2B5EF4-FFF2-40B4-BE49-F238E27FC236}">
                  <a16:creationId xmlns:a16="http://schemas.microsoft.com/office/drawing/2014/main" id="{606D1BDE-EC8E-D448-B6B9-346DB1F897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44" y="32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04">
              <a:extLst>
                <a:ext uri="{FF2B5EF4-FFF2-40B4-BE49-F238E27FC236}">
                  <a16:creationId xmlns:a16="http://schemas.microsoft.com/office/drawing/2014/main" id="{4F34CC6D-76E4-E445-B90C-D50DA57AFB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365" y="3312"/>
              <a:ext cx="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447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Time vs. Frequency domains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It’s often easier for us to think in the time domain, i.e., V(t), voltage plotted vs. time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Oscilloscopes usually operate in the time domain </a:t>
            </a:r>
          </a:p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Most AC circuit analysis is done in the frequency domain!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V(f) or V(</a:t>
            </a:r>
            <a:r>
              <a:rPr lang="en-US" dirty="0">
                <a:latin typeface="Symbol" pitchFamily="2" charset="2"/>
                <a:ea typeface="ＭＳ Ｐゴシック" charset="0"/>
                <a:cs typeface="ＭＳ Ｐゴシック" charset="0"/>
              </a:rPr>
              <a:t>w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), voltage plotted vs. frequency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Spectrum analyzers, and other instruments: network analyzers, impedance analyzers, display the frequency domain continuously in “real time”</a:t>
            </a:r>
          </a:p>
          <a:p>
            <a:pPr lvl="1"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Time domain behavior can be easy to predict from frequency domain analysis </a:t>
            </a:r>
          </a:p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Some modern digital oscilloscopes and analyzers can display both at the same time … (fun toys!!)</a:t>
            </a:r>
          </a:p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858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3C4D-80E4-0B41-B71E-09A53030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23" y="16508"/>
            <a:ext cx="4149411" cy="1143000"/>
          </a:xfrm>
        </p:spPr>
        <p:txBody>
          <a:bodyPr/>
          <a:lstStyle/>
          <a:p>
            <a:pPr algn="l"/>
            <a:r>
              <a:rPr lang="en-US" dirty="0"/>
              <a:t>Frequency domain analyzers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FB88F-2C9D-BA45-BD96-47AA1E418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89" y="1314699"/>
            <a:ext cx="3897163" cy="1806203"/>
          </a:xfrm>
        </p:spPr>
        <p:txBody>
          <a:bodyPr/>
          <a:lstStyle/>
          <a:p>
            <a:r>
              <a:rPr lang="en-US" dirty="0"/>
              <a:t>Spectrum analyzers, network analyzers, and </a:t>
            </a:r>
            <a:r>
              <a:rPr lang="en-US"/>
              <a:t>service monitors (for radios</a:t>
            </a:r>
            <a:r>
              <a:rPr lang="en-US" dirty="0"/>
              <a:t>) facilitate debugging in the frequency domain</a:t>
            </a:r>
          </a:p>
          <a:p>
            <a:r>
              <a:rPr lang="en-US" dirty="0"/>
              <a:t>They are $$$$</a:t>
            </a:r>
          </a:p>
        </p:txBody>
      </p:sp>
      <p:pic>
        <p:nvPicPr>
          <p:cNvPr id="17410" name="Picture 2" descr="US-Instrument Services. Motorola R2600D 1 GHz Communications Service Monitor">
            <a:extLst>
              <a:ext uri="{FF2B5EF4-FFF2-40B4-BE49-F238E27FC236}">
                <a16:creationId xmlns:a16="http://schemas.microsoft.com/office/drawing/2014/main" id="{94E3F386-355C-1B47-8079-C36794DF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77407"/>
            <a:ext cx="4321208" cy="238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High-End Signal and Spectrum Analyzer RS FSW85">
            <a:extLst>
              <a:ext uri="{FF2B5EF4-FFF2-40B4-BE49-F238E27FC236}">
                <a16:creationId xmlns:a16="http://schemas.microsoft.com/office/drawing/2014/main" id="{36D51FDD-C238-5945-BFD1-3E9ABE9A15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7" t="11747" r="7748" b="31286"/>
          <a:stretch/>
        </p:blipFill>
        <p:spPr bwMode="auto">
          <a:xfrm>
            <a:off x="3922411" y="588008"/>
            <a:ext cx="5103800" cy="262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0" name="Picture 12">
            <a:extLst>
              <a:ext uri="{FF2B5EF4-FFF2-40B4-BE49-F238E27FC236}">
                <a16:creationId xmlns:a16="http://schemas.microsoft.com/office/drawing/2014/main" id="{F63F6F7E-9A9D-E043-9737-B7EE25704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4" t="6836" r="10231" b="9788"/>
          <a:stretch/>
        </p:blipFill>
        <p:spPr bwMode="auto">
          <a:xfrm>
            <a:off x="4127768" y="3765330"/>
            <a:ext cx="5016232" cy="305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6218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" charset="0"/>
            <a:ea typeface="ＭＳ Ｐゴシック" pitchFamily="-1" charset="-128"/>
            <a:cs typeface="ＭＳ Ｐゴシック" pitchFamily="-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" charset="0"/>
            <a:ea typeface="ＭＳ Ｐゴシック" pitchFamily="-1" charset="-128"/>
            <a:cs typeface="ＭＳ Ｐゴシック" pitchFamily="-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39291</TotalTime>
  <Words>1552</Words>
  <Application>Microsoft Macintosh PowerPoint</Application>
  <PresentationFormat>On-screen Show (4:3)</PresentationFormat>
  <Paragraphs>164</Paragraphs>
  <Slides>13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Courier New</vt:lpstr>
      <vt:lpstr>Menlo</vt:lpstr>
      <vt:lpstr>Symbol</vt:lpstr>
      <vt:lpstr>Wingdings</vt:lpstr>
      <vt:lpstr>Blank Presentation</vt:lpstr>
      <vt:lpstr>Equation</vt:lpstr>
      <vt:lpstr>Capacitors and  Alternating Current (AC) II. Simulation</vt:lpstr>
      <vt:lpstr>Sinusoidal RC circuit</vt:lpstr>
      <vt:lpstr>Matlab Simulation</vt:lpstr>
      <vt:lpstr>Time domain</vt:lpstr>
      <vt:lpstr>Simulated waveforms</vt:lpstr>
      <vt:lpstr>Kirchhoff’s Law </vt:lpstr>
      <vt:lpstr>Bode Plot</vt:lpstr>
      <vt:lpstr>bodePlot.m</vt:lpstr>
      <vt:lpstr>Bode Plot</vt:lpstr>
      <vt:lpstr>Decibels</vt:lpstr>
      <vt:lpstr>R-C circuits are frequency “filters”</vt:lpstr>
      <vt:lpstr>Time vs. Frequency domains</vt:lpstr>
      <vt:lpstr>Frequency domain analyzers </vt:lpstr>
    </vt:vector>
  </TitlesOfParts>
  <Company>brian rasnow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DC Circuits</dc:title>
  <dc:creator>brian rasnow</dc:creator>
  <cp:lastModifiedBy>Rasnow, Brian K.</cp:lastModifiedBy>
  <cp:revision>223</cp:revision>
  <cp:lastPrinted>2019-10-07T20:55:29Z</cp:lastPrinted>
  <dcterms:created xsi:type="dcterms:W3CDTF">2012-02-03T03:15:58Z</dcterms:created>
  <dcterms:modified xsi:type="dcterms:W3CDTF">2023-10-16T18:47:23Z</dcterms:modified>
</cp:coreProperties>
</file>