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59" r:id="rId4"/>
    <p:sldId id="260" r:id="rId5"/>
    <p:sldId id="262" r:id="rId6"/>
    <p:sldId id="339" r:id="rId7"/>
    <p:sldId id="263" r:id="rId8"/>
    <p:sldId id="264" r:id="rId9"/>
    <p:sldId id="266" r:id="rId10"/>
    <p:sldId id="265" r:id="rId11"/>
    <p:sldId id="267" r:id="rId12"/>
    <p:sldId id="268" r:id="rId13"/>
    <p:sldId id="314" r:id="rId14"/>
    <p:sldId id="334" r:id="rId15"/>
    <p:sldId id="335" r:id="rId16"/>
    <p:sldId id="336" r:id="rId17"/>
    <p:sldId id="33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21"/>
    <p:restoredTop sz="96327"/>
  </p:normalViewPr>
  <p:slideViewPr>
    <p:cSldViewPr snapToGrid="0" snapToObjects="1">
      <p:cViewPr varScale="1">
        <p:scale>
          <a:sx n="161" d="100"/>
          <a:sy n="161" d="100"/>
        </p:scale>
        <p:origin x="640"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BABF7C-2A93-DF4C-B5D7-48A7AD677704}" type="datetimeFigureOut">
              <a:rPr lang="en-US" smtClean="0"/>
              <a:t>3/8/22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3567D-25F2-1345-9EAE-B4F67A09D2A4}" type="slidenum">
              <a:rPr lang="en-US" smtClean="0"/>
              <a:t>‹#›</a:t>
            </a:fld>
            <a:endParaRPr lang="en-US"/>
          </a:p>
        </p:txBody>
      </p:sp>
    </p:spTree>
    <p:extLst>
      <p:ext uri="{BB962C8B-B14F-4D97-AF65-F5344CB8AC3E}">
        <p14:creationId xmlns:p14="http://schemas.microsoft.com/office/powerpoint/2010/main" val="3827134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9EBC51A-0460-9A44-84DF-95A9F86DA60B}" type="slidenum">
              <a:rPr lang="en-US" smtClean="0"/>
              <a:pPr>
                <a:defRPr/>
              </a:pPr>
              <a:t>16</a:t>
            </a:fld>
            <a:endParaRPr lang="en-US"/>
          </a:p>
        </p:txBody>
      </p:sp>
    </p:spTree>
    <p:extLst>
      <p:ext uri="{BB962C8B-B14F-4D97-AF65-F5344CB8AC3E}">
        <p14:creationId xmlns:p14="http://schemas.microsoft.com/office/powerpoint/2010/main" val="1190233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634CF22-F938-164D-AFAF-85CDD3FBF4CD}" type="datetimeFigureOut">
              <a:rPr lang="en-US" smtClean="0"/>
              <a:t>3/8/22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648690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34CF22-F938-164D-AFAF-85CDD3FBF4CD}" type="datetimeFigureOut">
              <a:rPr lang="en-US" smtClean="0"/>
              <a:t>3/8/22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3574933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34CF22-F938-164D-AFAF-85CDD3FBF4CD}" type="datetimeFigureOut">
              <a:rPr lang="en-US" smtClean="0"/>
              <a:t>3/8/22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1513612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634CF22-F938-164D-AFAF-85CDD3FBF4CD}" type="datetimeFigureOut">
              <a:rPr lang="en-US" smtClean="0"/>
              <a:t>3/8/22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835281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634CF22-F938-164D-AFAF-85CDD3FBF4CD}" type="datetimeFigureOut">
              <a:rPr lang="en-US" smtClean="0"/>
              <a:t>3/8/22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170179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34CF22-F938-164D-AFAF-85CDD3FBF4CD}" type="datetimeFigureOut">
              <a:rPr lang="en-US" smtClean="0"/>
              <a:t>3/8/22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143152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34CF22-F938-164D-AFAF-85CDD3FBF4CD}" type="datetimeFigureOut">
              <a:rPr lang="en-US" smtClean="0"/>
              <a:t>3/8/22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513177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34CF22-F938-164D-AFAF-85CDD3FBF4CD}" type="datetimeFigureOut">
              <a:rPr lang="en-US" smtClean="0"/>
              <a:t>3/8/22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3842490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34CF22-F938-164D-AFAF-85CDD3FBF4CD}" type="datetimeFigureOut">
              <a:rPr lang="en-US" smtClean="0"/>
              <a:t>3/8/22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1893854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34CF22-F938-164D-AFAF-85CDD3FBF4CD}" type="datetimeFigureOut">
              <a:rPr lang="en-US" smtClean="0"/>
              <a:t>3/8/22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1289685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34CF22-F938-164D-AFAF-85CDD3FBF4CD}" type="datetimeFigureOut">
              <a:rPr lang="en-US" smtClean="0"/>
              <a:t>3/8/22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2C0F9A-4125-8B4D-86A9-E0D40D050B7B}" type="slidenum">
              <a:rPr lang="en-US" smtClean="0"/>
              <a:t>‹#›</a:t>
            </a:fld>
            <a:endParaRPr lang="en-US"/>
          </a:p>
        </p:txBody>
      </p:sp>
    </p:spTree>
    <p:extLst>
      <p:ext uri="{BB962C8B-B14F-4D97-AF65-F5344CB8AC3E}">
        <p14:creationId xmlns:p14="http://schemas.microsoft.com/office/powerpoint/2010/main" val="2335033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777"/>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137224"/>
            <a:ext cx="8229600" cy="49889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C634CF22-F938-164D-AFAF-85CDD3FBF4CD}" type="datetimeFigureOut">
              <a:rPr lang="en-US" smtClean="0"/>
              <a:pPr/>
              <a:t>3/8/22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002C0F9A-4125-8B4D-86A9-E0D40D050B7B}" type="slidenum">
              <a:rPr lang="en-US" smtClean="0"/>
              <a:pPr/>
              <a:t>‹#›</a:t>
            </a:fld>
            <a:endParaRPr lang="en-US" dirty="0"/>
          </a:p>
        </p:txBody>
      </p:sp>
    </p:spTree>
    <p:extLst>
      <p:ext uri="{BB962C8B-B14F-4D97-AF65-F5344CB8AC3E}">
        <p14:creationId xmlns:p14="http://schemas.microsoft.com/office/powerpoint/2010/main" val="231023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6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hyperlink" Target="https://www.ebay.com/itm/USB-Digital-Voltage-Charging-Tester-Power-Meter-Tester-Current-Charger-Monitor/174409336767"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owFastCanWeTurnThePot/howFastCanWeTurnThePot.ino"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hyperlink" Target="http://www.processing.org/" TargetMode="External"/><Relationship Id="rId2" Type="http://schemas.openxmlformats.org/officeDocument/2006/relationships/hyperlink" Target="http://www.jupyter.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Temporal skewing</a:t>
            </a:r>
            <a:br>
              <a:rPr lang="en-US" dirty="0"/>
            </a:br>
            <a:r>
              <a:rPr lang="en-US" sz="2400" i="1" dirty="0"/>
              <a:t>huh??</a:t>
            </a:r>
            <a:endParaRPr lang="en-US" i="1" dirty="0"/>
          </a:p>
        </p:txBody>
      </p:sp>
      <p:sp>
        <p:nvSpPr>
          <p:cNvPr id="3" name="Subtitle 2"/>
          <p:cNvSpPr>
            <a:spLocks noGrp="1"/>
          </p:cNvSpPr>
          <p:nvPr>
            <p:ph type="subTitle" idx="1"/>
          </p:nvPr>
        </p:nvSpPr>
        <p:spPr/>
        <p:txBody>
          <a:bodyPr/>
          <a:lstStyle/>
          <a:p>
            <a:r>
              <a:rPr lang="en-US" dirty="0"/>
              <a:t>Week 6a</a:t>
            </a:r>
          </a:p>
        </p:txBody>
      </p:sp>
    </p:spTree>
    <p:extLst>
      <p:ext uri="{BB962C8B-B14F-4D97-AF65-F5344CB8AC3E}">
        <p14:creationId xmlns:p14="http://schemas.microsoft.com/office/powerpoint/2010/main" val="2452986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23E30-CAE3-BD48-9BCD-0CC6DC850471}"/>
              </a:ext>
            </a:extLst>
          </p:cNvPr>
          <p:cNvSpPr>
            <a:spLocks noGrp="1"/>
          </p:cNvSpPr>
          <p:nvPr>
            <p:ph type="title"/>
          </p:nvPr>
        </p:nvSpPr>
        <p:spPr/>
        <p:txBody>
          <a:bodyPr/>
          <a:lstStyle/>
          <a:p>
            <a:r>
              <a:rPr lang="en-US" dirty="0"/>
              <a:t>I burned out an Arduino </a:t>
            </a:r>
          </a:p>
        </p:txBody>
      </p:sp>
      <p:sp>
        <p:nvSpPr>
          <p:cNvPr id="3" name="Content Placeholder 2">
            <a:extLst>
              <a:ext uri="{FF2B5EF4-FFF2-40B4-BE49-F238E27FC236}">
                <a16:creationId xmlns:a16="http://schemas.microsoft.com/office/drawing/2014/main" id="{ACEEDA4D-6F9F-8444-9602-F8CA106C2CFA}"/>
              </a:ext>
            </a:extLst>
          </p:cNvPr>
          <p:cNvSpPr>
            <a:spLocks noGrp="1"/>
          </p:cNvSpPr>
          <p:nvPr>
            <p:ph idx="1"/>
          </p:nvPr>
        </p:nvSpPr>
        <p:spPr>
          <a:xfrm>
            <a:off x="457200" y="1137224"/>
            <a:ext cx="8229600" cy="5533740"/>
          </a:xfrm>
        </p:spPr>
        <p:txBody>
          <a:bodyPr>
            <a:normAutofit/>
          </a:bodyPr>
          <a:lstStyle/>
          <a:p>
            <a:r>
              <a:rPr lang="en-US" dirty="0"/>
              <a:t>Arduino Nano’s 5V power supply is a wimp!! Don’t take current from it!! </a:t>
            </a:r>
          </a:p>
          <a:p>
            <a:pPr lvl="1"/>
            <a:r>
              <a:rPr lang="en-US" dirty="0"/>
              <a:t>Pulling ~50mA from the 5V pin burned out the Arduino’s voltage regulator leaving it partially shorted</a:t>
            </a:r>
          </a:p>
          <a:p>
            <a:pPr lvl="1"/>
            <a:r>
              <a:rPr lang="en-US" dirty="0"/>
              <a:t>The Arduino worked for a while longer, although it was stressing the USB port and causing other USB devices to frequently shut down</a:t>
            </a:r>
          </a:p>
          <a:p>
            <a:pPr lvl="1"/>
            <a:r>
              <a:rPr lang="en-US" dirty="0"/>
              <a:t>This was confirmed with a USB power monitor (e.g., &lt;$4 </a:t>
            </a:r>
            <a:r>
              <a:rPr lang="en-US" dirty="0">
                <a:hlinkClick r:id="rId2"/>
              </a:rPr>
              <a:t>https://www.ebay.com/itm/USB-Digital-Voltage-Charging-Tester-Power-Meter-Tester-Current-Charger-Monitor/174409336767</a:t>
            </a:r>
            <a:r>
              <a:rPr lang="en-US" dirty="0"/>
              <a:t> )</a:t>
            </a:r>
          </a:p>
          <a:p>
            <a:pPr lvl="2"/>
            <a:r>
              <a:rPr lang="en-US" dirty="0"/>
              <a:t>Note: I bought a cheap one that was </a:t>
            </a:r>
            <a:br>
              <a:rPr lang="en-US" dirty="0"/>
            </a:br>
            <a:r>
              <a:rPr lang="en-US" dirty="0"/>
              <a:t>grossly inaccurate, my second one </a:t>
            </a:r>
            <a:br>
              <a:rPr lang="en-US" dirty="0"/>
            </a:br>
            <a:r>
              <a:rPr lang="en-US" dirty="0"/>
              <a:t>cost ~$25, has a gorgeous OLED </a:t>
            </a:r>
            <a:br>
              <a:rPr lang="en-US" dirty="0"/>
            </a:br>
            <a:r>
              <a:rPr lang="en-US" dirty="0"/>
              <a:t>display, and has been reliable</a:t>
            </a:r>
          </a:p>
          <a:p>
            <a:pPr marL="0" indent="0">
              <a:buNone/>
            </a:pPr>
            <a:endParaRPr lang="en-US" dirty="0"/>
          </a:p>
        </p:txBody>
      </p:sp>
      <p:pic>
        <p:nvPicPr>
          <p:cNvPr id="4" name="Picture 3">
            <a:extLst>
              <a:ext uri="{FF2B5EF4-FFF2-40B4-BE49-F238E27FC236}">
                <a16:creationId xmlns:a16="http://schemas.microsoft.com/office/drawing/2014/main" id="{358456B4-6878-9F40-8273-462434D457FB}"/>
              </a:ext>
            </a:extLst>
          </p:cNvPr>
          <p:cNvPicPr>
            <a:picLocks noChangeAspect="1"/>
          </p:cNvPicPr>
          <p:nvPr/>
        </p:nvPicPr>
        <p:blipFill rotWithShape="1">
          <a:blip r:embed="rId3"/>
          <a:srcRect l="16123" t="4145" r="15398" b="10689"/>
          <a:stretch/>
        </p:blipFill>
        <p:spPr>
          <a:xfrm>
            <a:off x="5372236" y="4288735"/>
            <a:ext cx="3582922" cy="2454966"/>
          </a:xfrm>
          <a:prstGeom prst="rect">
            <a:avLst/>
          </a:prstGeom>
        </p:spPr>
      </p:pic>
    </p:spTree>
    <p:extLst>
      <p:ext uri="{BB962C8B-B14F-4D97-AF65-F5344CB8AC3E}">
        <p14:creationId xmlns:p14="http://schemas.microsoft.com/office/powerpoint/2010/main" val="587731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A5DFF-804C-6E4B-8D12-B1ED8C520CBA}"/>
              </a:ext>
            </a:extLst>
          </p:cNvPr>
          <p:cNvSpPr>
            <a:spLocks noGrp="1"/>
          </p:cNvSpPr>
          <p:nvPr>
            <p:ph type="title"/>
          </p:nvPr>
        </p:nvSpPr>
        <p:spPr/>
        <p:txBody>
          <a:bodyPr/>
          <a:lstStyle/>
          <a:p>
            <a:r>
              <a:rPr lang="en-US" dirty="0"/>
              <a:t>Bad connections … </a:t>
            </a:r>
          </a:p>
        </p:txBody>
      </p:sp>
      <p:sp>
        <p:nvSpPr>
          <p:cNvPr id="3" name="Content Placeholder 2">
            <a:extLst>
              <a:ext uri="{FF2B5EF4-FFF2-40B4-BE49-F238E27FC236}">
                <a16:creationId xmlns:a16="http://schemas.microsoft.com/office/drawing/2014/main" id="{4FE50A02-FC95-5646-ACFE-0E14624FC4FF}"/>
              </a:ext>
            </a:extLst>
          </p:cNvPr>
          <p:cNvSpPr>
            <a:spLocks noGrp="1"/>
          </p:cNvSpPr>
          <p:nvPr>
            <p:ph idx="1"/>
          </p:nvPr>
        </p:nvSpPr>
        <p:spPr/>
        <p:txBody>
          <a:bodyPr>
            <a:normAutofit fontScale="92500" lnSpcReduction="10000"/>
          </a:bodyPr>
          <a:lstStyle/>
          <a:p>
            <a:r>
              <a:rPr lang="en-US" dirty="0"/>
              <a:t>Trust nothing, verify everything … (and don’t be paranoid …. </a:t>
            </a:r>
            <a:r>
              <a:rPr lang="en-US" dirty="0" err="1"/>
              <a:t>Aaaaaaahhhhhhh</a:t>
            </a:r>
            <a:r>
              <a:rPr lang="en-US" dirty="0"/>
              <a:t>!!!!!) </a:t>
            </a:r>
          </a:p>
          <a:p>
            <a:r>
              <a:rPr lang="en-US" dirty="0"/>
              <a:t>My black alligator clip wire had poor connections</a:t>
            </a:r>
            <a:endParaRPr lang="en-US" dirty="0">
              <a:sym typeface="Wingdings" pitchFamily="2" charset="2"/>
            </a:endParaRPr>
          </a:p>
          <a:p>
            <a:pPr lvl="1"/>
            <a:r>
              <a:rPr lang="en-US" dirty="0">
                <a:sym typeface="Wingdings" pitchFamily="2" charset="2"/>
              </a:rPr>
              <a:t>Identified the problem measuring a resistor’s resistance was unstable </a:t>
            </a:r>
          </a:p>
          <a:p>
            <a:pPr lvl="1"/>
            <a:r>
              <a:rPr lang="en-US" dirty="0">
                <a:sym typeface="Wingdings" pitchFamily="2" charset="2"/>
              </a:rPr>
              <a:t>Isolated the problem by simplifying the loop</a:t>
            </a:r>
          </a:p>
          <a:p>
            <a:pPr lvl="2"/>
            <a:r>
              <a:rPr lang="en-US" dirty="0">
                <a:sym typeface="Wingdings" pitchFamily="2" charset="2"/>
              </a:rPr>
              <a:t>Took out the resistor and 2</a:t>
            </a:r>
            <a:r>
              <a:rPr lang="en-US" baseline="30000" dirty="0">
                <a:sym typeface="Wingdings" pitchFamily="2" charset="2"/>
              </a:rPr>
              <a:t>nd</a:t>
            </a:r>
            <a:r>
              <a:rPr lang="en-US" dirty="0">
                <a:sym typeface="Wingdings" pitchFamily="2" charset="2"/>
              </a:rPr>
              <a:t> clip lead</a:t>
            </a:r>
          </a:p>
          <a:p>
            <a:pPr lvl="1"/>
            <a:r>
              <a:rPr lang="en-US" dirty="0">
                <a:sym typeface="Wingdings" pitchFamily="2" charset="2"/>
              </a:rPr>
              <a:t>Solved by soldering the wires to the alligator clips</a:t>
            </a:r>
          </a:p>
          <a:p>
            <a:pPr lvl="1"/>
            <a:r>
              <a:rPr lang="en-US" dirty="0">
                <a:sym typeface="Wingdings" pitchFamily="2" charset="2"/>
              </a:rPr>
              <a:t>Validated solution by wiggling and seeing no more instability on ohmmeter</a:t>
            </a:r>
            <a:endParaRPr lang="en-US" dirty="0"/>
          </a:p>
          <a:p>
            <a:r>
              <a:rPr lang="en-US" dirty="0"/>
              <a:t>An earlier circuit revealed </a:t>
            </a:r>
            <a:r>
              <a:rPr lang="en-US" dirty="0" err="1"/>
              <a:t>Vref</a:t>
            </a:r>
            <a:r>
              <a:rPr lang="en-US" dirty="0"/>
              <a:t> was varying </a:t>
            </a:r>
          </a:p>
          <a:p>
            <a:pPr lvl="1"/>
            <a:r>
              <a:rPr lang="en-US" dirty="0"/>
              <a:t>Turned out that was not “the problem”, but a </a:t>
            </a:r>
            <a:r>
              <a:rPr lang="en-US" i="1" dirty="0"/>
              <a:t>consequence</a:t>
            </a:r>
            <a:r>
              <a:rPr lang="en-US" dirty="0"/>
              <a:t> of drawing too much current from 5V pin, which eventually burned out the Arduino</a:t>
            </a:r>
          </a:p>
          <a:p>
            <a:pPr lvl="1"/>
            <a:r>
              <a:rPr lang="en-US" dirty="0"/>
              <a:t>I suspected it was a </a:t>
            </a:r>
            <a:r>
              <a:rPr lang="en-US" b="1" dirty="0"/>
              <a:t>proximal cause</a:t>
            </a:r>
            <a:r>
              <a:rPr lang="en-US" dirty="0"/>
              <a:t> because of experience with instabilities in other Arduino circuits </a:t>
            </a:r>
          </a:p>
          <a:p>
            <a:pPr lvl="2"/>
            <a:r>
              <a:rPr lang="en-US" dirty="0"/>
              <a:t>Thus I went down a wrong path … </a:t>
            </a:r>
          </a:p>
          <a:p>
            <a:pPr lvl="2"/>
            <a:r>
              <a:rPr lang="en-US" dirty="0"/>
              <a:t>My prior experiences apparently weren’t as relevant as I thought</a:t>
            </a:r>
          </a:p>
          <a:p>
            <a:pPr lvl="1"/>
            <a:endParaRPr lang="en-US" dirty="0"/>
          </a:p>
        </p:txBody>
      </p:sp>
    </p:spTree>
    <p:extLst>
      <p:ext uri="{BB962C8B-B14F-4D97-AF65-F5344CB8AC3E}">
        <p14:creationId xmlns:p14="http://schemas.microsoft.com/office/powerpoint/2010/main" val="3706609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D43CE-DB51-6844-8C6F-0CC9264A89D0}"/>
              </a:ext>
            </a:extLst>
          </p:cNvPr>
          <p:cNvSpPr>
            <a:spLocks noGrp="1"/>
          </p:cNvSpPr>
          <p:nvPr>
            <p:ph type="title"/>
          </p:nvPr>
        </p:nvSpPr>
        <p:spPr/>
        <p:txBody>
          <a:bodyPr/>
          <a:lstStyle/>
          <a:p>
            <a:r>
              <a:rPr lang="en-US" dirty="0"/>
              <a:t>Good habits … </a:t>
            </a:r>
          </a:p>
        </p:txBody>
      </p:sp>
      <p:sp>
        <p:nvSpPr>
          <p:cNvPr id="3" name="Content Placeholder 2">
            <a:extLst>
              <a:ext uri="{FF2B5EF4-FFF2-40B4-BE49-F238E27FC236}">
                <a16:creationId xmlns:a16="http://schemas.microsoft.com/office/drawing/2014/main" id="{CAFB205C-521B-8E45-91E5-05E7396B9D14}"/>
              </a:ext>
            </a:extLst>
          </p:cNvPr>
          <p:cNvSpPr>
            <a:spLocks noGrp="1"/>
          </p:cNvSpPr>
          <p:nvPr>
            <p:ph idx="1"/>
          </p:nvPr>
        </p:nvSpPr>
        <p:spPr/>
        <p:txBody>
          <a:bodyPr/>
          <a:lstStyle/>
          <a:p>
            <a:r>
              <a:rPr lang="en-US" dirty="0"/>
              <a:t>How do you verify </a:t>
            </a:r>
            <a:r>
              <a:rPr lang="en-US" i="1" dirty="0"/>
              <a:t>everything</a:t>
            </a:r>
            <a:r>
              <a:rPr lang="en-US" dirty="0"/>
              <a:t>? </a:t>
            </a:r>
          </a:p>
          <a:p>
            <a:pPr lvl="1"/>
            <a:r>
              <a:rPr lang="en-US" dirty="0"/>
              <a:t>One at a time</a:t>
            </a:r>
          </a:p>
          <a:p>
            <a:pPr lvl="1"/>
            <a:r>
              <a:rPr lang="en-US" dirty="0"/>
              <a:t>Develop good habits, e.g., </a:t>
            </a:r>
          </a:p>
          <a:p>
            <a:pPr lvl="2"/>
            <a:r>
              <a:rPr lang="en-US" dirty="0"/>
              <a:t>Every time your multimeter is set to ohms, 1</a:t>
            </a:r>
            <a:r>
              <a:rPr lang="en-US" baseline="30000" dirty="0"/>
              <a:t>st</a:t>
            </a:r>
            <a:r>
              <a:rPr lang="en-US" dirty="0"/>
              <a:t> thing you do is measure the loop resistance of the leads and look for instability or offset</a:t>
            </a:r>
          </a:p>
          <a:p>
            <a:pPr lvl="2"/>
            <a:r>
              <a:rPr lang="en-US" dirty="0"/>
              <a:t>Try to predict measurements, extraordinary results require additional validation</a:t>
            </a:r>
          </a:p>
          <a:p>
            <a:pPr lvl="1"/>
            <a:r>
              <a:rPr lang="en-US" dirty="0"/>
              <a:t>Automate testing where possible</a:t>
            </a:r>
          </a:p>
        </p:txBody>
      </p:sp>
    </p:spTree>
    <p:extLst>
      <p:ext uri="{BB962C8B-B14F-4D97-AF65-F5344CB8AC3E}">
        <p14:creationId xmlns:p14="http://schemas.microsoft.com/office/powerpoint/2010/main" val="507602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A2EBB-B485-C44C-AD7C-7E51F3FCA891}"/>
              </a:ext>
            </a:extLst>
          </p:cNvPr>
          <p:cNvSpPr>
            <a:spLocks noGrp="1"/>
          </p:cNvSpPr>
          <p:nvPr>
            <p:ph type="title"/>
          </p:nvPr>
        </p:nvSpPr>
        <p:spPr/>
        <p:txBody>
          <a:bodyPr/>
          <a:lstStyle/>
          <a:p>
            <a:r>
              <a:rPr lang="en-US" dirty="0"/>
              <a:t>How fast can we vary the voltage pot?</a:t>
            </a:r>
          </a:p>
        </p:txBody>
      </p:sp>
      <p:sp>
        <p:nvSpPr>
          <p:cNvPr id="3" name="Content Placeholder 2">
            <a:extLst>
              <a:ext uri="{FF2B5EF4-FFF2-40B4-BE49-F238E27FC236}">
                <a16:creationId xmlns:a16="http://schemas.microsoft.com/office/drawing/2014/main" id="{E910A55D-BEF6-574E-84E8-3AD2E410A555}"/>
              </a:ext>
            </a:extLst>
          </p:cNvPr>
          <p:cNvSpPr>
            <a:spLocks noGrp="1"/>
          </p:cNvSpPr>
          <p:nvPr>
            <p:ph idx="1"/>
          </p:nvPr>
        </p:nvSpPr>
        <p:spPr/>
        <p:txBody>
          <a:bodyPr/>
          <a:lstStyle/>
          <a:p>
            <a:pPr marL="0" indent="0">
              <a:buNone/>
            </a:pPr>
            <a:r>
              <a:rPr lang="en-US" dirty="0"/>
              <a:t>Objective: Our Arduino program measures 3 voltages in rapid succession. If we adjust the power supply too quickly, then the first and last voltages will be different and our data will be skewed. Our goal now is to determine how fast is too fast to turn the knob. </a:t>
            </a:r>
          </a:p>
          <a:p>
            <a:pPr marL="0" indent="0">
              <a:buNone/>
            </a:pPr>
            <a:endParaRPr lang="en-US" dirty="0"/>
          </a:p>
          <a:p>
            <a:pPr marL="0" indent="0">
              <a:buNone/>
            </a:pPr>
            <a:r>
              <a:rPr lang="en-US" dirty="0"/>
              <a:t>Methods: </a:t>
            </a:r>
            <a:r>
              <a:rPr lang="en-US" i="1" dirty="0"/>
              <a:t>[Think about it before advancing to the next slide]</a:t>
            </a:r>
            <a:endParaRPr lang="en-US" dirty="0"/>
          </a:p>
          <a:p>
            <a:pPr marL="0" indent="0">
              <a:buNone/>
            </a:pPr>
            <a:endParaRPr lang="en-US" dirty="0"/>
          </a:p>
        </p:txBody>
      </p:sp>
    </p:spTree>
    <p:extLst>
      <p:ext uri="{BB962C8B-B14F-4D97-AF65-F5344CB8AC3E}">
        <p14:creationId xmlns:p14="http://schemas.microsoft.com/office/powerpoint/2010/main" val="1124175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A2EBB-B485-C44C-AD7C-7E51F3FCA891}"/>
              </a:ext>
            </a:extLst>
          </p:cNvPr>
          <p:cNvSpPr>
            <a:spLocks noGrp="1"/>
          </p:cNvSpPr>
          <p:nvPr>
            <p:ph type="title"/>
          </p:nvPr>
        </p:nvSpPr>
        <p:spPr/>
        <p:txBody>
          <a:bodyPr/>
          <a:lstStyle/>
          <a:p>
            <a:r>
              <a:rPr lang="en-US" dirty="0"/>
              <a:t>How fast can we vary the voltage pot?</a:t>
            </a:r>
          </a:p>
        </p:txBody>
      </p:sp>
      <p:sp>
        <p:nvSpPr>
          <p:cNvPr id="3" name="Content Placeholder 2">
            <a:extLst>
              <a:ext uri="{FF2B5EF4-FFF2-40B4-BE49-F238E27FC236}">
                <a16:creationId xmlns:a16="http://schemas.microsoft.com/office/drawing/2014/main" id="{E910A55D-BEF6-574E-84E8-3AD2E410A555}"/>
              </a:ext>
            </a:extLst>
          </p:cNvPr>
          <p:cNvSpPr>
            <a:spLocks noGrp="1"/>
          </p:cNvSpPr>
          <p:nvPr>
            <p:ph idx="1"/>
          </p:nvPr>
        </p:nvSpPr>
        <p:spPr/>
        <p:txBody>
          <a:bodyPr/>
          <a:lstStyle/>
          <a:p>
            <a:pPr marL="0" indent="0">
              <a:buNone/>
            </a:pPr>
            <a:r>
              <a:rPr lang="en-US" dirty="0"/>
              <a:t>Objective: Our Arduino program measures 3 voltages in rapid succession. If we adjust the power supply too quickly, then the first and last voltages will be different and our data will be skewed. Our goal is to determine how fast is too fast to turn the knob. </a:t>
            </a:r>
          </a:p>
          <a:p>
            <a:pPr marL="0" indent="0">
              <a:buNone/>
            </a:pPr>
            <a:endParaRPr lang="en-US" dirty="0"/>
          </a:p>
          <a:p>
            <a:pPr marL="0" indent="0">
              <a:buNone/>
            </a:pPr>
            <a:r>
              <a:rPr lang="en-US" dirty="0"/>
              <a:t>Methods: Write an Arduino program that measures ~10 voltages as fast as it can, and prints them. We then turn the knob faster until we see voltage skew between the readings. The code is: </a:t>
            </a:r>
          </a:p>
          <a:p>
            <a:pPr marL="0" indent="0">
              <a:buNone/>
            </a:pPr>
            <a:r>
              <a:rPr lang="en-US" i="1" dirty="0"/>
              <a:t>[try to write it yourself before advancing to the next slide]</a:t>
            </a:r>
            <a:r>
              <a:rPr lang="en-US" dirty="0"/>
              <a:t> </a:t>
            </a:r>
          </a:p>
          <a:p>
            <a:pPr marL="0" indent="0">
              <a:buNone/>
            </a:pPr>
            <a:endParaRPr lang="en-US" dirty="0"/>
          </a:p>
        </p:txBody>
      </p:sp>
    </p:spTree>
    <p:extLst>
      <p:ext uri="{BB962C8B-B14F-4D97-AF65-F5344CB8AC3E}">
        <p14:creationId xmlns:p14="http://schemas.microsoft.com/office/powerpoint/2010/main" val="2389823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841C3-0048-534D-BE7B-0D5A27FAA0BB}"/>
              </a:ext>
            </a:extLst>
          </p:cNvPr>
          <p:cNvSpPr>
            <a:spLocks noGrp="1"/>
          </p:cNvSpPr>
          <p:nvPr>
            <p:ph type="title"/>
          </p:nvPr>
        </p:nvSpPr>
        <p:spPr/>
        <p:txBody>
          <a:bodyPr/>
          <a:lstStyle/>
          <a:p>
            <a:r>
              <a:rPr lang="en-US" dirty="0"/>
              <a:t>Arduino Code</a:t>
            </a:r>
          </a:p>
        </p:txBody>
      </p:sp>
      <p:sp>
        <p:nvSpPr>
          <p:cNvPr id="3" name="Content Placeholder 2">
            <a:extLst>
              <a:ext uri="{FF2B5EF4-FFF2-40B4-BE49-F238E27FC236}">
                <a16:creationId xmlns:a16="http://schemas.microsoft.com/office/drawing/2014/main" id="{3E6E9C2B-7326-1641-9A17-C34A2B52DA1A}"/>
              </a:ext>
            </a:extLst>
          </p:cNvPr>
          <p:cNvSpPr>
            <a:spLocks noGrp="1"/>
          </p:cNvSpPr>
          <p:nvPr>
            <p:ph idx="1"/>
          </p:nvPr>
        </p:nvSpPr>
        <p:spPr>
          <a:xfrm>
            <a:off x="457200" y="1137224"/>
            <a:ext cx="4114800" cy="4988940"/>
          </a:xfrm>
        </p:spPr>
        <p:txBody>
          <a:bodyPr>
            <a:normAutofit fontScale="55000" lnSpcReduction="20000"/>
          </a:bodyPr>
          <a:lstStyle/>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how fast can we turn the voltage pot before we see voltage skew between the first and Nth measurement?</a:t>
            </a:r>
          </a:p>
          <a:p>
            <a:pPr marL="0" indent="0">
              <a:buNone/>
            </a:pPr>
            <a:r>
              <a:rPr lang="en-US" dirty="0">
                <a:latin typeface="Courier New" panose="02070309020205020404" pitchFamily="49" charset="0"/>
                <a:cs typeface="Courier New" panose="02070309020205020404" pitchFamily="49" charset="0"/>
              </a:rPr>
              <a:t>  23sept20 BR</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hardware: LM317 output -&gt; voltage divider 10k/(10k+20k) -&gt; A2</a:t>
            </a:r>
          </a:p>
          <a:p>
            <a:pPr marL="0" indent="0">
              <a:buNone/>
            </a:pP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#define </a:t>
            </a:r>
            <a:r>
              <a:rPr lang="en-US" dirty="0" err="1">
                <a:latin typeface="Courier New" panose="02070309020205020404" pitchFamily="49" charset="0"/>
                <a:cs typeface="Courier New" panose="02070309020205020404" pitchFamily="49" charset="0"/>
              </a:rPr>
              <a:t>VoutPin</a:t>
            </a:r>
            <a:r>
              <a:rPr lang="en-US" dirty="0">
                <a:latin typeface="Courier New" panose="02070309020205020404" pitchFamily="49" charset="0"/>
                <a:cs typeface="Courier New" panose="02070309020205020404" pitchFamily="49" charset="0"/>
              </a:rPr>
              <a:t> A2</a:t>
            </a:r>
          </a:p>
          <a:p>
            <a:pPr marL="0" indent="0">
              <a:buNone/>
            </a:pPr>
            <a:r>
              <a:rPr lang="en-US" dirty="0">
                <a:latin typeface="Courier New" panose="02070309020205020404" pitchFamily="49" charset="0"/>
                <a:cs typeface="Courier New" panose="02070309020205020404" pitchFamily="49" charset="0"/>
              </a:rPr>
              <a:t>#define VOLTS *(20+10)/10.0</a:t>
            </a:r>
          </a:p>
          <a:p>
            <a:pPr marL="0" indent="0">
              <a:buNone/>
            </a:pPr>
            <a:r>
              <a:rPr lang="en-US" dirty="0">
                <a:latin typeface="Courier New" panose="02070309020205020404" pitchFamily="49" charset="0"/>
                <a:cs typeface="Courier New" panose="02070309020205020404" pitchFamily="49" charset="0"/>
              </a:rPr>
              <a:t>#define NUMSAMPLES 10</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volatile int </a:t>
            </a:r>
            <a:r>
              <a:rPr lang="en-US" dirty="0" err="1">
                <a:latin typeface="Courier New" panose="02070309020205020404" pitchFamily="49" charset="0"/>
                <a:cs typeface="Courier New" panose="02070309020205020404" pitchFamily="49" charset="0"/>
              </a:rPr>
              <a:t>Vout</a:t>
            </a:r>
            <a:r>
              <a:rPr lang="en-US" dirty="0">
                <a:latin typeface="Courier New" panose="02070309020205020404" pitchFamily="49" charset="0"/>
                <a:cs typeface="Courier New" panose="02070309020205020404" pitchFamily="49" charset="0"/>
              </a:rPr>
              <a:t>[NUMSAMPLES][3],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j;</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void setup()</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Serial.begin</a:t>
            </a:r>
            <a:r>
              <a:rPr lang="en-US" dirty="0">
                <a:latin typeface="Courier New" panose="02070309020205020404" pitchFamily="49" charset="0"/>
                <a:cs typeface="Courier New" panose="02070309020205020404" pitchFamily="49" charset="0"/>
              </a:rPr>
              <a:t>(9600);</a:t>
            </a:r>
          </a:p>
          <a:p>
            <a:pPr marL="0" indent="0">
              <a:buNone/>
            </a:pPr>
            <a:r>
              <a:rPr lang="en-US" dirty="0">
                <a:latin typeface="Courier New" panose="02070309020205020404" pitchFamily="49" charset="0"/>
                <a:cs typeface="Courier New" panose="02070309020205020404" pitchFamily="49" charset="0"/>
              </a:rPr>
              <a:t>}   // setup</a:t>
            </a:r>
          </a:p>
          <a:p>
            <a:pPr marL="0" indent="0">
              <a:buNone/>
            </a:pPr>
            <a:endParaRPr lang="en-US" dirty="0">
              <a:latin typeface="Courier New" panose="020703090202050204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E541D9A7-8FD8-534B-A714-369D030B1503}"/>
              </a:ext>
            </a:extLst>
          </p:cNvPr>
          <p:cNvSpPr txBox="1">
            <a:spLocks/>
          </p:cNvSpPr>
          <p:nvPr/>
        </p:nvSpPr>
        <p:spPr>
          <a:xfrm>
            <a:off x="4969566" y="1097467"/>
            <a:ext cx="3906078" cy="4988940"/>
          </a:xfrm>
          <a:prstGeom prst="rect">
            <a:avLst/>
          </a:prstGeom>
        </p:spPr>
        <p:txBody>
          <a:bodyPr vert="horz" lIns="91440" tIns="45720" rIns="91440" bIns="45720" rtlCol="0">
            <a:normAutofit fontScale="55000" lnSpcReduction="20000"/>
          </a:bodyPr>
          <a:lstStyle>
            <a:lvl1pPr marL="342900" indent="-342900" algn="l" defTabSz="457200" rtl="0" eaLnBrk="1" latinLnBrk="0" hangingPunct="1">
              <a:spcBef>
                <a:spcPct val="20000"/>
              </a:spcBef>
              <a:buFont typeface="Arial"/>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457200" rtl="0" eaLnBrk="1" latinLnBrk="0" hangingPunct="1">
              <a:spcBef>
                <a:spcPct val="20000"/>
              </a:spcBef>
              <a:buFont typeface="Arial"/>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457200" rtl="0" eaLnBrk="1" latinLnBrk="0" hangingPunct="1">
              <a:spcBef>
                <a:spcPct val="20000"/>
              </a:spcBef>
              <a:buFont typeface="Arial"/>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457200" rtl="0" eaLnBrk="1" latinLnBrk="0" hangingPunct="1">
              <a:spcBef>
                <a:spcPct val="20000"/>
              </a:spcBef>
              <a:buFont typeface="Arial"/>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457200" rtl="0" eaLnBrk="1" latinLnBrk="0" hangingPunct="1">
              <a:spcBef>
                <a:spcPct val="20000"/>
              </a:spcBef>
              <a:buFont typeface="Arial"/>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latin typeface="Courier New" panose="02070309020205020404" pitchFamily="49" charset="0"/>
                <a:cs typeface="Courier New" panose="02070309020205020404" pitchFamily="49" charset="0"/>
              </a:rPr>
              <a:t>void loop()</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 get data fast</a:t>
            </a:r>
          </a:p>
          <a:p>
            <a:pPr marL="0" indent="0">
              <a:buNone/>
            </a:pPr>
            <a:r>
              <a:rPr lang="en-US" dirty="0">
                <a:latin typeface="Courier New" panose="02070309020205020404" pitchFamily="49" charset="0"/>
                <a:cs typeface="Courier New" panose="02070309020205020404" pitchFamily="49" charset="0"/>
              </a:rPr>
              <a:t>  for (j = 0; j &lt; 3; </a:t>
            </a:r>
            <a:r>
              <a:rPr lang="en-US" dirty="0" err="1">
                <a:latin typeface="Courier New" panose="02070309020205020404" pitchFamily="49" charset="0"/>
                <a:cs typeface="Courier New" panose="02070309020205020404" pitchFamily="49" charset="0"/>
              </a:rPr>
              <a:t>j++</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 NUMSAMPLES;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Vout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 = 		  		 		</a:t>
            </a:r>
            <a:r>
              <a:rPr lang="en-US" dirty="0" err="1">
                <a:latin typeface="Courier New" panose="02070309020205020404" pitchFamily="49" charset="0"/>
                <a:cs typeface="Courier New" panose="02070309020205020404" pitchFamily="49" charset="0"/>
              </a:rPr>
              <a:t>analogRead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VoutPin</a:t>
            </a:r>
            <a:r>
              <a:rPr lang="en-US" dirty="0">
                <a:latin typeface="Courier New" panose="02070309020205020404" pitchFamily="49" charset="0"/>
                <a:cs typeface="Courier New" panose="02070309020205020404" pitchFamily="49" charset="0"/>
              </a:rPr>
              <a:t>);</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 print the results</a:t>
            </a:r>
          </a:p>
          <a:p>
            <a:pPr marL="0" indent="0">
              <a:buNone/>
            </a:pPr>
            <a:r>
              <a:rPr lang="en-US" dirty="0">
                <a:latin typeface="Courier New" panose="02070309020205020404" pitchFamily="49" charset="0"/>
                <a:cs typeface="Courier New" panose="02070309020205020404" pitchFamily="49" charset="0"/>
              </a:rPr>
              <a:t>  for (j = 0; j &lt; 3; </a:t>
            </a:r>
            <a:r>
              <a:rPr lang="en-US" dirty="0" err="1">
                <a:latin typeface="Courier New" panose="02070309020205020404" pitchFamily="49" charset="0"/>
                <a:cs typeface="Courier New" panose="02070309020205020404" pitchFamily="49" charset="0"/>
              </a:rPr>
              <a:t>j++</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Serial.print</a:t>
            </a:r>
            <a:r>
              <a:rPr lang="en-US" dirty="0">
                <a:latin typeface="Courier New" panose="02070309020205020404" pitchFamily="49" charset="0"/>
                <a:cs typeface="Courier New" panose="02070309020205020404" pitchFamily="49" charset="0"/>
              </a:rPr>
              <a:t>(j + 1);</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Serial.print</a:t>
            </a: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 NUMSAMPLES;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Serial.print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Vout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][j]);</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Serial.print</a:t>
            </a:r>
            <a:r>
              <a:rPr lang="en-US" dirty="0">
                <a:latin typeface="Courier New" panose="02070309020205020404" pitchFamily="49" charset="0"/>
                <a:cs typeface="Courier New" panose="02070309020205020404" pitchFamily="49" charset="0"/>
              </a:rPr>
              <a:t>("\t");</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Serial.print</a:t>
            </a:r>
            <a:r>
              <a:rPr lang="en-US" dirty="0">
                <a:latin typeface="Courier New" panose="02070309020205020404" pitchFamily="49" charset="0"/>
                <a:cs typeface="Courier New" panose="02070309020205020404" pitchFamily="49" charset="0"/>
              </a:rPr>
              <a:t>("\n");</a:t>
            </a:r>
          </a:p>
          <a:p>
            <a:pPr marL="0" indent="0">
              <a:buNone/>
            </a:pPr>
            <a:r>
              <a:rPr lang="en-US" dirty="0">
                <a:latin typeface="Courier New" panose="02070309020205020404" pitchFamily="49" charset="0"/>
                <a:cs typeface="Courier New" panose="02070309020205020404" pitchFamily="49" charset="0"/>
              </a:rPr>
              <a:t>  }</a:t>
            </a:r>
          </a:p>
          <a:p>
            <a:pPr marL="0" indent="0">
              <a:buNone/>
            </a:pPr>
            <a:r>
              <a:rPr lang="en-US" dirty="0">
                <a:latin typeface="Courier New" panose="02070309020205020404" pitchFamily="49" charset="0"/>
                <a:cs typeface="Courier New" panose="02070309020205020404" pitchFamily="49" charset="0"/>
              </a:rPr>
              <a:t>  delay(200);</a:t>
            </a:r>
          </a:p>
          <a:p>
            <a:pPr marL="0" indent="0">
              <a:buNone/>
            </a:pPr>
            <a:r>
              <a:rPr lang="en-US" dirty="0">
                <a:latin typeface="Courier New" panose="02070309020205020404" pitchFamily="49" charset="0"/>
                <a:cs typeface="Courier New" panose="02070309020205020404" pitchFamily="49" charset="0"/>
              </a:rPr>
              <a:t>}   // loop</a:t>
            </a:r>
          </a:p>
        </p:txBody>
      </p:sp>
      <p:sp>
        <p:nvSpPr>
          <p:cNvPr id="5" name="TextBox 4">
            <a:extLst>
              <a:ext uri="{FF2B5EF4-FFF2-40B4-BE49-F238E27FC236}">
                <a16:creationId xmlns:a16="http://schemas.microsoft.com/office/drawing/2014/main" id="{5E90D798-9196-B74F-A05D-FCC73F50A25F}"/>
              </a:ext>
            </a:extLst>
          </p:cNvPr>
          <p:cNvSpPr txBox="1"/>
          <p:nvPr/>
        </p:nvSpPr>
        <p:spPr>
          <a:xfrm>
            <a:off x="934278" y="5754757"/>
            <a:ext cx="6937513" cy="369332"/>
          </a:xfrm>
          <a:prstGeom prst="rect">
            <a:avLst/>
          </a:prstGeom>
          <a:noFill/>
        </p:spPr>
        <p:txBody>
          <a:bodyPr wrap="square" rtlCol="0">
            <a:spAutoFit/>
          </a:bodyPr>
          <a:lstStyle/>
          <a:p>
            <a:r>
              <a:rPr lang="en-US" dirty="0"/>
              <a:t>Fun fact: This is the first time in many years that I’ve used 2-d arrays in C</a:t>
            </a:r>
          </a:p>
        </p:txBody>
      </p:sp>
      <p:sp>
        <p:nvSpPr>
          <p:cNvPr id="6" name="TextBox 5">
            <a:extLst>
              <a:ext uri="{FF2B5EF4-FFF2-40B4-BE49-F238E27FC236}">
                <a16:creationId xmlns:a16="http://schemas.microsoft.com/office/drawing/2014/main" id="{2BCD32F7-CECA-8B4B-8C34-0A8A8C5EE62A}"/>
              </a:ext>
            </a:extLst>
          </p:cNvPr>
          <p:cNvSpPr txBox="1"/>
          <p:nvPr/>
        </p:nvSpPr>
        <p:spPr>
          <a:xfrm>
            <a:off x="317829" y="6402029"/>
            <a:ext cx="6937513" cy="369332"/>
          </a:xfrm>
          <a:prstGeom prst="rect">
            <a:avLst/>
          </a:prstGeom>
          <a:noFill/>
        </p:spPr>
        <p:txBody>
          <a:bodyPr wrap="square" rtlCol="0">
            <a:spAutoFit/>
          </a:bodyPr>
          <a:lstStyle/>
          <a:p>
            <a:r>
              <a:rPr lang="en-US" dirty="0"/>
              <a:t>File: </a:t>
            </a:r>
            <a:r>
              <a:rPr lang="en-US" dirty="0" err="1">
                <a:hlinkClick r:id="rId2"/>
              </a:rPr>
              <a:t>howFastCanWeTurnThePot.ino</a:t>
            </a:r>
            <a:endParaRPr lang="en-US" dirty="0"/>
          </a:p>
        </p:txBody>
      </p:sp>
    </p:spTree>
    <p:extLst>
      <p:ext uri="{BB962C8B-B14F-4D97-AF65-F5344CB8AC3E}">
        <p14:creationId xmlns:p14="http://schemas.microsoft.com/office/powerpoint/2010/main" val="3518434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166A-9B35-3F44-9F47-A2251DC2B94F}"/>
              </a:ext>
            </a:extLst>
          </p:cNvPr>
          <p:cNvSpPr>
            <a:spLocks noGrp="1"/>
          </p:cNvSpPr>
          <p:nvPr>
            <p:ph type="title"/>
          </p:nvPr>
        </p:nvSpPr>
        <p:spPr/>
        <p:txBody>
          <a:bodyPr/>
          <a:lstStyle/>
          <a:p>
            <a:r>
              <a:rPr lang="en-US" dirty="0"/>
              <a:t>Results (turning the knob real fast)</a:t>
            </a:r>
          </a:p>
        </p:txBody>
      </p:sp>
      <p:sp>
        <p:nvSpPr>
          <p:cNvPr id="3" name="Content Placeholder 2">
            <a:extLst>
              <a:ext uri="{FF2B5EF4-FFF2-40B4-BE49-F238E27FC236}">
                <a16:creationId xmlns:a16="http://schemas.microsoft.com/office/drawing/2014/main" id="{9C82B2D9-3D60-FB46-841E-0694D4E91D25}"/>
              </a:ext>
            </a:extLst>
          </p:cNvPr>
          <p:cNvSpPr>
            <a:spLocks noGrp="1"/>
          </p:cNvSpPr>
          <p:nvPr>
            <p:ph idx="1"/>
          </p:nvPr>
        </p:nvSpPr>
        <p:spPr>
          <a:xfrm>
            <a:off x="457200" y="1137223"/>
            <a:ext cx="8229600" cy="5919560"/>
          </a:xfrm>
        </p:spPr>
        <p:txBody>
          <a:bodyPr>
            <a:normAutofit fontScale="92500" lnSpcReduction="10000"/>
          </a:bodyPr>
          <a:lstStyle/>
          <a:p>
            <a:pPr marL="0" indent="0">
              <a:buNone/>
            </a:pPr>
            <a:r>
              <a:rPr lang="en-US" sz="1200" dirty="0"/>
              <a:t>1: 741	742	742	742	742	742	742	742	741	742	</a:t>
            </a:r>
          </a:p>
          <a:p>
            <a:pPr marL="0" indent="0">
              <a:buNone/>
            </a:pPr>
            <a:r>
              <a:rPr lang="en-US" sz="1200" dirty="0"/>
              <a:t>2: 742	741	742	741	742	742	741	742	742	742	</a:t>
            </a:r>
          </a:p>
          <a:p>
            <a:pPr marL="0" indent="0">
              <a:buNone/>
            </a:pPr>
            <a:r>
              <a:rPr lang="en-US" sz="1200" dirty="0"/>
              <a:t>3: 742	742	741	741	741	741	741	741	741	741	</a:t>
            </a:r>
          </a:p>
          <a:p>
            <a:pPr marL="0" indent="0">
              <a:buNone/>
            </a:pPr>
            <a:r>
              <a:rPr lang="en-US" sz="1200" dirty="0"/>
              <a:t>1: 421	421	420	420	419	418	417	417	416	416	</a:t>
            </a:r>
          </a:p>
          <a:p>
            <a:pPr marL="0" indent="0">
              <a:buNone/>
            </a:pPr>
            <a:r>
              <a:rPr lang="en-US" sz="1200" dirty="0"/>
              <a:t>2: 415	415	415	415	415	416	415	415	415	415	</a:t>
            </a:r>
          </a:p>
          <a:p>
            <a:pPr marL="0" indent="0">
              <a:buNone/>
            </a:pPr>
            <a:r>
              <a:rPr lang="en-US" sz="1200" dirty="0"/>
              <a:t>3: 415	416	416	415	414	414	414	414	415	414	</a:t>
            </a:r>
          </a:p>
          <a:p>
            <a:pPr marL="0" indent="0">
              <a:buNone/>
            </a:pPr>
            <a:r>
              <a:rPr lang="en-US" sz="1200" dirty="0"/>
              <a:t>1: 126	127	127	127	127	127	127	127	126	126	</a:t>
            </a:r>
          </a:p>
          <a:p>
            <a:pPr marL="0" indent="0">
              <a:buNone/>
            </a:pPr>
            <a:r>
              <a:rPr lang="en-US" sz="1200" dirty="0"/>
              <a:t>2: 127	126	126	125	126	126	126	125	124	125	</a:t>
            </a:r>
          </a:p>
          <a:p>
            <a:pPr marL="0" indent="0">
              <a:buNone/>
            </a:pPr>
            <a:r>
              <a:rPr lang="en-US" sz="1200" dirty="0"/>
              <a:t>3: 125	125	125	126	125	124	124	124	124	124	</a:t>
            </a:r>
          </a:p>
          <a:p>
            <a:pPr marL="0" indent="0">
              <a:buNone/>
            </a:pPr>
            <a:r>
              <a:rPr lang="en-US" sz="1200" dirty="0"/>
              <a:t>1: 206	206	206	206	206	206	206	207	207	206	</a:t>
            </a:r>
          </a:p>
          <a:p>
            <a:pPr marL="0" indent="0">
              <a:buNone/>
            </a:pPr>
            <a:r>
              <a:rPr lang="en-US" sz="1200" dirty="0"/>
              <a:t>2: 206	208	208	210	211	211	211	212	211	210	</a:t>
            </a:r>
          </a:p>
          <a:p>
            <a:pPr marL="0" indent="0">
              <a:buNone/>
            </a:pPr>
            <a:r>
              <a:rPr lang="en-US" sz="1200" dirty="0"/>
              <a:t>3: 210	210	209	208	208	209	208	208	209	209	</a:t>
            </a:r>
          </a:p>
          <a:p>
            <a:pPr marL="0" indent="0">
              <a:buNone/>
            </a:pPr>
            <a:r>
              <a:rPr lang="en-US" sz="1200" dirty="0"/>
              <a:t>1: 566	566	566	566	567	567	567	568	567	567	</a:t>
            </a:r>
          </a:p>
          <a:p>
            <a:pPr marL="0" indent="0">
              <a:buNone/>
            </a:pPr>
            <a:r>
              <a:rPr lang="en-US" sz="1200" dirty="0"/>
              <a:t>2: 567	567	567	567	567	567	566	566	567	567	</a:t>
            </a:r>
          </a:p>
          <a:p>
            <a:pPr marL="0" indent="0">
              <a:buNone/>
            </a:pPr>
            <a:r>
              <a:rPr lang="en-US" sz="1200" dirty="0"/>
              <a:t>3: 566	566	566	566	567	567	567	567	567	567	</a:t>
            </a:r>
          </a:p>
          <a:p>
            <a:pPr marL="0" indent="0">
              <a:buNone/>
            </a:pPr>
            <a:r>
              <a:rPr lang="en-US" sz="1200" dirty="0"/>
              <a:t>1: 741	741	741	743	742	743	742	741	742	741	</a:t>
            </a:r>
          </a:p>
          <a:p>
            <a:pPr marL="0" indent="0">
              <a:buNone/>
            </a:pPr>
            <a:r>
              <a:rPr lang="en-US" sz="1200" dirty="0"/>
              <a:t>2: 742	741	741	742	742	742	742	742	742	742	</a:t>
            </a:r>
          </a:p>
          <a:p>
            <a:pPr marL="0" indent="0">
              <a:buNone/>
            </a:pPr>
            <a:r>
              <a:rPr lang="en-US" sz="1200" dirty="0"/>
              <a:t>3: 741	741	741	741	742	742	743	742	742	742	</a:t>
            </a:r>
          </a:p>
          <a:p>
            <a:pPr marL="0" indent="0">
              <a:buNone/>
            </a:pPr>
            <a:r>
              <a:rPr lang="en-US" sz="1200" dirty="0"/>
              <a:t>1: 532	533	532	532	532	532	532	532	532	531	</a:t>
            </a:r>
          </a:p>
          <a:p>
            <a:pPr marL="0" indent="0">
              <a:buNone/>
            </a:pPr>
            <a:r>
              <a:rPr lang="en-US" sz="1200" dirty="0"/>
              <a:t>2: 531	530	531	530	530	530	530	529	529	529	</a:t>
            </a:r>
          </a:p>
          <a:p>
            <a:pPr marL="0" indent="0">
              <a:buNone/>
            </a:pPr>
            <a:r>
              <a:rPr lang="en-US" sz="1200" dirty="0"/>
              <a:t>3: 529	529	528	528	528	528	528	529	529	529	</a:t>
            </a:r>
          </a:p>
          <a:p>
            <a:pPr marL="0" indent="0">
              <a:buNone/>
            </a:pPr>
            <a:r>
              <a:rPr lang="en-US" sz="1200" dirty="0"/>
              <a:t>1: 168	168	168	169	169	170	170	169	169	169	</a:t>
            </a:r>
          </a:p>
          <a:p>
            <a:pPr marL="0" indent="0">
              <a:buNone/>
            </a:pPr>
            <a:r>
              <a:rPr lang="en-US" sz="1200" dirty="0"/>
              <a:t>2: 169	170	170	169	169	170	170	168	169	170	</a:t>
            </a:r>
          </a:p>
          <a:p>
            <a:pPr marL="0" indent="0">
              <a:buNone/>
            </a:pPr>
            <a:r>
              <a:rPr lang="en-US" sz="1200" dirty="0"/>
              <a:t>3: 168	169	168	168	168	169	168	168	168	169	</a:t>
            </a:r>
          </a:p>
          <a:p>
            <a:pPr marL="0" indent="0">
              <a:buNone/>
            </a:pPr>
            <a:r>
              <a:rPr lang="en-US" sz="1200" dirty="0"/>
              <a:t>1: 80	80	81	81	81	81	80	80	81	81	</a:t>
            </a:r>
          </a:p>
          <a:p>
            <a:pPr marL="0" indent="0">
              <a:buNone/>
            </a:pPr>
            <a:r>
              <a:rPr lang="en-US" sz="1200" dirty="0"/>
              <a:t>2: 82	80	80	80	80	80	80	80	80	80	</a:t>
            </a:r>
          </a:p>
          <a:p>
            <a:pPr marL="0" indent="0">
              <a:buNone/>
            </a:pPr>
            <a:r>
              <a:rPr lang="en-US" sz="1200" dirty="0"/>
              <a:t>3: 80	80	80	80	80	80	80	80	80	80	</a:t>
            </a:r>
          </a:p>
          <a:p>
            <a:pPr marL="0" indent="0">
              <a:buNone/>
            </a:pPr>
            <a:r>
              <a:rPr lang="en-US" sz="1200" dirty="0"/>
              <a:t>1: 264	266	266	266	266	266	266	267	267	268	</a:t>
            </a:r>
          </a:p>
          <a:p>
            <a:pPr marL="0" indent="0">
              <a:buNone/>
            </a:pPr>
            <a:r>
              <a:rPr lang="en-US" sz="1200" dirty="0"/>
              <a:t>2: 267	267	268	268	268	269	269	269	270	269	</a:t>
            </a:r>
          </a:p>
          <a:p>
            <a:pPr marL="0" indent="0">
              <a:buNone/>
            </a:pPr>
            <a:r>
              <a:rPr lang="en-US" sz="1200" dirty="0"/>
              <a:t>3: 270	270	269	270	269	269	268	268	267	268	</a:t>
            </a:r>
          </a:p>
        </p:txBody>
      </p:sp>
    </p:spTree>
    <p:extLst>
      <p:ext uri="{BB962C8B-B14F-4D97-AF65-F5344CB8AC3E}">
        <p14:creationId xmlns:p14="http://schemas.microsoft.com/office/powerpoint/2010/main" val="3723569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D166A-9B35-3F44-9F47-A2251DC2B94F}"/>
              </a:ext>
            </a:extLst>
          </p:cNvPr>
          <p:cNvSpPr>
            <a:spLocks noGrp="1"/>
          </p:cNvSpPr>
          <p:nvPr>
            <p:ph type="title"/>
          </p:nvPr>
        </p:nvSpPr>
        <p:spPr/>
        <p:txBody>
          <a:bodyPr/>
          <a:lstStyle/>
          <a:p>
            <a:r>
              <a:rPr lang="en-US" dirty="0"/>
              <a:t>Results (turning the knob real fast)</a:t>
            </a:r>
          </a:p>
        </p:txBody>
      </p:sp>
      <p:sp>
        <p:nvSpPr>
          <p:cNvPr id="3" name="Content Placeholder 2">
            <a:extLst>
              <a:ext uri="{FF2B5EF4-FFF2-40B4-BE49-F238E27FC236}">
                <a16:creationId xmlns:a16="http://schemas.microsoft.com/office/drawing/2014/main" id="{9C82B2D9-3D60-FB46-841E-0694D4E91D25}"/>
              </a:ext>
            </a:extLst>
          </p:cNvPr>
          <p:cNvSpPr>
            <a:spLocks noGrp="1"/>
          </p:cNvSpPr>
          <p:nvPr>
            <p:ph idx="1"/>
          </p:nvPr>
        </p:nvSpPr>
        <p:spPr>
          <a:xfrm>
            <a:off x="457200" y="1137223"/>
            <a:ext cx="8229600" cy="5919560"/>
          </a:xfrm>
        </p:spPr>
        <p:txBody>
          <a:bodyPr>
            <a:normAutofit fontScale="92500" lnSpcReduction="10000"/>
          </a:bodyPr>
          <a:lstStyle/>
          <a:p>
            <a:pPr marL="0" indent="0">
              <a:buNone/>
            </a:pPr>
            <a:r>
              <a:rPr lang="en-US" sz="1200" dirty="0"/>
              <a:t>1: 741	742	742	742	742	742	742	742	741	742	</a:t>
            </a:r>
          </a:p>
          <a:p>
            <a:pPr marL="0" indent="0">
              <a:buNone/>
            </a:pPr>
            <a:r>
              <a:rPr lang="en-US" sz="1200" dirty="0"/>
              <a:t>2: 742	741	742	741	742	742	741	742	742	742	</a:t>
            </a:r>
          </a:p>
          <a:p>
            <a:pPr marL="0" indent="0">
              <a:buNone/>
            </a:pPr>
            <a:r>
              <a:rPr lang="en-US" sz="1200" dirty="0"/>
              <a:t>3: 742	742	741	741	741	741	741	741	741	741	</a:t>
            </a:r>
          </a:p>
          <a:p>
            <a:pPr marL="0" indent="0">
              <a:buNone/>
            </a:pPr>
            <a:r>
              <a:rPr lang="en-US" sz="1200" dirty="0"/>
              <a:t>1: 421	421	420	420	419	418	417	417	416	416	</a:t>
            </a:r>
          </a:p>
          <a:p>
            <a:pPr marL="0" indent="0">
              <a:buNone/>
            </a:pPr>
            <a:r>
              <a:rPr lang="en-US" sz="1200" dirty="0"/>
              <a:t>2: 415	415	415	415	415	416	415	415	415	415	</a:t>
            </a:r>
          </a:p>
          <a:p>
            <a:pPr marL="0" indent="0">
              <a:buNone/>
            </a:pPr>
            <a:r>
              <a:rPr lang="en-US" sz="1200" dirty="0"/>
              <a:t>3: 415	416	416	415	414	414	414	414	415	414	</a:t>
            </a:r>
          </a:p>
          <a:p>
            <a:pPr marL="0" indent="0">
              <a:buNone/>
            </a:pPr>
            <a:r>
              <a:rPr lang="en-US" sz="1200" dirty="0"/>
              <a:t>1: 126	127	127	127	127	127	127	127	126	126	</a:t>
            </a:r>
          </a:p>
          <a:p>
            <a:pPr marL="0" indent="0">
              <a:buNone/>
            </a:pPr>
            <a:r>
              <a:rPr lang="en-US" sz="1200" dirty="0"/>
              <a:t>2: 127	126	126	125	126	126	126	125	124	125	</a:t>
            </a:r>
          </a:p>
          <a:p>
            <a:pPr marL="0" indent="0">
              <a:buNone/>
            </a:pPr>
            <a:r>
              <a:rPr lang="en-US" sz="1200" dirty="0"/>
              <a:t>3: 125	125	125	126	125	124	124	124	124	124	</a:t>
            </a:r>
          </a:p>
          <a:p>
            <a:pPr marL="0" indent="0">
              <a:buNone/>
            </a:pPr>
            <a:r>
              <a:rPr lang="en-US" sz="1200" dirty="0"/>
              <a:t>1: 206	206	206	206	206	206	206	207	207	206	</a:t>
            </a:r>
          </a:p>
          <a:p>
            <a:pPr marL="0" indent="0">
              <a:buNone/>
            </a:pPr>
            <a:r>
              <a:rPr lang="en-US" sz="1200" dirty="0"/>
              <a:t>2: 206	208	208	210	211	211	211	212	211	210	</a:t>
            </a:r>
          </a:p>
          <a:p>
            <a:pPr marL="0" indent="0">
              <a:buNone/>
            </a:pPr>
            <a:r>
              <a:rPr lang="en-US" sz="1200" dirty="0"/>
              <a:t>3: 210	210	209	208	208	209	208	208	209	209	</a:t>
            </a:r>
          </a:p>
          <a:p>
            <a:pPr marL="0" indent="0">
              <a:buNone/>
            </a:pPr>
            <a:r>
              <a:rPr lang="en-US" sz="1200" dirty="0"/>
              <a:t>1: 566	566	566	566	567	567	567	568	567	567	</a:t>
            </a:r>
          </a:p>
          <a:p>
            <a:pPr marL="0" indent="0">
              <a:buNone/>
            </a:pPr>
            <a:r>
              <a:rPr lang="en-US" sz="1200" dirty="0"/>
              <a:t>2: 567	567	567	567	567	567	566	566	567	567	</a:t>
            </a:r>
          </a:p>
          <a:p>
            <a:pPr marL="0" indent="0">
              <a:buNone/>
            </a:pPr>
            <a:r>
              <a:rPr lang="en-US" sz="1200" dirty="0"/>
              <a:t>3: 566	566	566	566	567	567	567	567	567	567	</a:t>
            </a:r>
          </a:p>
          <a:p>
            <a:pPr marL="0" indent="0">
              <a:buNone/>
            </a:pPr>
            <a:r>
              <a:rPr lang="en-US" sz="1200" dirty="0"/>
              <a:t>1: 741	741	741	743	742	743	742	741	742	741	</a:t>
            </a:r>
          </a:p>
          <a:p>
            <a:pPr marL="0" indent="0">
              <a:buNone/>
            </a:pPr>
            <a:r>
              <a:rPr lang="en-US" sz="1200" dirty="0"/>
              <a:t>2: 742	741	741	742	742	742	742	742	742	742	</a:t>
            </a:r>
          </a:p>
          <a:p>
            <a:pPr marL="0" indent="0">
              <a:buNone/>
            </a:pPr>
            <a:r>
              <a:rPr lang="en-US" sz="1200" dirty="0"/>
              <a:t>3: 741	741	741	741	742	742	743	742	742	742	</a:t>
            </a:r>
          </a:p>
          <a:p>
            <a:pPr marL="0" indent="0">
              <a:buNone/>
            </a:pPr>
            <a:r>
              <a:rPr lang="en-US" sz="1200" dirty="0"/>
              <a:t>1: 532	533	532	532	532	532	532	532	532	531	</a:t>
            </a:r>
          </a:p>
          <a:p>
            <a:pPr marL="0" indent="0">
              <a:buNone/>
            </a:pPr>
            <a:r>
              <a:rPr lang="en-US" sz="1200" dirty="0"/>
              <a:t>2: 531	530	531	530	530	530	530	529	529	529	</a:t>
            </a:r>
          </a:p>
          <a:p>
            <a:pPr marL="0" indent="0">
              <a:buNone/>
            </a:pPr>
            <a:r>
              <a:rPr lang="en-US" sz="1200" dirty="0"/>
              <a:t>3: 529	529	528	528	528	528	528	529	529	529	</a:t>
            </a:r>
          </a:p>
          <a:p>
            <a:pPr marL="0" indent="0">
              <a:buNone/>
            </a:pPr>
            <a:r>
              <a:rPr lang="en-US" sz="1200" dirty="0"/>
              <a:t>1: 168	168	168	169	169	170	170	169	169	169	</a:t>
            </a:r>
          </a:p>
          <a:p>
            <a:pPr marL="0" indent="0">
              <a:buNone/>
            </a:pPr>
            <a:r>
              <a:rPr lang="en-US" sz="1200" dirty="0"/>
              <a:t>2: 169	170	170	169	169	170	170	168	169	170	</a:t>
            </a:r>
          </a:p>
          <a:p>
            <a:pPr marL="0" indent="0">
              <a:buNone/>
            </a:pPr>
            <a:r>
              <a:rPr lang="en-US" sz="1200" dirty="0"/>
              <a:t>3: 168	169	168	168	168	169	168	168	168	169	</a:t>
            </a:r>
          </a:p>
          <a:p>
            <a:pPr marL="0" indent="0">
              <a:buNone/>
            </a:pPr>
            <a:r>
              <a:rPr lang="en-US" sz="1200" dirty="0"/>
              <a:t>1: 80	80	81	81	81	81	80	80	81	81	</a:t>
            </a:r>
          </a:p>
          <a:p>
            <a:pPr marL="0" indent="0">
              <a:buNone/>
            </a:pPr>
            <a:r>
              <a:rPr lang="en-US" sz="1200" dirty="0"/>
              <a:t>2: 82	80	80	80	80	80	80	80	80	80	</a:t>
            </a:r>
          </a:p>
          <a:p>
            <a:pPr marL="0" indent="0">
              <a:buNone/>
            </a:pPr>
            <a:r>
              <a:rPr lang="en-US" sz="1200" dirty="0"/>
              <a:t>3: 80	80	80	80	80	80	80	80	80	80	</a:t>
            </a:r>
          </a:p>
          <a:p>
            <a:pPr marL="0" indent="0">
              <a:buNone/>
            </a:pPr>
            <a:r>
              <a:rPr lang="en-US" sz="1200" dirty="0"/>
              <a:t>1: 264	266	266	266	266	266	266	267	267	268	</a:t>
            </a:r>
          </a:p>
          <a:p>
            <a:pPr marL="0" indent="0">
              <a:buNone/>
            </a:pPr>
            <a:r>
              <a:rPr lang="en-US" sz="1200" dirty="0"/>
              <a:t>2: 267	267	268	268	268	269	269	269	270	269	</a:t>
            </a:r>
          </a:p>
          <a:p>
            <a:pPr marL="0" indent="0">
              <a:buNone/>
            </a:pPr>
            <a:r>
              <a:rPr lang="en-US" sz="1200" dirty="0"/>
              <a:t>3: 270	270	269	270	269	269	268	268	267	268	</a:t>
            </a:r>
          </a:p>
        </p:txBody>
      </p:sp>
      <p:sp>
        <p:nvSpPr>
          <p:cNvPr id="4" name="Oval 3">
            <a:extLst>
              <a:ext uri="{FF2B5EF4-FFF2-40B4-BE49-F238E27FC236}">
                <a16:creationId xmlns:a16="http://schemas.microsoft.com/office/drawing/2014/main" id="{EC7A969C-F887-D448-93FF-FFE3ACE8CC80}"/>
              </a:ext>
            </a:extLst>
          </p:cNvPr>
          <p:cNvSpPr/>
          <p:nvPr/>
        </p:nvSpPr>
        <p:spPr>
          <a:xfrm>
            <a:off x="616226" y="1137223"/>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A177557-5695-ED4E-8F78-4AD6980C0ED1}"/>
              </a:ext>
            </a:extLst>
          </p:cNvPr>
          <p:cNvSpPr/>
          <p:nvPr/>
        </p:nvSpPr>
        <p:spPr>
          <a:xfrm>
            <a:off x="4572000" y="1504971"/>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E2EFA3D-2E11-AB4E-B354-4117482D88FB}"/>
              </a:ext>
            </a:extLst>
          </p:cNvPr>
          <p:cNvCxnSpPr>
            <a:cxnSpLocks/>
          </p:cNvCxnSpPr>
          <p:nvPr/>
        </p:nvCxnSpPr>
        <p:spPr>
          <a:xfrm>
            <a:off x="1063487" y="1290473"/>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9" name="Oval 8">
            <a:extLst>
              <a:ext uri="{FF2B5EF4-FFF2-40B4-BE49-F238E27FC236}">
                <a16:creationId xmlns:a16="http://schemas.microsoft.com/office/drawing/2014/main" id="{6CCCCA0A-8FC3-C343-A207-F56D83330597}"/>
              </a:ext>
            </a:extLst>
          </p:cNvPr>
          <p:cNvSpPr/>
          <p:nvPr/>
        </p:nvSpPr>
        <p:spPr>
          <a:xfrm>
            <a:off x="606287" y="1713693"/>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17FA8F2-5197-034D-9A0B-47189898EA2D}"/>
              </a:ext>
            </a:extLst>
          </p:cNvPr>
          <p:cNvSpPr/>
          <p:nvPr/>
        </p:nvSpPr>
        <p:spPr>
          <a:xfrm>
            <a:off x="4562061" y="2081441"/>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B7E75962-F54F-484F-84B8-C54EFCE0B47B}"/>
              </a:ext>
            </a:extLst>
          </p:cNvPr>
          <p:cNvCxnSpPr>
            <a:cxnSpLocks/>
          </p:cNvCxnSpPr>
          <p:nvPr/>
        </p:nvCxnSpPr>
        <p:spPr>
          <a:xfrm>
            <a:off x="1053548" y="1866943"/>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89B3991-1C18-2D4E-A6DD-C74C40508DC0}"/>
              </a:ext>
            </a:extLst>
          </p:cNvPr>
          <p:cNvSpPr/>
          <p:nvPr/>
        </p:nvSpPr>
        <p:spPr>
          <a:xfrm>
            <a:off x="646043" y="2250406"/>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BE501E7-CA07-504D-9E05-17B2ADAC7DF5}"/>
              </a:ext>
            </a:extLst>
          </p:cNvPr>
          <p:cNvSpPr/>
          <p:nvPr/>
        </p:nvSpPr>
        <p:spPr>
          <a:xfrm>
            <a:off x="4601817" y="2618154"/>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585F236F-E7B3-2B4B-B8D9-2580026A1AEE}"/>
              </a:ext>
            </a:extLst>
          </p:cNvPr>
          <p:cNvCxnSpPr>
            <a:cxnSpLocks/>
          </p:cNvCxnSpPr>
          <p:nvPr/>
        </p:nvCxnSpPr>
        <p:spPr>
          <a:xfrm>
            <a:off x="1093304" y="2403656"/>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FC963A49-7AC8-3548-859E-E867FD87FD69}"/>
              </a:ext>
            </a:extLst>
          </p:cNvPr>
          <p:cNvSpPr/>
          <p:nvPr/>
        </p:nvSpPr>
        <p:spPr>
          <a:xfrm>
            <a:off x="636104" y="2806997"/>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24316FA-1D8D-0F49-89EB-484A7B6753A3}"/>
              </a:ext>
            </a:extLst>
          </p:cNvPr>
          <p:cNvSpPr/>
          <p:nvPr/>
        </p:nvSpPr>
        <p:spPr>
          <a:xfrm>
            <a:off x="4591878" y="3174745"/>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1F624F4D-CDF3-7447-95BA-0E91C7ABE6E4}"/>
              </a:ext>
            </a:extLst>
          </p:cNvPr>
          <p:cNvCxnSpPr>
            <a:cxnSpLocks/>
          </p:cNvCxnSpPr>
          <p:nvPr/>
        </p:nvCxnSpPr>
        <p:spPr>
          <a:xfrm>
            <a:off x="1083365" y="2960247"/>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E589BFFD-9E3C-B44A-AC77-38CCA468A6E6}"/>
              </a:ext>
            </a:extLst>
          </p:cNvPr>
          <p:cNvSpPr/>
          <p:nvPr/>
        </p:nvSpPr>
        <p:spPr>
          <a:xfrm>
            <a:off x="646043" y="3373528"/>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D8AB632-4CA3-C84C-AC89-6375609A965E}"/>
              </a:ext>
            </a:extLst>
          </p:cNvPr>
          <p:cNvSpPr/>
          <p:nvPr/>
        </p:nvSpPr>
        <p:spPr>
          <a:xfrm>
            <a:off x="4601817" y="3741276"/>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3326F926-4195-8C49-9C20-EC6AA413569E}"/>
              </a:ext>
            </a:extLst>
          </p:cNvPr>
          <p:cNvCxnSpPr>
            <a:cxnSpLocks/>
          </p:cNvCxnSpPr>
          <p:nvPr/>
        </p:nvCxnSpPr>
        <p:spPr>
          <a:xfrm>
            <a:off x="1093304" y="3526778"/>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52A75CCA-C8EC-324D-A218-2D8830E1E468}"/>
              </a:ext>
            </a:extLst>
          </p:cNvPr>
          <p:cNvSpPr/>
          <p:nvPr/>
        </p:nvSpPr>
        <p:spPr>
          <a:xfrm>
            <a:off x="646043" y="3920180"/>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31E5F70-0C9A-6C4D-82F7-86F53DD77F68}"/>
              </a:ext>
            </a:extLst>
          </p:cNvPr>
          <p:cNvSpPr/>
          <p:nvPr/>
        </p:nvSpPr>
        <p:spPr>
          <a:xfrm>
            <a:off x="4601817" y="4287928"/>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FEE82C84-7A7F-0B44-8C32-99DF41CBCE5B}"/>
              </a:ext>
            </a:extLst>
          </p:cNvPr>
          <p:cNvCxnSpPr>
            <a:cxnSpLocks/>
          </p:cNvCxnSpPr>
          <p:nvPr/>
        </p:nvCxnSpPr>
        <p:spPr>
          <a:xfrm>
            <a:off x="1093304" y="4073430"/>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9102C35A-700A-D44B-A7D7-6308DF629803}"/>
              </a:ext>
            </a:extLst>
          </p:cNvPr>
          <p:cNvSpPr/>
          <p:nvPr/>
        </p:nvSpPr>
        <p:spPr>
          <a:xfrm>
            <a:off x="626165" y="4486711"/>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CFE1ABF-D147-1C4E-B963-B02E5D8430CF}"/>
              </a:ext>
            </a:extLst>
          </p:cNvPr>
          <p:cNvSpPr/>
          <p:nvPr/>
        </p:nvSpPr>
        <p:spPr>
          <a:xfrm>
            <a:off x="4581939" y="4854459"/>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F103FFEE-3449-D44D-B8A3-849B28918825}"/>
              </a:ext>
            </a:extLst>
          </p:cNvPr>
          <p:cNvCxnSpPr>
            <a:cxnSpLocks/>
          </p:cNvCxnSpPr>
          <p:nvPr/>
        </p:nvCxnSpPr>
        <p:spPr>
          <a:xfrm>
            <a:off x="1073426" y="4639961"/>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56C672D8-AE03-C148-B3B7-39FB54557EA9}"/>
              </a:ext>
            </a:extLst>
          </p:cNvPr>
          <p:cNvSpPr/>
          <p:nvPr/>
        </p:nvSpPr>
        <p:spPr>
          <a:xfrm>
            <a:off x="646043" y="5033363"/>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6E9857A-1980-CF4A-A48D-11FA3EFCD783}"/>
              </a:ext>
            </a:extLst>
          </p:cNvPr>
          <p:cNvSpPr/>
          <p:nvPr/>
        </p:nvSpPr>
        <p:spPr>
          <a:xfrm>
            <a:off x="4601817" y="5401111"/>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9A38F409-522E-AE49-8009-B0384206C381}"/>
              </a:ext>
            </a:extLst>
          </p:cNvPr>
          <p:cNvCxnSpPr>
            <a:cxnSpLocks/>
          </p:cNvCxnSpPr>
          <p:nvPr/>
        </p:nvCxnSpPr>
        <p:spPr>
          <a:xfrm>
            <a:off x="1093304" y="5186613"/>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94ABA420-31D2-FC43-B71B-64F11A353CCB}"/>
              </a:ext>
            </a:extLst>
          </p:cNvPr>
          <p:cNvSpPr/>
          <p:nvPr/>
        </p:nvSpPr>
        <p:spPr>
          <a:xfrm>
            <a:off x="646043" y="5589954"/>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C524B15-0D5E-8249-BF75-46D0E731D7C7}"/>
              </a:ext>
            </a:extLst>
          </p:cNvPr>
          <p:cNvSpPr/>
          <p:nvPr/>
        </p:nvSpPr>
        <p:spPr>
          <a:xfrm>
            <a:off x="4601817" y="5957702"/>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FDB62E25-DE67-7146-B56B-BC232DF78FDD}"/>
              </a:ext>
            </a:extLst>
          </p:cNvPr>
          <p:cNvCxnSpPr>
            <a:cxnSpLocks/>
          </p:cNvCxnSpPr>
          <p:nvPr/>
        </p:nvCxnSpPr>
        <p:spPr>
          <a:xfrm>
            <a:off x="1093304" y="5743204"/>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3F997520-0AE4-934E-95DB-F5F6FE0A045C}"/>
              </a:ext>
            </a:extLst>
          </p:cNvPr>
          <p:cNvSpPr/>
          <p:nvPr/>
        </p:nvSpPr>
        <p:spPr>
          <a:xfrm>
            <a:off x="655982" y="6136606"/>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1CA95B1-EBD9-724B-9FA4-A879CFA4AAB1}"/>
              </a:ext>
            </a:extLst>
          </p:cNvPr>
          <p:cNvSpPr/>
          <p:nvPr/>
        </p:nvSpPr>
        <p:spPr>
          <a:xfrm>
            <a:off x="4611756" y="6504354"/>
            <a:ext cx="347870" cy="204560"/>
          </a:xfrm>
          <a:prstGeom prst="ellipse">
            <a:avLst/>
          </a:prstGeom>
          <a:no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61F4D676-A539-DA47-8BA1-CD422DA35700}"/>
              </a:ext>
            </a:extLst>
          </p:cNvPr>
          <p:cNvCxnSpPr>
            <a:cxnSpLocks/>
          </p:cNvCxnSpPr>
          <p:nvPr/>
        </p:nvCxnSpPr>
        <p:spPr>
          <a:xfrm>
            <a:off x="1103243" y="6289856"/>
            <a:ext cx="3429000" cy="316778"/>
          </a:xfrm>
          <a:prstGeom prst="straightConnector1">
            <a:avLst/>
          </a:prstGeom>
          <a:ln>
            <a:solidFill>
              <a:srgbClr val="FF0000">
                <a:alpha val="43000"/>
              </a:srgbClr>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01A6FE1-4EBE-634A-B3D6-87CEBD9C5433}"/>
              </a:ext>
            </a:extLst>
          </p:cNvPr>
          <p:cNvSpPr txBox="1"/>
          <p:nvPr/>
        </p:nvSpPr>
        <p:spPr>
          <a:xfrm>
            <a:off x="5367130" y="1290473"/>
            <a:ext cx="3578087" cy="535531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Spinning the knob fast results in little change in 30 adjacent </a:t>
            </a:r>
            <a:r>
              <a:rPr lang="en-US" dirty="0" err="1">
                <a:latin typeface="Times New Roman" panose="02020603050405020304" pitchFamily="18" charset="0"/>
                <a:cs typeface="Times New Roman" panose="02020603050405020304" pitchFamily="18" charset="0"/>
              </a:rPr>
              <a:t>analogReads</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biggest change was 421-&gt;414 = -7</a:t>
            </a: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Serial.print</a:t>
            </a:r>
            <a:r>
              <a:rPr lang="en-US" dirty="0">
                <a:latin typeface="Times New Roman" panose="02020603050405020304" pitchFamily="18" charset="0"/>
                <a:cs typeface="Times New Roman" panose="02020603050405020304" pitchFamily="18" charset="0"/>
              </a:rPr>
              <a:t>() (at 9600 baud) and/or the delay(200) is slow, so the voltage changes a lot between each cycle through loop()</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Biggest change was 532-&gt;168 = 364ADU * (4.8V/1023ADU)*3.2=5.5V</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Conclusion: Its reasonable to expect there won’t be voltage skew from the power supply when averaging 10 sequential reads on 3 channels.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Questions??? </a:t>
            </a:r>
          </a:p>
        </p:txBody>
      </p:sp>
    </p:spTree>
    <p:extLst>
      <p:ext uri="{BB962C8B-B14F-4D97-AF65-F5344CB8AC3E}">
        <p14:creationId xmlns:p14="http://schemas.microsoft.com/office/powerpoint/2010/main" val="2758148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B0C59-DC53-FE4F-A698-6A66BC73EDFF}"/>
              </a:ext>
            </a:extLst>
          </p:cNvPr>
          <p:cNvSpPr>
            <a:spLocks noGrp="1"/>
          </p:cNvSpPr>
          <p:nvPr>
            <p:ph type="title"/>
          </p:nvPr>
        </p:nvSpPr>
        <p:spPr/>
        <p:txBody>
          <a:bodyPr/>
          <a:lstStyle/>
          <a:p>
            <a:r>
              <a:rPr lang="en-US" dirty="0"/>
              <a:t>Don’t Assume …</a:t>
            </a:r>
          </a:p>
        </p:txBody>
      </p:sp>
      <p:sp>
        <p:nvSpPr>
          <p:cNvPr id="6" name="Rectangle 5">
            <a:extLst>
              <a:ext uri="{FF2B5EF4-FFF2-40B4-BE49-F238E27FC236}">
                <a16:creationId xmlns:a16="http://schemas.microsoft.com/office/drawing/2014/main" id="{0FA8AB6E-3394-5745-B300-91EA54CBCC8B}"/>
              </a:ext>
            </a:extLst>
          </p:cNvPr>
          <p:cNvSpPr/>
          <p:nvPr/>
        </p:nvSpPr>
        <p:spPr>
          <a:xfrm>
            <a:off x="1143000" y="2057400"/>
            <a:ext cx="7211291" cy="2215991"/>
          </a:xfrm>
          <a:prstGeom prst="rect">
            <a:avLst/>
          </a:prstGeom>
          <a:noFill/>
        </p:spPr>
        <p:txBody>
          <a:bodyPr wrap="square" lIns="91440" tIns="45720" rIns="91440" bIns="45720">
            <a:spAutoFit/>
          </a:bodyPr>
          <a:lstStyle/>
          <a:p>
            <a:pPr algn="ctr"/>
            <a:r>
              <a:rPr lang="en-US" sz="13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Measure!</a:t>
            </a:r>
          </a:p>
        </p:txBody>
      </p:sp>
    </p:spTree>
    <p:extLst>
      <p:ext uri="{BB962C8B-B14F-4D97-AF65-F5344CB8AC3E}">
        <p14:creationId xmlns:p14="http://schemas.microsoft.com/office/powerpoint/2010/main" val="3246597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D8DB4-04EE-774A-B9C8-2A7677EA3B6F}"/>
              </a:ext>
            </a:extLst>
          </p:cNvPr>
          <p:cNvSpPr>
            <a:spLocks noGrp="1"/>
          </p:cNvSpPr>
          <p:nvPr>
            <p:ph type="title"/>
          </p:nvPr>
        </p:nvSpPr>
        <p:spPr/>
        <p:txBody>
          <a:bodyPr/>
          <a:lstStyle/>
          <a:p>
            <a:r>
              <a:rPr lang="en-US" dirty="0"/>
              <a:t>Reflect</a:t>
            </a:r>
          </a:p>
        </p:txBody>
      </p:sp>
      <p:sp>
        <p:nvSpPr>
          <p:cNvPr id="3" name="Content Placeholder 2">
            <a:extLst>
              <a:ext uri="{FF2B5EF4-FFF2-40B4-BE49-F238E27FC236}">
                <a16:creationId xmlns:a16="http://schemas.microsoft.com/office/drawing/2014/main" id="{CB58594C-4BFF-F042-AFE7-94A3162F1FAA}"/>
              </a:ext>
            </a:extLst>
          </p:cNvPr>
          <p:cNvSpPr>
            <a:spLocks noGrp="1"/>
          </p:cNvSpPr>
          <p:nvPr>
            <p:ph idx="1"/>
          </p:nvPr>
        </p:nvSpPr>
        <p:spPr>
          <a:xfrm>
            <a:off x="457200" y="1137224"/>
            <a:ext cx="8229600" cy="5492176"/>
          </a:xfrm>
        </p:spPr>
        <p:txBody>
          <a:bodyPr>
            <a:normAutofit lnSpcReduction="10000"/>
          </a:bodyPr>
          <a:lstStyle/>
          <a:p>
            <a:r>
              <a:rPr lang="en-US" dirty="0"/>
              <a:t>I spent lots of walking, biking, shower time thinking of (easy) ways to test things like we just did</a:t>
            </a:r>
          </a:p>
          <a:p>
            <a:r>
              <a:rPr lang="en-US" dirty="0"/>
              <a:t>There are many paths to the right answers</a:t>
            </a:r>
          </a:p>
          <a:p>
            <a:r>
              <a:rPr lang="en-US" dirty="0"/>
              <a:t>Unfortunately, there are infinitely more </a:t>
            </a:r>
            <a:r>
              <a:rPr lang="en-US" i="1" dirty="0"/>
              <a:t>wrong</a:t>
            </a:r>
            <a:r>
              <a:rPr lang="en-US" dirty="0"/>
              <a:t> answers </a:t>
            </a:r>
          </a:p>
          <a:p>
            <a:r>
              <a:rPr lang="en-US" dirty="0"/>
              <a:t>The more tools in your toolkit, the more choices you have</a:t>
            </a:r>
          </a:p>
          <a:p>
            <a:pPr lvl="1"/>
            <a:r>
              <a:rPr lang="en-US" dirty="0"/>
              <a:t>Here I implemented a rarely used tool, the 2-dimensional C array, to simplify indexing and keeping track of 30 data points</a:t>
            </a:r>
          </a:p>
          <a:p>
            <a:r>
              <a:rPr lang="en-US" dirty="0"/>
              <a:t>Keep it simple</a:t>
            </a:r>
          </a:p>
          <a:p>
            <a:pPr lvl="1"/>
            <a:r>
              <a:rPr lang="en-US" dirty="0"/>
              <a:t>I stayed with ADU units</a:t>
            </a:r>
          </a:p>
          <a:p>
            <a:pPr lvl="1"/>
            <a:r>
              <a:rPr lang="en-US" dirty="0"/>
              <a:t>I didn’t compute averages or statistics – why? </a:t>
            </a:r>
          </a:p>
          <a:p>
            <a:pPr lvl="2"/>
            <a:r>
              <a:rPr lang="en-US" dirty="0"/>
              <a:t>Because many statistics assume Gaussian or uniform distributions and the whole point is to validate the distribution of data</a:t>
            </a:r>
          </a:p>
          <a:p>
            <a:pPr lvl="2"/>
            <a:r>
              <a:rPr lang="en-US" dirty="0"/>
              <a:t>I can eyeball the stats</a:t>
            </a:r>
          </a:p>
          <a:p>
            <a:pPr lvl="2"/>
            <a:r>
              <a:rPr lang="en-US" dirty="0"/>
              <a:t>I don’t want to hide outliers</a:t>
            </a:r>
          </a:p>
          <a:p>
            <a:pPr lvl="2"/>
            <a:r>
              <a:rPr lang="en-US" dirty="0"/>
              <a:t>I’m not going to do this test again and again … now that I know the answer</a:t>
            </a:r>
          </a:p>
        </p:txBody>
      </p:sp>
    </p:spTree>
    <p:extLst>
      <p:ext uri="{BB962C8B-B14F-4D97-AF65-F5344CB8AC3E}">
        <p14:creationId xmlns:p14="http://schemas.microsoft.com/office/powerpoint/2010/main" val="138642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90C41-3100-9347-9C09-2B0FD2E72124}"/>
              </a:ext>
            </a:extLst>
          </p:cNvPr>
          <p:cNvSpPr>
            <a:spLocks noGrp="1"/>
          </p:cNvSpPr>
          <p:nvPr>
            <p:ph type="title"/>
          </p:nvPr>
        </p:nvSpPr>
        <p:spPr/>
        <p:txBody>
          <a:bodyPr/>
          <a:lstStyle/>
          <a:p>
            <a:r>
              <a:rPr lang="en-US" dirty="0"/>
              <a:t>Reflect</a:t>
            </a:r>
          </a:p>
        </p:txBody>
      </p:sp>
      <p:sp>
        <p:nvSpPr>
          <p:cNvPr id="3" name="Content Placeholder 2">
            <a:extLst>
              <a:ext uri="{FF2B5EF4-FFF2-40B4-BE49-F238E27FC236}">
                <a16:creationId xmlns:a16="http://schemas.microsoft.com/office/drawing/2014/main" id="{BC31791D-E422-4E47-AE93-963C3811CA54}"/>
              </a:ext>
            </a:extLst>
          </p:cNvPr>
          <p:cNvSpPr>
            <a:spLocks noGrp="1"/>
          </p:cNvSpPr>
          <p:nvPr>
            <p:ph idx="1"/>
          </p:nvPr>
        </p:nvSpPr>
        <p:spPr/>
        <p:txBody>
          <a:bodyPr>
            <a:normAutofit fontScale="92500" lnSpcReduction="20000"/>
          </a:bodyPr>
          <a:lstStyle/>
          <a:p>
            <a:r>
              <a:rPr lang="en-US" dirty="0"/>
              <a:t>Activities like this pay additional dividends …</a:t>
            </a:r>
          </a:p>
          <a:p>
            <a:pPr lvl="1"/>
            <a:r>
              <a:rPr lang="en-US" dirty="0"/>
              <a:t>Not only did we verify how fast we can safely turn the voltage pot without skewing the data but we also … </a:t>
            </a:r>
          </a:p>
          <a:p>
            <a:pPr lvl="1"/>
            <a:r>
              <a:rPr lang="en-US" dirty="0"/>
              <a:t>Practiced programming </a:t>
            </a:r>
          </a:p>
          <a:p>
            <a:pPr lvl="1"/>
            <a:r>
              <a:rPr lang="en-US" dirty="0"/>
              <a:t>Got more familiar and intuitive with our Arduino</a:t>
            </a:r>
          </a:p>
          <a:p>
            <a:pPr lvl="1"/>
            <a:r>
              <a:rPr lang="en-US" dirty="0"/>
              <a:t>Added a tool to our toolkit … </a:t>
            </a:r>
          </a:p>
          <a:p>
            <a:r>
              <a:rPr lang="en-US" dirty="0"/>
              <a:t>Teachers </a:t>
            </a:r>
            <a:r>
              <a:rPr lang="en-US" i="1" dirty="0"/>
              <a:t>hate</a:t>
            </a:r>
            <a:r>
              <a:rPr lang="en-US" dirty="0"/>
              <a:t> the question, “will this be on the final exam?” because learning something with that sole purpose is a waste of time and talent … </a:t>
            </a:r>
          </a:p>
          <a:p>
            <a:pPr lvl="1"/>
            <a:r>
              <a:rPr lang="en-US" dirty="0"/>
              <a:t>Take every opportunity to practice and learn new skills, add new tools to your intellectual toolkits, realize unconventional uses and applications of tools</a:t>
            </a:r>
          </a:p>
          <a:p>
            <a:pPr lvl="1"/>
            <a:r>
              <a:rPr lang="en-US" dirty="0"/>
              <a:t>Learn to innovate (create new connections between disparate things)</a:t>
            </a:r>
          </a:p>
          <a:p>
            <a:pPr lvl="1"/>
            <a:r>
              <a:rPr lang="en-US" dirty="0"/>
              <a:t>With the world changing so fast, we never know what tools might be useful for some novel task</a:t>
            </a:r>
          </a:p>
          <a:p>
            <a:r>
              <a:rPr lang="en-US" dirty="0"/>
              <a:t>If there’s an </a:t>
            </a:r>
            <a:r>
              <a:rPr lang="en-US" i="1" dirty="0"/>
              <a:t>easy</a:t>
            </a:r>
            <a:r>
              <a:rPr lang="en-US" dirty="0"/>
              <a:t> way to test your understanding or theory, then </a:t>
            </a:r>
            <a:r>
              <a:rPr lang="en-US" i="1" dirty="0"/>
              <a:t>go for it</a:t>
            </a:r>
            <a:r>
              <a:rPr lang="en-US" dirty="0"/>
              <a:t>!! If you’re wrong, finding out sooner is much better than later!</a:t>
            </a:r>
          </a:p>
        </p:txBody>
      </p:sp>
    </p:spTree>
    <p:extLst>
      <p:ext uri="{BB962C8B-B14F-4D97-AF65-F5344CB8AC3E}">
        <p14:creationId xmlns:p14="http://schemas.microsoft.com/office/powerpoint/2010/main" val="3610392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06337-B460-9144-8EE7-9F6C15073B93}"/>
              </a:ext>
            </a:extLst>
          </p:cNvPr>
          <p:cNvSpPr>
            <a:spLocks noGrp="1"/>
          </p:cNvSpPr>
          <p:nvPr>
            <p:ph type="title"/>
          </p:nvPr>
        </p:nvSpPr>
        <p:spPr/>
        <p:txBody>
          <a:bodyPr/>
          <a:lstStyle/>
          <a:p>
            <a:r>
              <a:rPr lang="en-US" dirty="0"/>
              <a:t>Reflect</a:t>
            </a:r>
          </a:p>
        </p:txBody>
      </p:sp>
      <p:sp>
        <p:nvSpPr>
          <p:cNvPr id="3" name="Content Placeholder 2">
            <a:extLst>
              <a:ext uri="{FF2B5EF4-FFF2-40B4-BE49-F238E27FC236}">
                <a16:creationId xmlns:a16="http://schemas.microsoft.com/office/drawing/2014/main" id="{F8051F8E-3BDD-9B44-83CB-89B555A5DD8B}"/>
              </a:ext>
            </a:extLst>
          </p:cNvPr>
          <p:cNvSpPr>
            <a:spLocks noGrp="1"/>
          </p:cNvSpPr>
          <p:nvPr>
            <p:ph idx="1"/>
          </p:nvPr>
        </p:nvSpPr>
        <p:spPr/>
        <p:txBody>
          <a:bodyPr/>
          <a:lstStyle/>
          <a:p>
            <a:r>
              <a:rPr lang="en-US" dirty="0"/>
              <a:t>Should we change </a:t>
            </a:r>
            <a:r>
              <a:rPr lang="en-US" dirty="0">
                <a:latin typeface="Courier New" panose="02070309020205020404" pitchFamily="49" charset="0"/>
                <a:cs typeface="Courier New" panose="02070309020205020404" pitchFamily="49" charset="0"/>
              </a:rPr>
              <a:t>delay(200);</a:t>
            </a:r>
            <a:r>
              <a:rPr lang="en-US" dirty="0"/>
              <a:t> to another value?? </a:t>
            </a:r>
          </a:p>
          <a:p>
            <a:r>
              <a:rPr lang="en-US" dirty="0"/>
              <a:t>Any benefit to make it slower?</a:t>
            </a:r>
          </a:p>
          <a:p>
            <a:r>
              <a:rPr lang="en-US" dirty="0"/>
              <a:t>Any benefit to make it faster?</a:t>
            </a:r>
          </a:p>
          <a:p>
            <a:endParaRPr lang="en-US" dirty="0"/>
          </a:p>
          <a:p>
            <a:r>
              <a:rPr lang="en-US" dirty="0"/>
              <a:t>This is an example of  “refactoring” – rethinking old code in light of new data … </a:t>
            </a:r>
          </a:p>
        </p:txBody>
      </p:sp>
    </p:spTree>
    <p:extLst>
      <p:ext uri="{BB962C8B-B14F-4D97-AF65-F5344CB8AC3E}">
        <p14:creationId xmlns:p14="http://schemas.microsoft.com/office/powerpoint/2010/main" val="4285785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C7CB-A7C5-B64F-B5F1-2E5E07F61D5D}"/>
              </a:ext>
            </a:extLst>
          </p:cNvPr>
          <p:cNvSpPr>
            <a:spLocks noGrp="1"/>
          </p:cNvSpPr>
          <p:nvPr>
            <p:ph type="title"/>
          </p:nvPr>
        </p:nvSpPr>
        <p:spPr/>
        <p:txBody>
          <a:bodyPr/>
          <a:lstStyle/>
          <a:p>
            <a:r>
              <a:rPr lang="en-US" dirty="0"/>
              <a:t>Automating labs II.</a:t>
            </a:r>
          </a:p>
        </p:txBody>
      </p:sp>
      <p:sp>
        <p:nvSpPr>
          <p:cNvPr id="3" name="Content Placeholder 2">
            <a:extLst>
              <a:ext uri="{FF2B5EF4-FFF2-40B4-BE49-F238E27FC236}">
                <a16:creationId xmlns:a16="http://schemas.microsoft.com/office/drawing/2014/main" id="{B95527C5-02B9-9A48-944A-B48CF373C6E8}"/>
              </a:ext>
            </a:extLst>
          </p:cNvPr>
          <p:cNvSpPr>
            <a:spLocks noGrp="1"/>
          </p:cNvSpPr>
          <p:nvPr>
            <p:ph idx="1"/>
          </p:nvPr>
        </p:nvSpPr>
        <p:spPr/>
        <p:txBody>
          <a:bodyPr/>
          <a:lstStyle/>
          <a:p>
            <a:r>
              <a:rPr lang="en-US" dirty="0"/>
              <a:t>We didn’t discuss the human-robot component – that the LM317 pot has to be manually turned to vary the voltage while data is being collected</a:t>
            </a:r>
          </a:p>
          <a:p>
            <a:pPr lvl="1"/>
            <a:r>
              <a:rPr lang="en-US" dirty="0"/>
              <a:t>Forgetting to include such key steps or processes are an Achilles heel of automation projects</a:t>
            </a:r>
          </a:p>
          <a:p>
            <a:pPr lvl="1"/>
            <a:r>
              <a:rPr lang="en-US" dirty="0"/>
              <a:t>We will later build a circuit enabling Arduino to control the LM317 voltage </a:t>
            </a:r>
          </a:p>
          <a:p>
            <a:r>
              <a:rPr lang="en-US" dirty="0"/>
              <a:t>Having the Arduino both control the apparatus and record responses adds huge automation capabilities</a:t>
            </a:r>
          </a:p>
          <a:p>
            <a:endParaRPr lang="en-US" dirty="0"/>
          </a:p>
          <a:p>
            <a:r>
              <a:rPr lang="en-US" dirty="0"/>
              <a:t>But </a:t>
            </a:r>
            <a:r>
              <a:rPr lang="en-US" i="1" dirty="0"/>
              <a:t>first, </a:t>
            </a:r>
            <a:r>
              <a:rPr lang="en-US" dirty="0"/>
              <a:t>let’s partially automate report generation!! </a:t>
            </a:r>
          </a:p>
          <a:p>
            <a:endParaRPr lang="en-US" dirty="0"/>
          </a:p>
        </p:txBody>
      </p:sp>
    </p:spTree>
    <p:extLst>
      <p:ext uri="{BB962C8B-B14F-4D97-AF65-F5344CB8AC3E}">
        <p14:creationId xmlns:p14="http://schemas.microsoft.com/office/powerpoint/2010/main" val="1812828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FAEE8-569D-E944-BFB1-7585466B2C42}"/>
              </a:ext>
            </a:extLst>
          </p:cNvPr>
          <p:cNvSpPr>
            <a:spLocks noGrp="1"/>
          </p:cNvSpPr>
          <p:nvPr>
            <p:ph type="title"/>
          </p:nvPr>
        </p:nvSpPr>
        <p:spPr/>
        <p:txBody>
          <a:bodyPr/>
          <a:lstStyle/>
          <a:p>
            <a:r>
              <a:rPr lang="en-US" dirty="0" err="1"/>
              <a:t>Matlab’s</a:t>
            </a:r>
            <a:r>
              <a:rPr lang="en-US" dirty="0"/>
              <a:t> Live Scripts</a:t>
            </a:r>
          </a:p>
        </p:txBody>
      </p:sp>
      <p:sp>
        <p:nvSpPr>
          <p:cNvPr id="3" name="Content Placeholder 2">
            <a:extLst>
              <a:ext uri="{FF2B5EF4-FFF2-40B4-BE49-F238E27FC236}">
                <a16:creationId xmlns:a16="http://schemas.microsoft.com/office/drawing/2014/main" id="{6F06B4EC-AA6B-A247-92CE-502C95E2D189}"/>
              </a:ext>
            </a:extLst>
          </p:cNvPr>
          <p:cNvSpPr>
            <a:spLocks noGrp="1"/>
          </p:cNvSpPr>
          <p:nvPr>
            <p:ph idx="1"/>
          </p:nvPr>
        </p:nvSpPr>
        <p:spPr/>
        <p:txBody>
          <a:bodyPr/>
          <a:lstStyle/>
          <a:p>
            <a:r>
              <a:rPr lang="en-US" dirty="0"/>
              <a:t>Live scripts let us mix text, graphics, data, executable code, and output, together in a single interactive environment called the Live Editor</a:t>
            </a:r>
          </a:p>
          <a:p>
            <a:r>
              <a:rPr lang="en-US" dirty="0"/>
              <a:t>Make one in the editor by Editor </a:t>
            </a:r>
            <a:r>
              <a:rPr lang="en-US" dirty="0">
                <a:sym typeface="Wingdings" pitchFamily="2" charset="2"/>
              </a:rPr>
              <a:t> New  Live Script</a:t>
            </a:r>
          </a:p>
          <a:p>
            <a:r>
              <a:rPr lang="en-US" dirty="0">
                <a:sym typeface="Wingdings" pitchFamily="2" charset="2"/>
              </a:rPr>
              <a:t>Toggle between Text and Code mode with option-return</a:t>
            </a:r>
          </a:p>
          <a:p>
            <a:r>
              <a:rPr lang="en-US" dirty="0">
                <a:sym typeface="Wingdings" pitchFamily="2" charset="2"/>
              </a:rPr>
              <a:t>Pictures can be pasted into Text blocks</a:t>
            </a:r>
          </a:p>
          <a:p>
            <a:r>
              <a:rPr lang="en-US" dirty="0">
                <a:sym typeface="Wingdings" pitchFamily="2" charset="2"/>
              </a:rPr>
              <a:t>Execute the code with </a:t>
            </a:r>
            <a:r>
              <a:rPr lang="en-US" dirty="0" err="1">
                <a:sym typeface="Wingdings" pitchFamily="2" charset="2"/>
              </a:rPr>
              <a:t>cmd</a:t>
            </a:r>
            <a:r>
              <a:rPr lang="en-US" dirty="0">
                <a:sym typeface="Wingdings" pitchFamily="2" charset="2"/>
              </a:rPr>
              <a:t>-return</a:t>
            </a:r>
          </a:p>
          <a:p>
            <a:r>
              <a:rPr lang="en-US" dirty="0">
                <a:sym typeface="Wingdings" pitchFamily="2" charset="2"/>
              </a:rPr>
              <a:t>Icons on the top right scroll bar enable displaying of results below text or on the side, and hiding the code</a:t>
            </a:r>
          </a:p>
          <a:p>
            <a:r>
              <a:rPr lang="en-US" dirty="0">
                <a:sym typeface="Wingdings" pitchFamily="2" charset="2"/>
              </a:rPr>
              <a:t>Save as  Export to (Word, HTML, PDF, Latex) generates corresponding files for sharing </a:t>
            </a:r>
            <a:endParaRPr lang="en-US" dirty="0"/>
          </a:p>
        </p:txBody>
      </p:sp>
    </p:spTree>
    <p:extLst>
      <p:ext uri="{BB962C8B-B14F-4D97-AF65-F5344CB8AC3E}">
        <p14:creationId xmlns:p14="http://schemas.microsoft.com/office/powerpoint/2010/main" val="4210243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F86A01-899F-BF46-A7E3-C6377E093D1C}"/>
              </a:ext>
            </a:extLst>
          </p:cNvPr>
          <p:cNvPicPr>
            <a:picLocks noChangeAspect="1"/>
          </p:cNvPicPr>
          <p:nvPr/>
        </p:nvPicPr>
        <p:blipFill>
          <a:blip r:embed="rId3"/>
          <a:stretch>
            <a:fillRect/>
          </a:stretch>
        </p:blipFill>
        <p:spPr>
          <a:xfrm>
            <a:off x="304800" y="663043"/>
            <a:ext cx="4267200" cy="5531914"/>
          </a:xfrm>
          <a:prstGeom prst="rect">
            <a:avLst/>
          </a:prstGeom>
        </p:spPr>
      </p:pic>
      <p:pic>
        <p:nvPicPr>
          <p:cNvPr id="5" name="Picture 4">
            <a:extLst>
              <a:ext uri="{FF2B5EF4-FFF2-40B4-BE49-F238E27FC236}">
                <a16:creationId xmlns:a16="http://schemas.microsoft.com/office/drawing/2014/main" id="{325BCD19-EE31-A846-AA2D-EF227FE0D1E4}"/>
              </a:ext>
            </a:extLst>
          </p:cNvPr>
          <p:cNvPicPr>
            <a:picLocks noChangeAspect="1"/>
          </p:cNvPicPr>
          <p:nvPr/>
        </p:nvPicPr>
        <p:blipFill>
          <a:blip r:embed="rId4"/>
          <a:stretch>
            <a:fillRect/>
          </a:stretch>
        </p:blipFill>
        <p:spPr>
          <a:xfrm>
            <a:off x="4760118" y="190289"/>
            <a:ext cx="4271963" cy="5257800"/>
          </a:xfrm>
          <a:prstGeom prst="rect">
            <a:avLst/>
          </a:prstGeom>
        </p:spPr>
      </p:pic>
      <p:sp>
        <p:nvSpPr>
          <p:cNvPr id="6" name="TextBox 5">
            <a:extLst>
              <a:ext uri="{FF2B5EF4-FFF2-40B4-BE49-F238E27FC236}">
                <a16:creationId xmlns:a16="http://schemas.microsoft.com/office/drawing/2014/main" id="{E485D436-E581-9E42-B1E5-C0591396635A}"/>
              </a:ext>
            </a:extLst>
          </p:cNvPr>
          <p:cNvSpPr txBox="1"/>
          <p:nvPr/>
        </p:nvSpPr>
        <p:spPr>
          <a:xfrm>
            <a:off x="2057400" y="6194957"/>
            <a:ext cx="2362200" cy="369332"/>
          </a:xfrm>
          <a:prstGeom prst="rect">
            <a:avLst/>
          </a:prstGeom>
          <a:noFill/>
        </p:spPr>
        <p:txBody>
          <a:bodyPr wrap="square" rtlCol="0">
            <a:spAutoFit/>
          </a:bodyPr>
          <a:lstStyle/>
          <a:p>
            <a:r>
              <a:rPr lang="en-US" dirty="0"/>
              <a:t>…</a:t>
            </a:r>
          </a:p>
        </p:txBody>
      </p:sp>
      <p:sp>
        <p:nvSpPr>
          <p:cNvPr id="7" name="TextBox 6">
            <a:extLst>
              <a:ext uri="{FF2B5EF4-FFF2-40B4-BE49-F238E27FC236}">
                <a16:creationId xmlns:a16="http://schemas.microsoft.com/office/drawing/2014/main" id="{E09984E1-42E7-EA4F-AF75-B0C8FF121891}"/>
              </a:ext>
            </a:extLst>
          </p:cNvPr>
          <p:cNvSpPr txBox="1"/>
          <p:nvPr/>
        </p:nvSpPr>
        <p:spPr>
          <a:xfrm>
            <a:off x="321733" y="190289"/>
            <a:ext cx="2438400" cy="461665"/>
          </a:xfrm>
          <a:prstGeom prst="rect">
            <a:avLst/>
          </a:prstGeom>
          <a:noFill/>
        </p:spPr>
        <p:txBody>
          <a:bodyPr wrap="square" rtlCol="0">
            <a:spAutoFit/>
          </a:bodyPr>
          <a:lstStyle/>
          <a:p>
            <a:r>
              <a:rPr lang="en-US" sz="2400" dirty="0"/>
              <a:t>Example: </a:t>
            </a:r>
          </a:p>
        </p:txBody>
      </p:sp>
      <p:sp>
        <p:nvSpPr>
          <p:cNvPr id="8" name="TextBox 7">
            <a:extLst>
              <a:ext uri="{FF2B5EF4-FFF2-40B4-BE49-F238E27FC236}">
                <a16:creationId xmlns:a16="http://schemas.microsoft.com/office/drawing/2014/main" id="{5B44B03A-0417-3144-A94F-BE72FAFEFDBF}"/>
              </a:ext>
            </a:extLst>
          </p:cNvPr>
          <p:cNvSpPr txBox="1"/>
          <p:nvPr/>
        </p:nvSpPr>
        <p:spPr>
          <a:xfrm>
            <a:off x="4876799" y="5380672"/>
            <a:ext cx="4038600" cy="1477328"/>
          </a:xfrm>
          <a:prstGeom prst="rect">
            <a:avLst/>
          </a:prstGeom>
          <a:noFill/>
        </p:spPr>
        <p:txBody>
          <a:bodyPr wrap="square" rtlCol="0">
            <a:spAutoFit/>
          </a:bodyPr>
          <a:lstStyle/>
          <a:p>
            <a:pPr algn="ctr"/>
            <a:r>
              <a:rPr lang="en-US" dirty="0"/>
              <a:t>…</a:t>
            </a:r>
          </a:p>
          <a:p>
            <a:r>
              <a:rPr lang="en-US" dirty="0"/>
              <a:t>Update the data and the calculations and figures automagically change …</a:t>
            </a:r>
          </a:p>
          <a:p>
            <a:r>
              <a:rPr lang="en-US" dirty="0"/>
              <a:t>(BTW, noisy red &amp; green curves from </a:t>
            </a:r>
            <a:r>
              <a:rPr lang="en-US" dirty="0" err="1"/>
              <a:t>Vref</a:t>
            </a:r>
            <a:r>
              <a:rPr lang="en-US"/>
              <a:t> instability, </a:t>
            </a:r>
            <a:r>
              <a:rPr lang="en-US" dirty="0"/>
              <a:t>from too small R</a:t>
            </a:r>
            <a:r>
              <a:rPr lang="en-US" baseline="-25000" dirty="0"/>
              <a:t>L</a:t>
            </a:r>
            <a:r>
              <a:rPr lang="en-US" dirty="0"/>
              <a:t>)</a:t>
            </a:r>
          </a:p>
        </p:txBody>
      </p:sp>
    </p:spTree>
    <p:extLst>
      <p:ext uri="{BB962C8B-B14F-4D97-AF65-F5344CB8AC3E}">
        <p14:creationId xmlns:p14="http://schemas.microsoft.com/office/powerpoint/2010/main" val="1270938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681F2-F1F3-3247-B9D4-975298D54C2D}"/>
              </a:ext>
            </a:extLst>
          </p:cNvPr>
          <p:cNvSpPr>
            <a:spLocks noGrp="1"/>
          </p:cNvSpPr>
          <p:nvPr>
            <p:ph type="title"/>
          </p:nvPr>
        </p:nvSpPr>
        <p:spPr/>
        <p:txBody>
          <a:bodyPr/>
          <a:lstStyle/>
          <a:p>
            <a:r>
              <a:rPr lang="en-US" dirty="0"/>
              <a:t>Alternatives</a:t>
            </a:r>
          </a:p>
        </p:txBody>
      </p:sp>
      <p:sp>
        <p:nvSpPr>
          <p:cNvPr id="3" name="Content Placeholder 2">
            <a:extLst>
              <a:ext uri="{FF2B5EF4-FFF2-40B4-BE49-F238E27FC236}">
                <a16:creationId xmlns:a16="http://schemas.microsoft.com/office/drawing/2014/main" id="{745916CD-7D4A-8B45-A78F-3EE6C095E4FB}"/>
              </a:ext>
            </a:extLst>
          </p:cNvPr>
          <p:cNvSpPr>
            <a:spLocks noGrp="1"/>
          </p:cNvSpPr>
          <p:nvPr>
            <p:ph idx="1"/>
          </p:nvPr>
        </p:nvSpPr>
        <p:spPr/>
        <p:txBody>
          <a:bodyPr/>
          <a:lstStyle/>
          <a:p>
            <a:r>
              <a:rPr lang="en-US" dirty="0" err="1"/>
              <a:t>Jupyter</a:t>
            </a:r>
            <a:r>
              <a:rPr lang="en-US" dirty="0"/>
              <a:t> (</a:t>
            </a:r>
            <a:r>
              <a:rPr lang="en-US" dirty="0">
                <a:hlinkClick r:id="rId2"/>
              </a:rPr>
              <a:t>www.jupyter.org</a:t>
            </a:r>
            <a:r>
              <a:rPr lang="en-US" dirty="0"/>
              <a:t>) and Processing (</a:t>
            </a:r>
            <a:r>
              <a:rPr lang="en-US" dirty="0">
                <a:hlinkClick r:id="rId3"/>
              </a:rPr>
              <a:t>www.processing.org</a:t>
            </a:r>
            <a:r>
              <a:rPr lang="en-US" dirty="0"/>
              <a:t>) are two similar environments that merge programming with reporting … check them out! </a:t>
            </a:r>
          </a:p>
          <a:p>
            <a:r>
              <a:rPr lang="en-US" dirty="0"/>
              <a:t>The typewriter was replaced by the word processor (good luck finding one now)</a:t>
            </a:r>
          </a:p>
          <a:p>
            <a:r>
              <a:rPr lang="en-US" dirty="0"/>
              <a:t>Will these integrated environments replace the word processor for some scientific writing?</a:t>
            </a:r>
          </a:p>
          <a:p>
            <a:r>
              <a:rPr lang="en-US" dirty="0"/>
              <a:t>Consider that a word processor isn’t ideal for scientific publications</a:t>
            </a:r>
          </a:p>
          <a:p>
            <a:pPr marL="0" indent="0">
              <a:buNone/>
            </a:pPr>
            <a:endParaRPr lang="en-US" dirty="0"/>
          </a:p>
        </p:txBody>
      </p:sp>
    </p:spTree>
    <p:extLst>
      <p:ext uri="{BB962C8B-B14F-4D97-AF65-F5344CB8AC3E}">
        <p14:creationId xmlns:p14="http://schemas.microsoft.com/office/powerpoint/2010/main" val="6268507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asnowBlank.potx" id="{62619203-1747-D545-B36F-A116FEAD048A}" vid="{1ABB47EB-3DCA-6B45-91B7-5ACE678095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11849</TotalTime>
  <Words>2834</Words>
  <Application>Microsoft Macintosh PowerPoint</Application>
  <PresentationFormat>On-screen Show (4:3)</PresentationFormat>
  <Paragraphs>206</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Times New Roman</vt:lpstr>
      <vt:lpstr>Office Theme</vt:lpstr>
      <vt:lpstr>Temporal skewing huh??</vt:lpstr>
      <vt:lpstr>I burned out an Arduino </vt:lpstr>
      <vt:lpstr>Bad connections … </vt:lpstr>
      <vt:lpstr>Good habits … </vt:lpstr>
      <vt:lpstr>How fast can we vary the voltage pot?</vt:lpstr>
      <vt:lpstr>How fast can we vary the voltage pot?</vt:lpstr>
      <vt:lpstr>Arduino Code</vt:lpstr>
      <vt:lpstr>Results (turning the knob real fast)</vt:lpstr>
      <vt:lpstr>Results (turning the knob real fast)</vt:lpstr>
      <vt:lpstr>Don’t Assume …</vt:lpstr>
      <vt:lpstr>Reflect</vt:lpstr>
      <vt:lpstr>Reflect</vt:lpstr>
      <vt:lpstr>Reflect</vt:lpstr>
      <vt:lpstr>Automating labs II.</vt:lpstr>
      <vt:lpstr>Matlab’s Live Scripts</vt:lpstr>
      <vt:lpstr>PowerPoint Presentation</vt:lpstr>
      <vt:lpstr>Alternatives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Transistors</dc:title>
  <dc:creator>Rasnow, Brian K.</dc:creator>
  <cp:lastModifiedBy>Rasnow, Brian K.</cp:lastModifiedBy>
  <cp:revision>34</cp:revision>
  <dcterms:created xsi:type="dcterms:W3CDTF">2020-09-24T02:19:56Z</dcterms:created>
  <dcterms:modified xsi:type="dcterms:W3CDTF">2022-03-09T06:33:35Z</dcterms:modified>
</cp:coreProperties>
</file>